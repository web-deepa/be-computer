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600" r:id="rId3"/>
    <p:sldId id="677" r:id="rId4"/>
    <p:sldId id="666" r:id="rId5"/>
    <p:sldId id="667" r:id="rId6"/>
    <p:sldId id="672" r:id="rId7"/>
    <p:sldId id="678" r:id="rId8"/>
    <p:sldId id="679" r:id="rId9"/>
    <p:sldId id="668" r:id="rId10"/>
    <p:sldId id="675" r:id="rId11"/>
    <p:sldId id="670" r:id="rId12"/>
    <p:sldId id="671" r:id="rId13"/>
    <p:sldId id="674" r:id="rId14"/>
    <p:sldId id="673" r:id="rId15"/>
    <p:sldId id="681" r:id="rId16"/>
    <p:sldId id="682" r:id="rId17"/>
    <p:sldId id="684" r:id="rId18"/>
    <p:sldId id="690" r:id="rId19"/>
    <p:sldId id="686" r:id="rId20"/>
    <p:sldId id="687" r:id="rId21"/>
    <p:sldId id="688" r:id="rId22"/>
    <p:sldId id="689" r:id="rId23"/>
    <p:sldId id="683" r:id="rId24"/>
    <p:sldId id="691" r:id="rId25"/>
    <p:sldId id="685" r:id="rId26"/>
    <p:sldId id="696" r:id="rId27"/>
    <p:sldId id="697" r:id="rId28"/>
    <p:sldId id="692" r:id="rId29"/>
    <p:sldId id="693" r:id="rId30"/>
    <p:sldId id="69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  <a:srgbClr val="DFDFDF"/>
    <a:srgbClr val="9A470E"/>
    <a:srgbClr val="254275"/>
    <a:srgbClr val="ED7D31"/>
    <a:srgbClr val="276399"/>
    <a:srgbClr val="5B9BD5"/>
    <a:srgbClr val="474747"/>
    <a:srgbClr val="666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118" autoAdjust="0"/>
  </p:normalViewPr>
  <p:slideViewPr>
    <p:cSldViewPr snapToGrid="0" showGuides="1">
      <p:cViewPr varScale="1">
        <p:scale>
          <a:sx n="45" d="100"/>
          <a:sy n="45" d="100"/>
        </p:scale>
        <p:origin x="1003" y="29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0180-84BE-40D1-AD0F-554207F0762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F74AD-8D6C-43B6-B1C6-FE3F682FD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C1E-4C7F-A878-414C-79C5E3E6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5D051-38C1-EA20-F458-44F8204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41AE3-7CCF-E5B6-58CC-B0857155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166-ADBF-25B2-A049-29815D5B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CD86-2C0A-BFF2-8732-1F71650F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9A4-F78B-B3DE-78E0-7D6047FD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6C58-2B2E-3F01-853B-1443D696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23EC-1AA7-6F81-24FF-B8AA833D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2EC07-152A-921F-2971-6042E134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6D60-83BC-11A0-D51E-510FD8AE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153C-B5F3-7513-9B72-5B3091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FE70-4A27-1676-F288-4C28F5E8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27D07-9061-BE97-7C70-F717B9C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5AFD5-6612-BF83-471C-84795AF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D685-21C2-11DB-B8C1-F68F86C6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D37-4A87-64E0-7A79-D807B37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9A7C8-C395-1B55-CC51-0C79B94F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CBE8F-5789-ED85-1392-3786A5E29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2DBC-C43D-4768-724D-E2CE51F1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C6FE2-EE2B-058F-2CB6-2D30089E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2F52-9E7E-8809-0726-50EC48F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AFA-CDCE-51AB-859D-36F34185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D6E7-964A-C4FD-0295-4760420FE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F35A7-300A-5FC2-1235-0ACACFF07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20995-71C2-1430-4E57-2C0ACDF8A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B71D-399D-AB8B-E49E-912455E95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8D760-FE88-FCB3-7649-F651DB59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5E49-8CF9-F6C9-4985-16181C91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7116F-4113-9328-CE3A-1F1D50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47F5-B2BC-E1D1-37A2-3D55285A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16BD2-0039-1449-3305-FFB7A79A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53673-85F6-BD5D-1883-38D897B0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5289-801F-F3F1-0A71-1A7313D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92EEE-7079-ED29-138A-9D8758A3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7D5B-4830-8B00-D653-B796633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FF190-ACB7-8CB0-C7C8-59F8494A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FC45-2F09-1123-24C6-80A6524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9951-9A5D-CA64-8299-A53E48130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AD71-A4B9-C25C-00C1-A5C615D3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34768-C351-0DFD-E670-02367547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C3EC-E4AE-D04E-4B4A-DF23231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B4EA-EE7C-94CF-4E6D-48B200ED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2CA1-FA93-8D54-65D2-3C73A038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967F-2C69-7017-B4CB-EF9405383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DA17B-8376-481D-7360-46F6A8D0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B10D-2CD1-BB7E-35C9-F8C76A6C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0A012-800A-2C98-8922-C119FC12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7343-B329-DABB-CDED-0A050FA8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379-2B99-FA61-CF2A-C4357F4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0183E-0625-1D69-A288-2CD465626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F39F-5CF9-2556-9F9A-AAFE681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283E-F7E4-B6AD-FFBA-BE311863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6770-4142-C5B9-D9E0-C6B1F182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707E1-FC0C-342B-5E52-ADE06998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9554A-DC20-BFD0-F9AB-AB4AAC948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DDE0-B96D-2CC7-4067-57725D4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FFBB-806E-8018-91A4-BA029D0E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1F76-948C-2FEA-64DB-1632CA18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B9098-C80B-66CD-69E8-C5D08097F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EB8A-2EFB-6553-F313-16E987B15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18A2-D8F9-2B50-6D0D-A1670D0F3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5B32C-7331-4D14-8CE8-DF47C2DB7E1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4E8D3-8D2E-A16D-CA4C-CAEA982AF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0563-605D-7C96-0078-9467F201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89A3-A408-4459-97D9-B069249C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E539C5-9975-1037-E086-4BF0AF8A003B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Futura T OT" panose="02000000000000000000" pitchFamily="50" charset="0"/>
              </a:rPr>
              <a:t>Syllabus of Embedded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2196E-B3A3-2C76-E90D-A9080CBC6C97}"/>
              </a:ext>
            </a:extLst>
          </p:cNvPr>
          <p:cNvSpPr txBox="1"/>
          <p:nvPr/>
        </p:nvSpPr>
        <p:spPr>
          <a:xfrm>
            <a:off x="2147455" y="1897439"/>
            <a:ext cx="822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utura T OT" panose="02000000000000000000" pitchFamily="50" charset="0"/>
              </a:rPr>
              <a:t>Unit 2: Programming for Embedded Systems (5 Hours)</a:t>
            </a:r>
          </a:p>
          <a:p>
            <a:endParaRPr lang="en-US" dirty="0">
              <a:latin typeface="Futura T OT" panose="02000000000000000000" pitchFamily="50" charset="0"/>
            </a:endParaRPr>
          </a:p>
          <a:p>
            <a:r>
              <a:rPr lang="en-US" dirty="0">
                <a:latin typeface="Futura T OT" panose="02000000000000000000" pitchFamily="50" charset="0"/>
              </a:rPr>
              <a:t>2.1 Overview of AVR Architecture</a:t>
            </a:r>
          </a:p>
          <a:p>
            <a:r>
              <a:rPr lang="en-US" dirty="0">
                <a:latin typeface="Futura T OT" panose="02000000000000000000" pitchFamily="50" charset="0"/>
              </a:rPr>
              <a:t>2.2 Embedded C Programming for Microcontroller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Introduction to C for Embedded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Data Types, Control Structures, and pointers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Memory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AVR Interrupt handling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Input and output ports interfacing on AVR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Timers and Counters in AVR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utura T OT" panose="02000000000000000000" pitchFamily="50" charset="0"/>
              </a:rPr>
              <a:t>Serial Communication in AVR</a:t>
            </a:r>
          </a:p>
        </p:txBody>
      </p:sp>
    </p:spTree>
    <p:extLst>
      <p:ext uri="{BB962C8B-B14F-4D97-AF65-F5344CB8AC3E}">
        <p14:creationId xmlns:p14="http://schemas.microsoft.com/office/powerpoint/2010/main" val="250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8B55-9B1F-9513-2F0A-EA5979DE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0FA4E-95E8-0360-8660-9A9E357E4C6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8" name="Google Shape;95;p14">
            <a:extLst>
              <a:ext uri="{FF2B5EF4-FFF2-40B4-BE49-F238E27FC236}">
                <a16:creationId xmlns:a16="http://schemas.microsoft.com/office/drawing/2014/main" id="{63DFF22E-1DB9-DE4E-4AD6-7F384CC4FE25}"/>
              </a:ext>
            </a:extLst>
          </p:cNvPr>
          <p:cNvSpPr txBox="1"/>
          <p:nvPr/>
        </p:nvSpPr>
        <p:spPr>
          <a:xfrm>
            <a:off x="186400" y="1361758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AVR is a family of </a:t>
            </a:r>
            <a:r>
              <a:rPr lang="en-US" b="0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8-bit RISC</a:t>
            </a: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 microcontrollers developed by Atmel (now Microchip).</a:t>
            </a:r>
            <a:endParaRPr sz="2800" dirty="0">
              <a:latin typeface="Futura T OT" panose="02000000000000000000" pitchFamily="50" charset="0"/>
            </a:endParaRPr>
          </a:p>
        </p:txBody>
      </p:sp>
      <p:sp>
        <p:nvSpPr>
          <p:cNvPr id="10" name="Google Shape;97;p14">
            <a:extLst>
              <a:ext uri="{FF2B5EF4-FFF2-40B4-BE49-F238E27FC236}">
                <a16:creationId xmlns:a16="http://schemas.microsoft.com/office/drawing/2014/main" id="{7068D6E5-5C38-D1BA-BF9F-34343E71D2F3}"/>
              </a:ext>
            </a:extLst>
          </p:cNvPr>
          <p:cNvSpPr txBox="1"/>
          <p:nvPr/>
        </p:nvSpPr>
        <p:spPr>
          <a:xfrm>
            <a:off x="186400" y="2683234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It was one of the first microcontroller families to use on-chip Flash memory for program storage.</a:t>
            </a:r>
            <a:endParaRPr sz="2800" dirty="0">
              <a:latin typeface="Futura T OT" panose="02000000000000000000" pitchFamily="50" charset="0"/>
            </a:endParaRPr>
          </a:p>
        </p:txBody>
      </p:sp>
      <p:sp>
        <p:nvSpPr>
          <p:cNvPr id="12" name="Google Shape;99;p14">
            <a:extLst>
              <a:ext uri="{FF2B5EF4-FFF2-40B4-BE49-F238E27FC236}">
                <a16:creationId xmlns:a16="http://schemas.microsoft.com/office/drawing/2014/main" id="{38B7B580-07B5-4827-D3C1-34B15040AD16}"/>
              </a:ext>
            </a:extLst>
          </p:cNvPr>
          <p:cNvSpPr txBox="1"/>
          <p:nvPr/>
        </p:nvSpPr>
        <p:spPr>
          <a:xfrm>
            <a:off x="186400" y="4004710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The name AVR stands for </a:t>
            </a:r>
            <a:r>
              <a:rPr lang="en-US" b="1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A</a:t>
            </a:r>
            <a:r>
              <a:rPr lang="en-US" b="0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lf-Egil Bogen and </a:t>
            </a:r>
            <a:r>
              <a:rPr lang="en-US" b="1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V</a:t>
            </a:r>
            <a:r>
              <a:rPr lang="en-US" b="0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egard Wollan's </a:t>
            </a:r>
            <a:r>
              <a:rPr lang="en-US" b="1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R</a:t>
            </a:r>
            <a:r>
              <a:rPr lang="en-US" b="0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ISC processor.</a:t>
            </a:r>
            <a:endParaRPr sz="28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14" name="Google Shape;101;p14">
            <a:extLst>
              <a:ext uri="{FF2B5EF4-FFF2-40B4-BE49-F238E27FC236}">
                <a16:creationId xmlns:a16="http://schemas.microsoft.com/office/drawing/2014/main" id="{2C0A766A-7119-9FE1-EF02-46E61DE263D3}"/>
              </a:ext>
            </a:extLst>
          </p:cNvPr>
          <p:cNvSpPr txBox="1"/>
          <p:nvPr/>
        </p:nvSpPr>
        <p:spPr>
          <a:xfrm>
            <a:off x="186400" y="5326186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It is based on a </a:t>
            </a:r>
            <a:r>
              <a:rPr lang="en-US" b="1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Harvard architecture</a:t>
            </a: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, which separates program and data memory.</a:t>
            </a:r>
            <a:endParaRPr sz="2800" dirty="0">
              <a:latin typeface="Futura T OT" panose="02000000000000000000" pitchFamily="50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BA1C73-6BBD-72C1-0BFD-3EC5B5A245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61370" y="717306"/>
            <a:ext cx="6344230" cy="594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3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281D-A6ED-2947-4B23-175CBA89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EB9189-ABEF-6080-B06C-891D23A1A59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ABEB7D-FFBA-3C72-4B56-07F618A6C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4" y="818630"/>
            <a:ext cx="904875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45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EE3AF-73FA-77E6-7D94-AC229006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DBEFD-E981-A32D-B806-2DC69D31A49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9F1C37-0F43-0D6E-B3CD-52347BA54C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rcRect t="25783" b="18794"/>
          <a:stretch>
            <a:fillRect/>
          </a:stretch>
        </p:blipFill>
        <p:spPr>
          <a:xfrm>
            <a:off x="3986796" y="702850"/>
            <a:ext cx="4193816" cy="2324335"/>
          </a:xfrm>
          <a:prstGeom prst="rect">
            <a:avLst/>
          </a:prstGeom>
        </p:spPr>
      </p:pic>
      <p:sp>
        <p:nvSpPr>
          <p:cNvPr id="3" name="Google Shape;109;p15">
            <a:extLst>
              <a:ext uri="{FF2B5EF4-FFF2-40B4-BE49-F238E27FC236}">
                <a16:creationId xmlns:a16="http://schemas.microsoft.com/office/drawing/2014/main" id="{F0E373D0-E2B8-7159-076A-4BA6763F81AE}"/>
              </a:ext>
            </a:extLst>
          </p:cNvPr>
          <p:cNvSpPr txBox="1"/>
          <p:nvPr/>
        </p:nvSpPr>
        <p:spPr>
          <a:xfrm>
            <a:off x="533516" y="2871476"/>
            <a:ext cx="11100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RISC Architecture:</a:t>
            </a: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 (Reduced Instruction Set Computer). Features a rich instruction set where most instructions execute in a single clock cycle.</a:t>
            </a:r>
            <a:endParaRPr sz="2800" dirty="0">
              <a:latin typeface="Futura T OT" panose="02000000000000000000" pitchFamily="50" charset="0"/>
            </a:endParaRPr>
          </a:p>
        </p:txBody>
      </p:sp>
      <p:sp>
        <p:nvSpPr>
          <p:cNvPr id="4" name="Google Shape;110;p15">
            <a:extLst>
              <a:ext uri="{FF2B5EF4-FFF2-40B4-BE49-F238E27FC236}">
                <a16:creationId xmlns:a16="http://schemas.microsoft.com/office/drawing/2014/main" id="{0F0D349E-F953-0027-5C6E-498B70C70290}"/>
              </a:ext>
            </a:extLst>
          </p:cNvPr>
          <p:cNvSpPr txBox="1"/>
          <p:nvPr/>
        </p:nvSpPr>
        <p:spPr>
          <a:xfrm>
            <a:off x="545811" y="4030980"/>
            <a:ext cx="11100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High Performance:</a:t>
            </a: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 Achieves high throughput (approaching 1 MIPS per MHz) by executing instructions quickly and efficiently.</a:t>
            </a:r>
            <a:endParaRPr sz="2800" dirty="0">
              <a:latin typeface="Futura T OT" panose="02000000000000000000" pitchFamily="50" charset="0"/>
            </a:endParaRPr>
          </a:p>
        </p:txBody>
      </p:sp>
      <p:sp>
        <p:nvSpPr>
          <p:cNvPr id="5" name="Google Shape;111;p15">
            <a:extLst>
              <a:ext uri="{FF2B5EF4-FFF2-40B4-BE49-F238E27FC236}">
                <a16:creationId xmlns:a16="http://schemas.microsoft.com/office/drawing/2014/main" id="{77064B52-8A54-D092-8FA5-B4BFD119FBB3}"/>
              </a:ext>
            </a:extLst>
          </p:cNvPr>
          <p:cNvSpPr txBox="1"/>
          <p:nvPr/>
        </p:nvSpPr>
        <p:spPr>
          <a:xfrm>
            <a:off x="545811" y="5184696"/>
            <a:ext cx="11100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Modified Harvard Architecture:</a:t>
            </a:r>
            <a:r>
              <a:rPr lang="en-US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Uses separate buses and memories for Program (Flash) and Data (SRAM), allowing simultaneous access and improving speed.</a:t>
            </a:r>
            <a:endParaRPr sz="2800">
              <a:latin typeface="Futura T OT" panose="02000000000000000000" pitchFamily="50" charset="0"/>
            </a:endParaRPr>
          </a:p>
        </p:txBody>
      </p:sp>
      <p:sp>
        <p:nvSpPr>
          <p:cNvPr id="6" name="Google Shape;112;p15">
            <a:extLst>
              <a:ext uri="{FF2B5EF4-FFF2-40B4-BE49-F238E27FC236}">
                <a16:creationId xmlns:a16="http://schemas.microsoft.com/office/drawing/2014/main" id="{7687BAC5-DCF3-322F-BF6F-76456864A669}"/>
              </a:ext>
            </a:extLst>
          </p:cNvPr>
          <p:cNvSpPr txBox="1"/>
          <p:nvPr/>
        </p:nvSpPr>
        <p:spPr>
          <a:xfrm>
            <a:off x="545811" y="6287125"/>
            <a:ext cx="1110037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32 General-Purpose Registers:</a:t>
            </a:r>
            <a:r>
              <a:rPr lang="en-US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A large register file, with all registers directly connected to the ALU (Arithmetic Logic Unit).</a:t>
            </a:r>
            <a:endParaRPr sz="2800">
              <a:latin typeface="Futura T OT" panose="02000000000000000000" pitchFamily="50" charset="0"/>
            </a:endParaRPr>
          </a:p>
        </p:txBody>
      </p:sp>
      <p:pic>
        <p:nvPicPr>
          <p:cNvPr id="7" name="Google Shape;113;p15" descr="image.png">
            <a:extLst>
              <a:ext uri="{FF2B5EF4-FFF2-40B4-BE49-F238E27FC236}">
                <a16:creationId xmlns:a16="http://schemas.microsoft.com/office/drawing/2014/main" id="{E321F6B7-DD3D-BA94-71FB-5034C36C05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95" y="3145261"/>
            <a:ext cx="30977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4;p15" descr="image.png">
            <a:extLst>
              <a:ext uri="{FF2B5EF4-FFF2-40B4-BE49-F238E27FC236}">
                <a16:creationId xmlns:a16="http://schemas.microsoft.com/office/drawing/2014/main" id="{FCE67E49-A145-0783-A479-5ED3A48033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36" y="4332178"/>
            <a:ext cx="271056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5;p15" descr="image.png">
            <a:extLst>
              <a:ext uri="{FF2B5EF4-FFF2-40B4-BE49-F238E27FC236}">
                <a16:creationId xmlns:a16="http://schemas.microsoft.com/office/drawing/2014/main" id="{59815158-BB71-5655-C11E-5EEF7EF75D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073" y="5485894"/>
            <a:ext cx="348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16;p15" descr="image.png">
            <a:extLst>
              <a:ext uri="{FF2B5EF4-FFF2-40B4-BE49-F238E27FC236}">
                <a16:creationId xmlns:a16="http://schemas.microsoft.com/office/drawing/2014/main" id="{CF98819A-2F8F-D458-5C29-76BE4651ACA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795" y="6410363"/>
            <a:ext cx="34850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25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6DEB-3F55-30BF-0AB3-4D0068A2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3AA58-8316-2E8D-6097-B006E8D6F533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pic>
        <p:nvPicPr>
          <p:cNvPr id="8" name="Google Shape;136;p17" descr="image.png">
            <a:extLst>
              <a:ext uri="{FF2B5EF4-FFF2-40B4-BE49-F238E27FC236}">
                <a16:creationId xmlns:a16="http://schemas.microsoft.com/office/drawing/2014/main" id="{EEF8969B-BEA9-FBB5-6D76-417964991B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133600"/>
            <a:ext cx="34290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7;p17" descr="image.png">
            <a:extLst>
              <a:ext uri="{FF2B5EF4-FFF2-40B4-BE49-F238E27FC236}">
                <a16:creationId xmlns:a16="http://schemas.microsoft.com/office/drawing/2014/main" id="{00AF398F-BE75-700F-0F5B-911E2290A7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2133600"/>
            <a:ext cx="342900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8;p17" descr="image.png">
            <a:extLst>
              <a:ext uri="{FF2B5EF4-FFF2-40B4-BE49-F238E27FC236}">
                <a16:creationId xmlns:a16="http://schemas.microsoft.com/office/drawing/2014/main" id="{27EAB954-1A78-91EA-37B0-6FCE359C21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0" y="2133600"/>
            <a:ext cx="34290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39;p17">
            <a:extLst>
              <a:ext uri="{FF2B5EF4-FFF2-40B4-BE49-F238E27FC236}">
                <a16:creationId xmlns:a16="http://schemas.microsoft.com/office/drawing/2014/main" id="{C760A07F-434E-6898-796A-094538226AD1}"/>
              </a:ext>
            </a:extLst>
          </p:cNvPr>
          <p:cNvSpPr txBox="1"/>
          <p:nvPr/>
        </p:nvSpPr>
        <p:spPr>
          <a:xfrm>
            <a:off x="785812" y="3133725"/>
            <a:ext cx="3000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32KB Flash (Program)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5" name="Google Shape;140;p17">
            <a:extLst>
              <a:ext uri="{FF2B5EF4-FFF2-40B4-BE49-F238E27FC236}">
                <a16:creationId xmlns:a16="http://schemas.microsoft.com/office/drawing/2014/main" id="{E57CAA79-5D0C-52DE-BDD6-FDDD66CAB6EA}"/>
              </a:ext>
            </a:extLst>
          </p:cNvPr>
          <p:cNvSpPr txBox="1"/>
          <p:nvPr/>
        </p:nvSpPr>
        <p:spPr>
          <a:xfrm>
            <a:off x="857250" y="3933411"/>
            <a:ext cx="2857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In-System Programmable (ISP) non-volatile memory used for storing the program code. It can be reprogrammed thousands of times.</a:t>
            </a:r>
            <a:endParaRPr dirty="0">
              <a:latin typeface="Futura T OT" panose="02000000000000000000" pitchFamily="50" charset="0"/>
            </a:endParaRPr>
          </a:p>
        </p:txBody>
      </p:sp>
      <p:sp>
        <p:nvSpPr>
          <p:cNvPr id="16" name="Google Shape;141;p17">
            <a:extLst>
              <a:ext uri="{FF2B5EF4-FFF2-40B4-BE49-F238E27FC236}">
                <a16:creationId xmlns:a16="http://schemas.microsoft.com/office/drawing/2014/main" id="{F06D9099-5684-56A9-C19B-174B5D0F038F}"/>
              </a:ext>
            </a:extLst>
          </p:cNvPr>
          <p:cNvSpPr txBox="1"/>
          <p:nvPr/>
        </p:nvSpPr>
        <p:spPr>
          <a:xfrm>
            <a:off x="4765833" y="3133725"/>
            <a:ext cx="2660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2KB SRAM (Data)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7" name="Google Shape;142;p17">
            <a:extLst>
              <a:ext uri="{FF2B5EF4-FFF2-40B4-BE49-F238E27FC236}">
                <a16:creationId xmlns:a16="http://schemas.microsoft.com/office/drawing/2014/main" id="{2119DF59-05E6-1CA8-B7BC-36E518FC92FD}"/>
              </a:ext>
            </a:extLst>
          </p:cNvPr>
          <p:cNvSpPr txBox="1"/>
          <p:nvPr/>
        </p:nvSpPr>
        <p:spPr>
          <a:xfrm>
            <a:off x="4667250" y="3933411"/>
            <a:ext cx="2857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Static RAM. This is volatile memory used for storing variables, stack, and data during runtime. All data is lost when power is off.</a:t>
            </a:r>
            <a:endParaRPr dirty="0">
              <a:latin typeface="Futura T OT" panose="02000000000000000000" pitchFamily="50" charset="0"/>
            </a:endParaRPr>
          </a:p>
        </p:txBody>
      </p:sp>
      <p:sp>
        <p:nvSpPr>
          <p:cNvPr id="18" name="Google Shape;143;p17">
            <a:extLst>
              <a:ext uri="{FF2B5EF4-FFF2-40B4-BE49-F238E27FC236}">
                <a16:creationId xmlns:a16="http://schemas.microsoft.com/office/drawing/2014/main" id="{01C85613-1CAC-778E-0794-7BA5B0B2DDCD}"/>
              </a:ext>
            </a:extLst>
          </p:cNvPr>
          <p:cNvSpPr txBox="1"/>
          <p:nvPr/>
        </p:nvSpPr>
        <p:spPr>
          <a:xfrm>
            <a:off x="8450818" y="3133725"/>
            <a:ext cx="2910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1KB EEPROM (Data)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9" name="Google Shape;144;p17">
            <a:extLst>
              <a:ext uri="{FF2B5EF4-FFF2-40B4-BE49-F238E27FC236}">
                <a16:creationId xmlns:a16="http://schemas.microsoft.com/office/drawing/2014/main" id="{E95DAC6E-A40D-89B2-3976-D69CFD721E96}"/>
              </a:ext>
            </a:extLst>
          </p:cNvPr>
          <p:cNvSpPr txBox="1"/>
          <p:nvPr/>
        </p:nvSpPr>
        <p:spPr>
          <a:xfrm>
            <a:off x="8477250" y="3933411"/>
            <a:ext cx="2857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Non-volatile memory used for storing data that must be saved when power is off, such as configuration settings or calibration data.</a:t>
            </a:r>
            <a:endParaRPr dirty="0">
              <a:latin typeface="Futura T OT" panose="02000000000000000000" pitchFamily="50" charset="0"/>
            </a:endParaRPr>
          </a:p>
        </p:txBody>
      </p:sp>
      <p:pic>
        <p:nvPicPr>
          <p:cNvPr id="20" name="Google Shape;145;p17" descr="image.png">
            <a:extLst>
              <a:ext uri="{FF2B5EF4-FFF2-40B4-BE49-F238E27FC236}">
                <a16:creationId xmlns:a16="http://schemas.microsoft.com/office/drawing/2014/main" id="{31E4767E-4FE7-A393-0E4F-53411B2198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975" y="24384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46;p17" descr="image.png">
            <a:extLst>
              <a:ext uri="{FF2B5EF4-FFF2-40B4-BE49-F238E27FC236}">
                <a16:creationId xmlns:a16="http://schemas.microsoft.com/office/drawing/2014/main" id="{FC0C958E-28D8-3805-CC94-CA5EFCFADA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4550" y="24384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47;p17" descr="image.png">
            <a:extLst>
              <a:ext uri="{FF2B5EF4-FFF2-40B4-BE49-F238E27FC236}">
                <a16:creationId xmlns:a16="http://schemas.microsoft.com/office/drawing/2014/main" id="{CD6B024F-277C-DC45-6B23-0912CF7B2A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05975" y="24384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520995C-0B79-C819-731C-8BF41D2E31AA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Memory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0469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BC93-3992-0B57-32DC-3ADA2C83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47DCDE-46CF-6357-4EDE-7020EAA4D5E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2911A-9334-9EB2-6944-34017BD89459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Memory Architecture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542E91-8B46-46EE-750C-2F40742D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63" y="1311652"/>
            <a:ext cx="6149873" cy="5197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CD64C5-C8E6-6D91-B3F1-FD32391B4D7A}"/>
              </a:ext>
            </a:extLst>
          </p:cNvPr>
          <p:cNvSpPr txBox="1"/>
          <p:nvPr/>
        </p:nvSpPr>
        <p:spPr>
          <a:xfrm>
            <a:off x="4027055" y="6508942"/>
            <a:ext cx="1732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utura T OT" panose="02000000000000000000" pitchFamily="50" charset="0"/>
              </a:rPr>
              <a:t>fig: 32x8 register</a:t>
            </a:r>
          </a:p>
        </p:txBody>
      </p:sp>
    </p:spTree>
    <p:extLst>
      <p:ext uri="{BB962C8B-B14F-4D97-AF65-F5344CB8AC3E}">
        <p14:creationId xmlns:p14="http://schemas.microsoft.com/office/powerpoint/2010/main" val="98460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E03A-8382-3F5B-E322-85B6F5E0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56F416-FE89-0905-CE74-0BFA6ACCCDC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515BE-C015-6153-B2DE-5AF188DFE875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Memory 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6F157A-08E0-B763-4E92-737BF0BC2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099" y="1751706"/>
            <a:ext cx="7543800" cy="465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12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F1FD-0CD1-50D9-C7E2-A0F954A9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3CB1A-38C3-8CBA-76E2-5B4CD8187FD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F5DAEB-5F39-26DE-45B4-32DCCA72D497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Memory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21D72-3F8F-6A6E-55F5-E84E0511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21" y="2328324"/>
            <a:ext cx="12049578" cy="337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6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2363-9C11-1706-1EF4-BD52BA55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06B208-7F50-3B82-EA60-6B06BCFFBFA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pic>
        <p:nvPicPr>
          <p:cNvPr id="3" name="Google Shape;155;p18" descr="image.png">
            <a:extLst>
              <a:ext uri="{FF2B5EF4-FFF2-40B4-BE49-F238E27FC236}">
                <a16:creationId xmlns:a16="http://schemas.microsoft.com/office/drawing/2014/main" id="{EDE319B0-EE8C-AA24-4595-5C6A386C63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695575"/>
            <a:ext cx="528637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6;p18" descr="image.png">
            <a:extLst>
              <a:ext uri="{FF2B5EF4-FFF2-40B4-BE49-F238E27FC236}">
                <a16:creationId xmlns:a16="http://schemas.microsoft.com/office/drawing/2014/main" id="{32F39B3B-9F4B-CB2B-0D96-DB9D881CD4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695575"/>
            <a:ext cx="528637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7;p18">
            <a:extLst>
              <a:ext uri="{FF2B5EF4-FFF2-40B4-BE49-F238E27FC236}">
                <a16:creationId xmlns:a16="http://schemas.microsoft.com/office/drawing/2014/main" id="{F35FACFA-1E5A-E46C-650C-652CD1007AD4}"/>
              </a:ext>
            </a:extLst>
          </p:cNvPr>
          <p:cNvSpPr txBox="1"/>
          <p:nvPr/>
        </p:nvSpPr>
        <p:spPr>
          <a:xfrm>
            <a:off x="839390" y="3076575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Arithmetic Logic Unit (ALU)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6" name="Google Shape;158;p18">
            <a:extLst>
              <a:ext uri="{FF2B5EF4-FFF2-40B4-BE49-F238E27FC236}">
                <a16:creationId xmlns:a16="http://schemas.microsoft.com/office/drawing/2014/main" id="{02D416C0-3AB6-2A1E-908A-F3603DBC5799}"/>
              </a:ext>
            </a:extLst>
          </p:cNvPr>
          <p:cNvSpPr txBox="1"/>
          <p:nvPr/>
        </p:nvSpPr>
        <p:spPr>
          <a:xfrm>
            <a:off x="952500" y="3705225"/>
            <a:ext cx="4524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The high-performance ALU is directly connected to all 32 general-purpose registers. This allows it to access two independent registers, perform an operation, and write the result back in a single clock cycle.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7" name="Google Shape;159;p18">
            <a:extLst>
              <a:ext uri="{FF2B5EF4-FFF2-40B4-BE49-F238E27FC236}">
                <a16:creationId xmlns:a16="http://schemas.microsoft.com/office/drawing/2014/main" id="{0087C487-FC0F-8498-D3D8-980DF7B457C0}"/>
              </a:ext>
            </a:extLst>
          </p:cNvPr>
          <p:cNvSpPr txBox="1"/>
          <p:nvPr/>
        </p:nvSpPr>
        <p:spPr>
          <a:xfrm>
            <a:off x="6602015" y="3076575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General Purpose Registers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9" name="Google Shape;160;p18">
            <a:extLst>
              <a:ext uri="{FF2B5EF4-FFF2-40B4-BE49-F238E27FC236}">
                <a16:creationId xmlns:a16="http://schemas.microsoft.com/office/drawing/2014/main" id="{D490895F-E230-1066-19C8-FCC3DE70CFEB}"/>
              </a:ext>
            </a:extLst>
          </p:cNvPr>
          <p:cNvSpPr txBox="1"/>
          <p:nvPr/>
        </p:nvSpPr>
        <p:spPr>
          <a:xfrm>
            <a:off x="6715125" y="3705225"/>
            <a:ext cx="452437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The 32 x 8-bit registers (R0-R31) are the heart of the AVR core. This fast-access register file is the heart of the CPU's operation, reducing the need to access the slower data SRAM.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A13F2-32C1-4B91-A606-510871659B5A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CPU and Register File</a:t>
            </a:r>
          </a:p>
        </p:txBody>
      </p:sp>
    </p:spTree>
    <p:extLst>
      <p:ext uri="{BB962C8B-B14F-4D97-AF65-F5344CB8AC3E}">
        <p14:creationId xmlns:p14="http://schemas.microsoft.com/office/powerpoint/2010/main" val="153441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0979-D501-7521-7525-5005510F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D6C31-5807-12CE-6C5E-5D608841F00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8" name="Google Shape;171;p19">
            <a:extLst>
              <a:ext uri="{FF2B5EF4-FFF2-40B4-BE49-F238E27FC236}">
                <a16:creationId xmlns:a16="http://schemas.microsoft.com/office/drawing/2014/main" id="{7F45F151-57F9-C582-34E9-CC3DD26B4892}"/>
              </a:ext>
            </a:extLst>
          </p:cNvPr>
          <p:cNvSpPr txBox="1"/>
          <p:nvPr/>
        </p:nvSpPr>
        <p:spPr>
          <a:xfrm>
            <a:off x="469900" y="2116282"/>
            <a:ext cx="5286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The ATmega32 features four 8-bit I/O ports: </a:t>
            </a:r>
            <a:r>
              <a:rPr lang="en-US" b="1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PORTA, PORTB, PORTC, and PORTD</a:t>
            </a:r>
            <a:r>
              <a:rPr lang="en-US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 (totaling 32 I/O lines).</a:t>
            </a:r>
            <a:endParaRPr sz="2800" dirty="0">
              <a:latin typeface="Futura T OT" panose="02000000000000000000" pitchFamily="50" charset="0"/>
            </a:endParaRPr>
          </a:p>
        </p:txBody>
      </p:sp>
      <p:sp>
        <p:nvSpPr>
          <p:cNvPr id="10" name="Google Shape;172;p19">
            <a:extLst>
              <a:ext uri="{FF2B5EF4-FFF2-40B4-BE49-F238E27FC236}">
                <a16:creationId xmlns:a16="http://schemas.microsoft.com/office/drawing/2014/main" id="{F5E6A245-D8F8-59F8-732B-501E577A1B5F}"/>
              </a:ext>
            </a:extLst>
          </p:cNvPr>
          <p:cNvSpPr txBox="1"/>
          <p:nvPr/>
        </p:nvSpPr>
        <p:spPr>
          <a:xfrm>
            <a:off x="469900" y="2988712"/>
            <a:ext cx="5286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Each pin is bi-directional and can be configured as either an input or an output using three key registers:</a:t>
            </a:r>
            <a:endParaRPr sz="2800">
              <a:latin typeface="Futura T OT" panose="02000000000000000000" pitchFamily="50" charset="0"/>
            </a:endParaRPr>
          </a:p>
        </p:txBody>
      </p:sp>
      <p:sp>
        <p:nvSpPr>
          <p:cNvPr id="14" name="Google Shape;174;p19">
            <a:extLst>
              <a:ext uri="{FF2B5EF4-FFF2-40B4-BE49-F238E27FC236}">
                <a16:creationId xmlns:a16="http://schemas.microsoft.com/office/drawing/2014/main" id="{7537005E-DF4E-9571-9FA3-1684BB4C9478}"/>
              </a:ext>
            </a:extLst>
          </p:cNvPr>
          <p:cNvSpPr txBox="1"/>
          <p:nvPr/>
        </p:nvSpPr>
        <p:spPr>
          <a:xfrm>
            <a:off x="850900" y="3842092"/>
            <a:ext cx="49053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DDRx:</a:t>
            </a: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Data Direction Register (sets pin as input/output).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6" name="Google Shape;176;p19">
            <a:extLst>
              <a:ext uri="{FF2B5EF4-FFF2-40B4-BE49-F238E27FC236}">
                <a16:creationId xmlns:a16="http://schemas.microsoft.com/office/drawing/2014/main" id="{E630895D-CBA8-2880-2D5E-A7611E2F79AE}"/>
              </a:ext>
            </a:extLst>
          </p:cNvPr>
          <p:cNvSpPr txBox="1"/>
          <p:nvPr/>
        </p:nvSpPr>
        <p:spPr>
          <a:xfrm>
            <a:off x="850899" y="4177777"/>
            <a:ext cx="49053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PORTx:</a:t>
            </a: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Data Register (writes output data or enables pull-up).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8" name="Google Shape;178;p19">
            <a:extLst>
              <a:ext uri="{FF2B5EF4-FFF2-40B4-BE49-F238E27FC236}">
                <a16:creationId xmlns:a16="http://schemas.microsoft.com/office/drawing/2014/main" id="{AAE12079-2D6D-3219-D502-551813538A86}"/>
              </a:ext>
            </a:extLst>
          </p:cNvPr>
          <p:cNvSpPr txBox="1"/>
          <p:nvPr/>
        </p:nvSpPr>
        <p:spPr>
          <a:xfrm>
            <a:off x="850900" y="4513461"/>
            <a:ext cx="49053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latin typeface="Futura T OT" panose="02000000000000000000" pitchFamily="50" charset="0"/>
                <a:ea typeface="Lato"/>
                <a:cs typeface="Lato"/>
                <a:sym typeface="Lato"/>
              </a:rPr>
              <a:t>PINx</a:t>
            </a:r>
            <a:r>
              <a:rPr lang="en-US" sz="1600" b="1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:</a:t>
            </a:r>
            <a:r>
              <a:rPr lang="en-US" sz="1600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 Input Pins Address (reads the logic level from the pin).</a:t>
            </a:r>
            <a:endParaRPr sz="2400" dirty="0">
              <a:latin typeface="Futura T OT" panose="020000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45D6F-239B-03D6-0D35-8E048AB71C89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I/O ports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A1AAB-C3CA-BBCB-4650-5F8E4A3D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753" y="584775"/>
            <a:ext cx="6349247" cy="621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3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EC663-01B2-CC89-1EEA-38B71FDE3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0D112-15A9-513C-9230-9CF5F164DEB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3" name="Google Shape;184;p20">
            <a:extLst>
              <a:ext uri="{FF2B5EF4-FFF2-40B4-BE49-F238E27FC236}">
                <a16:creationId xmlns:a16="http://schemas.microsoft.com/office/drawing/2014/main" id="{D337C67D-F6B9-1C15-057F-ED7D670EC5A1}"/>
              </a:ext>
            </a:extLst>
          </p:cNvPr>
          <p:cNvSpPr txBox="1"/>
          <p:nvPr/>
        </p:nvSpPr>
        <p:spPr>
          <a:xfrm>
            <a:off x="571500" y="4686300"/>
            <a:ext cx="53340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Timers/Counters:</a:t>
            </a:r>
            <a:r>
              <a:rPr lang="en-US" sz="135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Features three timers (two 8-bit, one 16-bit). Used for timing events, generating PWM (Pulse Width Modulation), and counting external events.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4" name="Google Shape;185;p20">
            <a:extLst>
              <a:ext uri="{FF2B5EF4-FFF2-40B4-BE49-F238E27FC236}">
                <a16:creationId xmlns:a16="http://schemas.microsoft.com/office/drawing/2014/main" id="{85547FC6-848C-B51B-9447-D629124CC344}"/>
              </a:ext>
            </a:extLst>
          </p:cNvPr>
          <p:cNvSpPr txBox="1"/>
          <p:nvPr/>
        </p:nvSpPr>
        <p:spPr>
          <a:xfrm>
            <a:off x="6286500" y="4686300"/>
            <a:ext cx="53340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Analog-to-Digital Converter (ADC):</a:t>
            </a:r>
            <a:r>
              <a:rPr lang="en-US" sz="135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 A 10-bit, 8-channel ADC. This converts real-world analog signals (like from sensors) into digital values the MCU can understand.</a:t>
            </a:r>
            <a:endParaRPr>
              <a:latin typeface="Futura T OT" panose="02000000000000000000" pitchFamily="50" charset="0"/>
            </a:endParaRPr>
          </a:p>
        </p:txBody>
      </p:sp>
      <p:pic>
        <p:nvPicPr>
          <p:cNvPr id="5" name="Google Shape;186;p20" descr="image.png">
            <a:extLst>
              <a:ext uri="{FF2B5EF4-FFF2-40B4-BE49-F238E27FC236}">
                <a16:creationId xmlns:a16="http://schemas.microsoft.com/office/drawing/2014/main" id="{F2CE2CCB-18B5-FCB5-B2E9-A3894FE24E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352675"/>
            <a:ext cx="5334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20" descr="image.png">
            <a:extLst>
              <a:ext uri="{FF2B5EF4-FFF2-40B4-BE49-F238E27FC236}">
                <a16:creationId xmlns:a16="http://schemas.microsoft.com/office/drawing/2014/main" id="{5312860C-5893-8CDC-7487-FC972EBBB0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52675"/>
            <a:ext cx="5334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50CA2-BFBB-8705-5B4D-C88D4028AFE9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Timers and ADC</a:t>
            </a:r>
          </a:p>
        </p:txBody>
      </p:sp>
    </p:spTree>
    <p:extLst>
      <p:ext uri="{BB962C8B-B14F-4D97-AF65-F5344CB8AC3E}">
        <p14:creationId xmlns:p14="http://schemas.microsoft.com/office/powerpoint/2010/main" val="143531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6ED5-A606-AEB0-B625-938FD26B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906AB-337E-651B-B00C-959837E7DA0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pic>
        <p:nvPicPr>
          <p:cNvPr id="3" name="Google Shape;195;p21" descr="image.png">
            <a:extLst>
              <a:ext uri="{FF2B5EF4-FFF2-40B4-BE49-F238E27FC236}">
                <a16:creationId xmlns:a16="http://schemas.microsoft.com/office/drawing/2014/main" id="{F575D227-06F6-7950-2BFB-1B08C72C90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233612"/>
            <a:ext cx="342900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96;p21" descr="image.png">
            <a:extLst>
              <a:ext uri="{FF2B5EF4-FFF2-40B4-BE49-F238E27FC236}">
                <a16:creationId xmlns:a16="http://schemas.microsoft.com/office/drawing/2014/main" id="{9005DF9E-F224-757F-AF53-AAB252FA05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2233612"/>
            <a:ext cx="342900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97;p21" descr="image.png">
            <a:extLst>
              <a:ext uri="{FF2B5EF4-FFF2-40B4-BE49-F238E27FC236}">
                <a16:creationId xmlns:a16="http://schemas.microsoft.com/office/drawing/2014/main" id="{49D9AE25-3270-229B-AD6C-7211449562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0" y="2233612"/>
            <a:ext cx="342900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8;p21">
            <a:extLst>
              <a:ext uri="{FF2B5EF4-FFF2-40B4-BE49-F238E27FC236}">
                <a16:creationId xmlns:a16="http://schemas.microsoft.com/office/drawing/2014/main" id="{7ABF506E-1C07-EB0D-780D-12BE77BE6E69}"/>
              </a:ext>
            </a:extLst>
          </p:cNvPr>
          <p:cNvSpPr txBox="1"/>
          <p:nvPr/>
        </p:nvSpPr>
        <p:spPr>
          <a:xfrm>
            <a:off x="1795938" y="3233737"/>
            <a:ext cx="9801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USART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7" name="Google Shape;199;p21">
            <a:extLst>
              <a:ext uri="{FF2B5EF4-FFF2-40B4-BE49-F238E27FC236}">
                <a16:creationId xmlns:a16="http://schemas.microsoft.com/office/drawing/2014/main" id="{C2858604-CDD8-BEC4-7F38-839A5422C8DC}"/>
              </a:ext>
            </a:extLst>
          </p:cNvPr>
          <p:cNvSpPr txBox="1"/>
          <p:nvPr/>
        </p:nvSpPr>
        <p:spPr>
          <a:xfrm>
            <a:off x="857250" y="4005262"/>
            <a:ext cx="28575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(Universal Synchronous/Asynchronous Receiver/Transmitter) For serial communication with PCs or other devices (e.g., RS-232).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8" name="Google Shape;200;p21">
            <a:extLst>
              <a:ext uri="{FF2B5EF4-FFF2-40B4-BE49-F238E27FC236}">
                <a16:creationId xmlns:a16="http://schemas.microsoft.com/office/drawing/2014/main" id="{B72B7BDF-B166-F1B1-F028-761A24FE97B4}"/>
              </a:ext>
            </a:extLst>
          </p:cNvPr>
          <p:cNvSpPr txBox="1"/>
          <p:nvPr/>
        </p:nvSpPr>
        <p:spPr>
          <a:xfrm>
            <a:off x="5875972" y="3233737"/>
            <a:ext cx="4400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SPI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9" name="Google Shape;201;p21">
            <a:extLst>
              <a:ext uri="{FF2B5EF4-FFF2-40B4-BE49-F238E27FC236}">
                <a16:creationId xmlns:a16="http://schemas.microsoft.com/office/drawing/2014/main" id="{100C350D-5BD9-538C-4BA6-1A315CA811E2}"/>
              </a:ext>
            </a:extLst>
          </p:cNvPr>
          <p:cNvSpPr txBox="1"/>
          <p:nvPr/>
        </p:nvSpPr>
        <p:spPr>
          <a:xfrm>
            <a:off x="4667250" y="4005262"/>
            <a:ext cx="28575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(Serial Peripheral Interface) A fast, synchronous, full-duplex communication protocol often used for high-speed peripherals like SD cards.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0" name="Google Shape;202;p21">
            <a:extLst>
              <a:ext uri="{FF2B5EF4-FFF2-40B4-BE49-F238E27FC236}">
                <a16:creationId xmlns:a16="http://schemas.microsoft.com/office/drawing/2014/main" id="{AD1AE43E-6706-CBE6-B4E4-5BDF04B30C8E}"/>
              </a:ext>
            </a:extLst>
          </p:cNvPr>
          <p:cNvSpPr txBox="1"/>
          <p:nvPr/>
        </p:nvSpPr>
        <p:spPr>
          <a:xfrm>
            <a:off x="9235916" y="3233737"/>
            <a:ext cx="13401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Futura T OT" panose="02000000000000000000" pitchFamily="50" charset="0"/>
                <a:ea typeface="Poppins"/>
                <a:cs typeface="Poppins"/>
                <a:sym typeface="Poppins"/>
              </a:rPr>
              <a:t>TWI (I²C)</a:t>
            </a:r>
            <a:endParaRPr>
              <a:latin typeface="Futura T OT" panose="02000000000000000000" pitchFamily="50" charset="0"/>
            </a:endParaRPr>
          </a:p>
        </p:txBody>
      </p:sp>
      <p:sp>
        <p:nvSpPr>
          <p:cNvPr id="11" name="Google Shape;203;p21">
            <a:extLst>
              <a:ext uri="{FF2B5EF4-FFF2-40B4-BE49-F238E27FC236}">
                <a16:creationId xmlns:a16="http://schemas.microsoft.com/office/drawing/2014/main" id="{0B736607-7D50-9D5B-E9FF-5C7453B72C50}"/>
              </a:ext>
            </a:extLst>
          </p:cNvPr>
          <p:cNvSpPr txBox="1"/>
          <p:nvPr/>
        </p:nvSpPr>
        <p:spPr>
          <a:xfrm>
            <a:off x="8477250" y="4005262"/>
            <a:ext cx="2857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(Two-Wire Interface) A multi-master, multi-slave serial bus (identical to I²C) commonly used for connecting sensors and peripherals.</a:t>
            </a:r>
            <a:endParaRPr>
              <a:latin typeface="Futura T OT" panose="02000000000000000000" pitchFamily="50" charset="0"/>
            </a:endParaRPr>
          </a:p>
        </p:txBody>
      </p:sp>
      <p:pic>
        <p:nvPicPr>
          <p:cNvPr id="12" name="Google Shape;204;p21" descr="image.png">
            <a:extLst>
              <a:ext uri="{FF2B5EF4-FFF2-40B4-BE49-F238E27FC236}">
                <a16:creationId xmlns:a16="http://schemas.microsoft.com/office/drawing/2014/main" id="{65908863-D027-F155-FE6B-CBC7C99011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25384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5;p21" descr="image.png">
            <a:extLst>
              <a:ext uri="{FF2B5EF4-FFF2-40B4-BE49-F238E27FC236}">
                <a16:creationId xmlns:a16="http://schemas.microsoft.com/office/drawing/2014/main" id="{208CC320-7F15-F7F6-4ADB-8193397E4E5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38825" y="25384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06;p21" descr="image.png">
            <a:extLst>
              <a:ext uri="{FF2B5EF4-FFF2-40B4-BE49-F238E27FC236}">
                <a16:creationId xmlns:a16="http://schemas.microsoft.com/office/drawing/2014/main" id="{4B49DA98-15AB-41D1-E913-26CA1EFFCD1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33DE43-EEBB-CDAA-2452-029A066E1EBC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Communication System</a:t>
            </a:r>
          </a:p>
        </p:txBody>
      </p:sp>
    </p:spTree>
    <p:extLst>
      <p:ext uri="{BB962C8B-B14F-4D97-AF65-F5344CB8AC3E}">
        <p14:creationId xmlns:p14="http://schemas.microsoft.com/office/powerpoint/2010/main" val="315526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28E4-0A47-7D1A-7C09-B45EE202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91D39-5D2A-BB44-4A09-2C10BB052EE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Overview of AVR Architecture </a:t>
            </a:r>
          </a:p>
        </p:txBody>
      </p:sp>
      <p:sp>
        <p:nvSpPr>
          <p:cNvPr id="3" name="Google Shape;215;p22">
            <a:extLst>
              <a:ext uri="{FF2B5EF4-FFF2-40B4-BE49-F238E27FC236}">
                <a16:creationId xmlns:a16="http://schemas.microsoft.com/office/drawing/2014/main" id="{B8A309BD-82AD-4331-A373-D408A13C8EC8}"/>
              </a:ext>
            </a:extLst>
          </p:cNvPr>
          <p:cNvSpPr txBox="1"/>
          <p:nvPr/>
        </p:nvSpPr>
        <p:spPr>
          <a:xfrm>
            <a:off x="278189" y="2362546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Interrupts allow the MCU to respond to critical events (like a button press or data arrival) without halting the main program.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4" name="Google Shape;216;p22">
            <a:extLst>
              <a:ext uri="{FF2B5EF4-FFF2-40B4-BE49-F238E27FC236}">
                <a16:creationId xmlns:a16="http://schemas.microsoft.com/office/drawing/2014/main" id="{976839DD-12F3-B349-9142-58A9A8AF1F09}"/>
              </a:ext>
            </a:extLst>
          </p:cNvPr>
          <p:cNvSpPr txBox="1"/>
          <p:nvPr/>
        </p:nvSpPr>
        <p:spPr>
          <a:xfrm>
            <a:off x="278189" y="3048346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The ATmega32 has a powerful interrupt structure with multiple sources, including:</a:t>
            </a:r>
            <a:endParaRPr sz="2400" dirty="0">
              <a:latin typeface="Futura T OT" panose="02000000000000000000" pitchFamily="50" charset="0"/>
            </a:endParaRPr>
          </a:p>
        </p:txBody>
      </p:sp>
      <p:sp>
        <p:nvSpPr>
          <p:cNvPr id="5" name="Google Shape;218;p22">
            <a:extLst>
              <a:ext uri="{FF2B5EF4-FFF2-40B4-BE49-F238E27FC236}">
                <a16:creationId xmlns:a16="http://schemas.microsoft.com/office/drawing/2014/main" id="{E06A414C-6DC0-3C44-2E36-8B58B9914171}"/>
              </a:ext>
            </a:extLst>
          </p:cNvPr>
          <p:cNvSpPr txBox="1"/>
          <p:nvPr/>
        </p:nvSpPr>
        <p:spPr>
          <a:xfrm>
            <a:off x="421064" y="3734146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•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6" name="Google Shape;219;p22">
            <a:extLst>
              <a:ext uri="{FF2B5EF4-FFF2-40B4-BE49-F238E27FC236}">
                <a16:creationId xmlns:a16="http://schemas.microsoft.com/office/drawing/2014/main" id="{4FB80E53-7CC2-A6D5-1CA2-A0AF1C1E70FF}"/>
              </a:ext>
            </a:extLst>
          </p:cNvPr>
          <p:cNvSpPr txBox="1"/>
          <p:nvPr/>
        </p:nvSpPr>
        <p:spPr>
          <a:xfrm>
            <a:off x="516314" y="3734146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External Interrupts (INT0, INT1, INT2)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7" name="Google Shape;220;p22">
            <a:extLst>
              <a:ext uri="{FF2B5EF4-FFF2-40B4-BE49-F238E27FC236}">
                <a16:creationId xmlns:a16="http://schemas.microsoft.com/office/drawing/2014/main" id="{688B96C5-B322-D47F-5727-FF5813C633C3}"/>
              </a:ext>
            </a:extLst>
          </p:cNvPr>
          <p:cNvSpPr txBox="1"/>
          <p:nvPr/>
        </p:nvSpPr>
        <p:spPr>
          <a:xfrm>
            <a:off x="421064" y="4134196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•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8" name="Google Shape;221;p22">
            <a:extLst>
              <a:ext uri="{FF2B5EF4-FFF2-40B4-BE49-F238E27FC236}">
                <a16:creationId xmlns:a16="http://schemas.microsoft.com/office/drawing/2014/main" id="{8D8F035B-094F-420A-31D5-DE3B44D39FA4}"/>
              </a:ext>
            </a:extLst>
          </p:cNvPr>
          <p:cNvSpPr txBox="1"/>
          <p:nvPr/>
        </p:nvSpPr>
        <p:spPr>
          <a:xfrm>
            <a:off x="516314" y="4134196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Timer Overflows/Compares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9" name="Google Shape;222;p22">
            <a:extLst>
              <a:ext uri="{FF2B5EF4-FFF2-40B4-BE49-F238E27FC236}">
                <a16:creationId xmlns:a16="http://schemas.microsoft.com/office/drawing/2014/main" id="{04A91836-CBFD-BB02-9F57-6CC74AEA069B}"/>
              </a:ext>
            </a:extLst>
          </p:cNvPr>
          <p:cNvSpPr txBox="1"/>
          <p:nvPr/>
        </p:nvSpPr>
        <p:spPr>
          <a:xfrm>
            <a:off x="421064" y="4534246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•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0" name="Google Shape;223;p22">
            <a:extLst>
              <a:ext uri="{FF2B5EF4-FFF2-40B4-BE49-F238E27FC236}">
                <a16:creationId xmlns:a16="http://schemas.microsoft.com/office/drawing/2014/main" id="{D93E2B35-29C3-DA5B-553A-0A9ED60D11D8}"/>
              </a:ext>
            </a:extLst>
          </p:cNvPr>
          <p:cNvSpPr txBox="1"/>
          <p:nvPr/>
        </p:nvSpPr>
        <p:spPr>
          <a:xfrm>
            <a:off x="516314" y="4534246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ADC Conversion Complete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1" name="Google Shape;224;p22">
            <a:extLst>
              <a:ext uri="{FF2B5EF4-FFF2-40B4-BE49-F238E27FC236}">
                <a16:creationId xmlns:a16="http://schemas.microsoft.com/office/drawing/2014/main" id="{339A2870-C51B-C8DB-194C-FB0571B1C6AE}"/>
              </a:ext>
            </a:extLst>
          </p:cNvPr>
          <p:cNvSpPr txBox="1"/>
          <p:nvPr/>
        </p:nvSpPr>
        <p:spPr>
          <a:xfrm>
            <a:off x="421064" y="4934296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•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2" name="Google Shape;225;p22">
            <a:extLst>
              <a:ext uri="{FF2B5EF4-FFF2-40B4-BE49-F238E27FC236}">
                <a16:creationId xmlns:a16="http://schemas.microsoft.com/office/drawing/2014/main" id="{97269FF0-42C9-E2CD-2C6B-F87541D3E1EA}"/>
              </a:ext>
            </a:extLst>
          </p:cNvPr>
          <p:cNvSpPr txBox="1"/>
          <p:nvPr/>
        </p:nvSpPr>
        <p:spPr>
          <a:xfrm>
            <a:off x="516314" y="4934296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latin typeface="Futura T OT" panose="02000000000000000000" pitchFamily="50" charset="0"/>
                <a:ea typeface="Lato"/>
                <a:cs typeface="Lato"/>
                <a:sym typeface="Lato"/>
              </a:rPr>
              <a:t>USART, SPI, and TWI events</a:t>
            </a:r>
            <a:endParaRPr sz="2400">
              <a:latin typeface="Futura T OT" panose="02000000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DE4F2-723A-70D8-2DE6-88C5C8741113}"/>
              </a:ext>
            </a:extLst>
          </p:cNvPr>
          <p:cNvSpPr txBox="1"/>
          <p:nvPr/>
        </p:nvSpPr>
        <p:spPr>
          <a:xfrm>
            <a:off x="571499" y="788432"/>
            <a:ext cx="741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Interrupt System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01D277-7F27-1E97-E66C-3B9CB7F26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753" y="584775"/>
            <a:ext cx="6349247" cy="621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53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DD30-0A7D-1A33-7EC3-BB6008ED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2A12A-8B44-A26D-C13F-06FB97FE759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C for embedded system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A65853D3-FB0D-3E45-C28F-18B2F94C3EFA}"/>
              </a:ext>
            </a:extLst>
          </p:cNvPr>
          <p:cNvSpPr txBox="1"/>
          <p:nvPr/>
        </p:nvSpPr>
        <p:spPr>
          <a:xfrm>
            <a:off x="587432" y="1484064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Futura T OT" panose="02000000000000000000" pitchFamily="50" charset="0"/>
                <a:ea typeface="Lato"/>
                <a:cs typeface="Lato"/>
                <a:sym typeface="Lato"/>
              </a:rPr>
              <a:t>Why C for embedded systems?</a:t>
            </a:r>
            <a:endParaRPr sz="3600" dirty="0">
              <a:solidFill>
                <a:srgbClr val="FF0000"/>
              </a:solidFill>
              <a:latin typeface="Futura T OT" panose="02000000000000000000" pitchFamily="50" charset="0"/>
            </a:endParaRPr>
          </a:p>
        </p:txBody>
      </p:sp>
      <p:sp>
        <p:nvSpPr>
          <p:cNvPr id="5" name="Google Shape;174;p19">
            <a:extLst>
              <a:ext uri="{FF2B5EF4-FFF2-40B4-BE49-F238E27FC236}">
                <a16:creationId xmlns:a16="http://schemas.microsoft.com/office/drawing/2014/main" id="{EFCBD916-D76F-A12F-E1BB-4944B7B5D7E9}"/>
              </a:ext>
            </a:extLst>
          </p:cNvPr>
          <p:cNvSpPr txBox="1"/>
          <p:nvPr/>
        </p:nvSpPr>
        <p:spPr>
          <a:xfrm>
            <a:off x="587432" y="2166616"/>
            <a:ext cx="63797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Close to hardware but still high-level</a:t>
            </a:r>
            <a:endParaRPr sz="3600" dirty="0">
              <a:latin typeface="Futura T OT" panose="02000000000000000000" pitchFamily="50" charset="0"/>
            </a:endParaRPr>
          </a:p>
        </p:txBody>
      </p:sp>
      <p:sp>
        <p:nvSpPr>
          <p:cNvPr id="6" name="Google Shape;176;p19">
            <a:extLst>
              <a:ext uri="{FF2B5EF4-FFF2-40B4-BE49-F238E27FC236}">
                <a16:creationId xmlns:a16="http://schemas.microsoft.com/office/drawing/2014/main" id="{32256C10-62C1-5B75-4908-2233BEF9A4BD}"/>
              </a:ext>
            </a:extLst>
          </p:cNvPr>
          <p:cNvSpPr txBox="1"/>
          <p:nvPr/>
        </p:nvSpPr>
        <p:spPr>
          <a:xfrm>
            <a:off x="587432" y="3032106"/>
            <a:ext cx="63797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Efficient and generates small, fast machine code</a:t>
            </a:r>
            <a:endParaRPr sz="3600" dirty="0">
              <a:latin typeface="Futura T OT" panose="02000000000000000000" pitchFamily="50" charset="0"/>
            </a:endParaRPr>
          </a:p>
        </p:txBody>
      </p:sp>
      <p:sp>
        <p:nvSpPr>
          <p:cNvPr id="7" name="Google Shape;178;p19">
            <a:extLst>
              <a:ext uri="{FF2B5EF4-FFF2-40B4-BE49-F238E27FC236}">
                <a16:creationId xmlns:a16="http://schemas.microsoft.com/office/drawing/2014/main" id="{4DA384C8-750E-9B1F-7B5C-84A209C05023}"/>
              </a:ext>
            </a:extLst>
          </p:cNvPr>
          <p:cNvSpPr txBox="1"/>
          <p:nvPr/>
        </p:nvSpPr>
        <p:spPr>
          <a:xfrm>
            <a:off x="587432" y="3897596"/>
            <a:ext cx="63797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Full control over memory</a:t>
            </a:r>
            <a:endParaRPr sz="3600" dirty="0">
              <a:latin typeface="Futura T OT" panose="02000000000000000000" pitchFamily="50" charset="0"/>
            </a:endParaRPr>
          </a:p>
        </p:txBody>
      </p:sp>
      <p:sp>
        <p:nvSpPr>
          <p:cNvPr id="8" name="Google Shape;178;p19">
            <a:extLst>
              <a:ext uri="{FF2B5EF4-FFF2-40B4-BE49-F238E27FC236}">
                <a16:creationId xmlns:a16="http://schemas.microsoft.com/office/drawing/2014/main" id="{B7F636E1-C6D2-B108-99B5-56177A02C621}"/>
              </a:ext>
            </a:extLst>
          </p:cNvPr>
          <p:cNvSpPr txBox="1"/>
          <p:nvPr/>
        </p:nvSpPr>
        <p:spPr>
          <a:xfrm>
            <a:off x="587432" y="4763085"/>
            <a:ext cx="63797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latin typeface="Futura T OT" panose="02000000000000000000" pitchFamily="50" charset="0"/>
                <a:ea typeface="Lato"/>
                <a:cs typeface="Lato"/>
                <a:sym typeface="Lato"/>
              </a:rPr>
              <a:t>Direct access to registers</a:t>
            </a:r>
            <a:endParaRPr sz="3600" dirty="0">
              <a:latin typeface="Futura T OT" panose="02000000000000000000" pitchFamily="50" charset="0"/>
            </a:endParaRPr>
          </a:p>
        </p:txBody>
      </p:sp>
      <p:pic>
        <p:nvPicPr>
          <p:cNvPr id="1026" name="Picture 2" descr="Edutech Learning |">
            <a:extLst>
              <a:ext uri="{FF2B5EF4-FFF2-40B4-BE49-F238E27FC236}">
                <a16:creationId xmlns:a16="http://schemas.microsoft.com/office/drawing/2014/main" id="{43332107-34E3-C2DD-09AA-2AFB18C8E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9" r="43818"/>
          <a:stretch>
            <a:fillRect/>
          </a:stretch>
        </p:blipFill>
        <p:spPr bwMode="auto">
          <a:xfrm>
            <a:off x="7398328" y="1035176"/>
            <a:ext cx="4206240" cy="47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14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F6E3-804F-FCE5-A544-2E4A9434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EE5B1-8786-4237-70CF-3E3B9FED816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Introduction to C for embedded system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513B394B-33B1-A699-992E-6512397C79C9}"/>
              </a:ext>
            </a:extLst>
          </p:cNvPr>
          <p:cNvSpPr txBox="1"/>
          <p:nvPr/>
        </p:nvSpPr>
        <p:spPr>
          <a:xfrm>
            <a:off x="587432" y="1035176"/>
            <a:ext cx="6810896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No </a:t>
            </a:r>
            <a:r>
              <a:rPr lang="en-US" sz="2800" dirty="0" err="1">
                <a:solidFill>
                  <a:srgbClr val="FF0000"/>
                </a:solidFill>
                <a:latin typeface="Futura T OT" panose="02000000000000000000" pitchFamily="50" charset="0"/>
              </a:rPr>
              <a:t>printf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(), </a:t>
            </a:r>
            <a:r>
              <a:rPr lang="en-US" sz="2800" dirty="0">
                <a:latin typeface="Futura T OT" panose="02000000000000000000" pitchFamily="50" charset="0"/>
              </a:rPr>
              <a:t>no screen, no keyboard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Everything is done through: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Registers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Peripherals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External interfaces (LEDs, sensors, serial)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No dynamic memory (avoid malloc, free)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Bad for small RAM microcontrollers.</a:t>
            </a:r>
          </a:p>
          <a:p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main() </a:t>
            </a:r>
            <a:r>
              <a:rPr lang="en-US" sz="2800" dirty="0">
                <a:latin typeface="Futura T OT" panose="02000000000000000000" pitchFamily="50" charset="0"/>
              </a:rPr>
              <a:t>never 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There is no operating system to return to.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Timing is critical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utura T OT" panose="02000000000000000000" pitchFamily="50" charset="0"/>
              </a:rPr>
              <a:t>Delays, timers, interrupts are essential.</a:t>
            </a:r>
          </a:p>
        </p:txBody>
      </p:sp>
      <p:pic>
        <p:nvPicPr>
          <p:cNvPr id="1026" name="Picture 2" descr="Edutech Learning |">
            <a:extLst>
              <a:ext uri="{FF2B5EF4-FFF2-40B4-BE49-F238E27FC236}">
                <a16:creationId xmlns:a16="http://schemas.microsoft.com/office/drawing/2014/main" id="{FA2F66BB-BF19-84F5-57C2-1E71F00F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9" r="43818"/>
          <a:stretch>
            <a:fillRect/>
          </a:stretch>
        </p:blipFill>
        <p:spPr bwMode="auto">
          <a:xfrm>
            <a:off x="7398328" y="1035176"/>
            <a:ext cx="4206240" cy="47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02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B8F4B-11EC-DA58-781D-6B6F09F6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11D782-F4C7-0AEF-9284-8A3FDF44AC8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ED44E-7D38-F08A-05D7-17DED86E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345984"/>
              </p:ext>
            </p:extLst>
          </p:nvPr>
        </p:nvGraphicFramePr>
        <p:xfrm>
          <a:off x="838199" y="1775460"/>
          <a:ext cx="10515600" cy="33832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348435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45707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22385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637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Futura T OT" panose="02000000000000000000" pitchFamily="50" charset="0"/>
                        </a:rPr>
                        <a:t>C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Futura T OT" panose="02000000000000000000" pitchFamily="50" charset="0"/>
                        </a:rPr>
                        <a:t>Size on ATmega32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Futura T OT" panose="02000000000000000000" pitchFamily="50" charset="0"/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Futura T OT" panose="02000000000000000000" pitchFamily="50" charset="0"/>
                        </a:rPr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069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Futura T OT" panose="02000000000000000000" pitchFamily="50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1 byte (8-bit)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–128 to 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Most operations are 8-bit, 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401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unsigned char / uint8_t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0 to 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Most common for registers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39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int / signed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2 bytes (16-bit)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–32768 to 32767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Default integer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95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unsigned 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0 to 65535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Good for timer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672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Futura T OT" panose="020000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Slower—avoid unless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79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Futura T OT" panose="02000000000000000000" pitchFamily="50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Futura T OT" panose="020000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Futura T OT" panose="02000000000000000000" pitchFamily="50" charset="0"/>
                        </a:rPr>
                        <a:t>VERY slow on AVR, avoid in ISR &amp; tight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1113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67FE32-10B8-0A0C-BA24-B2477C4D624A}"/>
              </a:ext>
            </a:extLst>
          </p:cNvPr>
          <p:cNvSpPr txBox="1"/>
          <p:nvPr/>
        </p:nvSpPr>
        <p:spPr>
          <a:xfrm>
            <a:off x="608889" y="5691709"/>
            <a:ext cx="10974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utura T OT" panose="02000000000000000000" pitchFamily="50" charset="0"/>
              </a:rPr>
              <a:t>Preferred types are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uint8_t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uint16_t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uint32_t</a:t>
            </a:r>
          </a:p>
        </p:txBody>
      </p:sp>
    </p:spTree>
    <p:extLst>
      <p:ext uri="{BB962C8B-B14F-4D97-AF65-F5344CB8AC3E}">
        <p14:creationId xmlns:p14="http://schemas.microsoft.com/office/powerpoint/2010/main" val="4021533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567EF-48A5-05BE-5752-3393536E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76FF8-67B2-5A65-B9A1-A6CF0CA7B55E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CFF2C845-6FF6-F022-2E3B-1F6327B803DD}"/>
              </a:ext>
            </a:extLst>
          </p:cNvPr>
          <p:cNvSpPr txBox="1"/>
          <p:nvPr/>
        </p:nvSpPr>
        <p:spPr>
          <a:xfrm>
            <a:off x="5381104" y="2389882"/>
            <a:ext cx="681089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if (PINB &amp; (1 &lt;&lt; PB0))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PORTC |= (1 &lt;&lt; PC0);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} else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PORTC &amp;= ~(1 &lt;&lt; PC0);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EDA57-00AE-4599-B93C-BB24E783CE01}"/>
              </a:ext>
            </a:extLst>
          </p:cNvPr>
          <p:cNvSpPr txBox="1"/>
          <p:nvPr/>
        </p:nvSpPr>
        <p:spPr>
          <a:xfrm>
            <a:off x="260004" y="2477193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&amp;</a:t>
            </a:r>
            <a:r>
              <a:rPr lang="en-US" sz="2400" dirty="0">
                <a:latin typeface="Futura T OT" panose="02000000000000000000" pitchFamily="50" charset="0"/>
              </a:rPr>
              <a:t> is ANDing and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&lt;&lt;</a:t>
            </a:r>
            <a:r>
              <a:rPr lang="en-US" sz="2400" dirty="0">
                <a:latin typeface="Futura T OT" panose="02000000000000000000" pitchFamily="50" charset="0"/>
              </a:rPr>
              <a:t> is </a:t>
            </a:r>
            <a:r>
              <a:rPr lang="en-US" sz="2400" dirty="0" err="1">
                <a:latin typeface="Futura T OT" panose="02000000000000000000" pitchFamily="50" charset="0"/>
              </a:rPr>
              <a:t>SHIFTing</a:t>
            </a:r>
            <a:r>
              <a:rPr lang="en-US" sz="2400" dirty="0">
                <a:latin typeface="Futura T OT" panose="020000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ED299-89E6-C0B5-7BBB-E903522BE9D1}"/>
              </a:ext>
            </a:extLst>
          </p:cNvPr>
          <p:cNvSpPr txBox="1"/>
          <p:nvPr/>
        </p:nvSpPr>
        <p:spPr>
          <a:xfrm>
            <a:off x="260004" y="3556200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|</a:t>
            </a:r>
            <a:r>
              <a:rPr lang="en-US" sz="2400" dirty="0">
                <a:latin typeface="Futura T OT" panose="02000000000000000000" pitchFamily="50" charset="0"/>
              </a:rPr>
              <a:t> is 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7575C-B16D-29DD-0FF5-F36A73BA00F0}"/>
              </a:ext>
            </a:extLst>
          </p:cNvPr>
          <p:cNvSpPr txBox="1"/>
          <p:nvPr/>
        </p:nvSpPr>
        <p:spPr>
          <a:xfrm>
            <a:off x="260004" y="1100991"/>
            <a:ext cx="119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472C4"/>
                </a:solidFill>
                <a:latin typeface="Futura T OT" panose="02000000000000000000" pitchFamily="50" charset="0"/>
              </a:rPr>
              <a:t>If-else</a:t>
            </a:r>
          </a:p>
        </p:txBody>
      </p:sp>
    </p:spTree>
    <p:extLst>
      <p:ext uri="{BB962C8B-B14F-4D97-AF65-F5344CB8AC3E}">
        <p14:creationId xmlns:p14="http://schemas.microsoft.com/office/powerpoint/2010/main" val="2513353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6571B-2128-D46D-621C-BC3D7116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DFC97-FBC8-98C7-C268-878D70A0F35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8D35D2AA-67FF-5AA3-323A-F791C98A747E}"/>
              </a:ext>
            </a:extLst>
          </p:cNvPr>
          <p:cNvSpPr txBox="1"/>
          <p:nvPr/>
        </p:nvSpPr>
        <p:spPr>
          <a:xfrm>
            <a:off x="5381104" y="2389882"/>
            <a:ext cx="681089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switch(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mode</a:t>
            </a:r>
            <a:r>
              <a:rPr lang="en-US" sz="2800" dirty="0">
                <a:latin typeface="Futura T OT" panose="02000000000000000000" pitchFamily="50" charset="0"/>
              </a:rPr>
              <a:t>)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case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0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 err="1">
                <a:latin typeface="Futura T OT" panose="02000000000000000000" pitchFamily="50" charset="0"/>
              </a:rPr>
              <a:t>run_motor</a:t>
            </a:r>
            <a:r>
              <a:rPr lang="en-US" sz="2800" dirty="0">
                <a:latin typeface="Futura T OT" panose="02000000000000000000" pitchFamily="50" charset="0"/>
              </a:rPr>
              <a:t>(); break;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case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1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 err="1">
                <a:latin typeface="Futura T OT" panose="02000000000000000000" pitchFamily="50" charset="0"/>
              </a:rPr>
              <a:t>stop_motor</a:t>
            </a:r>
            <a:r>
              <a:rPr lang="en-US" sz="2800" dirty="0">
                <a:latin typeface="Futura T OT" panose="02000000000000000000" pitchFamily="50" charset="0"/>
              </a:rPr>
              <a:t>(); break;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case 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2</a:t>
            </a:r>
            <a:r>
              <a:rPr lang="en-US" sz="2800" dirty="0">
                <a:latin typeface="Futura T OT" panose="02000000000000000000" pitchFamily="50" charset="0"/>
              </a:rPr>
              <a:t>: </a:t>
            </a:r>
            <a:r>
              <a:rPr lang="en-US" sz="2800" dirty="0" err="1">
                <a:latin typeface="Futura T OT" panose="02000000000000000000" pitchFamily="50" charset="0"/>
              </a:rPr>
              <a:t>reverse_motor</a:t>
            </a:r>
            <a:r>
              <a:rPr lang="en-US" sz="2800" dirty="0">
                <a:latin typeface="Futura T OT" panose="02000000000000000000" pitchFamily="50" charset="0"/>
              </a:rPr>
              <a:t>(); break;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3E1C3-85FA-C9BE-D81B-82AB2FE7F5B0}"/>
              </a:ext>
            </a:extLst>
          </p:cNvPr>
          <p:cNvSpPr txBox="1"/>
          <p:nvPr/>
        </p:nvSpPr>
        <p:spPr>
          <a:xfrm>
            <a:off x="260004" y="2828835"/>
            <a:ext cx="4525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Used 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Finite state machine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Menu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4210F-A0F9-0A06-7E8F-B039BE12F240}"/>
              </a:ext>
            </a:extLst>
          </p:cNvPr>
          <p:cNvSpPr txBox="1"/>
          <p:nvPr/>
        </p:nvSpPr>
        <p:spPr>
          <a:xfrm>
            <a:off x="260004" y="1100991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472C4"/>
                </a:solidFill>
                <a:latin typeface="Futura T OT" panose="02000000000000000000" pitchFamily="50" charset="0"/>
              </a:rPr>
              <a:t>switch-case</a:t>
            </a:r>
          </a:p>
        </p:txBody>
      </p:sp>
    </p:spTree>
    <p:extLst>
      <p:ext uri="{BB962C8B-B14F-4D97-AF65-F5344CB8AC3E}">
        <p14:creationId xmlns:p14="http://schemas.microsoft.com/office/powerpoint/2010/main" val="1875539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41BC2-AC99-69D7-B73C-50CBA399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7397F-2AD4-8ACC-F062-1464A705AE73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04FF8B0B-8E00-27B7-F7EB-1898F521A706}"/>
              </a:ext>
            </a:extLst>
          </p:cNvPr>
          <p:cNvSpPr txBox="1"/>
          <p:nvPr/>
        </p:nvSpPr>
        <p:spPr>
          <a:xfrm>
            <a:off x="5381104" y="2389882"/>
            <a:ext cx="681089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while (</a:t>
            </a:r>
            <a:r>
              <a:rPr lang="en-US" sz="2800" dirty="0">
                <a:solidFill>
                  <a:srgbClr val="FF0000"/>
                </a:solidFill>
                <a:latin typeface="Futura T OT" panose="02000000000000000000" pitchFamily="50" charset="0"/>
              </a:rPr>
              <a:t>1</a:t>
            </a:r>
            <a:r>
              <a:rPr lang="en-US" sz="2800" dirty="0">
                <a:latin typeface="Futura T OT" panose="02000000000000000000" pitchFamily="50" charset="0"/>
              </a:rPr>
              <a:t>)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</a:t>
            </a:r>
            <a:r>
              <a:rPr lang="en-US" sz="2800" dirty="0" err="1">
                <a:latin typeface="Futura T OT" panose="02000000000000000000" pitchFamily="50" charset="0"/>
              </a:rPr>
              <a:t>read_sensor</a:t>
            </a:r>
            <a:r>
              <a:rPr lang="en-US" sz="2800" dirty="0">
                <a:latin typeface="Futura T OT" panose="02000000000000000000" pitchFamily="50" charset="0"/>
              </a:rPr>
              <a:t>();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</a:t>
            </a:r>
            <a:r>
              <a:rPr lang="en-US" sz="2800" dirty="0" err="1">
                <a:latin typeface="Futura T OT" panose="02000000000000000000" pitchFamily="50" charset="0"/>
              </a:rPr>
              <a:t>update_output</a:t>
            </a:r>
            <a:r>
              <a:rPr lang="en-US" sz="2800" dirty="0">
                <a:latin typeface="Futura T OT" panose="02000000000000000000" pitchFamily="50" charset="0"/>
              </a:rPr>
              <a:t>();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7BE80-55BD-70CF-1461-E5AE8DF20FD8}"/>
              </a:ext>
            </a:extLst>
          </p:cNvPr>
          <p:cNvSpPr txBox="1"/>
          <p:nvPr/>
        </p:nvSpPr>
        <p:spPr>
          <a:xfrm>
            <a:off x="260004" y="2913102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while(1) is the backbone of main()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6B022-ADE1-96F6-BB79-E9FB1E02C1FC}"/>
              </a:ext>
            </a:extLst>
          </p:cNvPr>
          <p:cNvSpPr txBox="1"/>
          <p:nvPr/>
        </p:nvSpPr>
        <p:spPr>
          <a:xfrm>
            <a:off x="260004" y="1100991"/>
            <a:ext cx="1664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472C4"/>
                </a:solidFill>
                <a:latin typeface="Futura T OT" panose="02000000000000000000" pitchFamily="50" charset="0"/>
              </a:rPr>
              <a:t>while(1)</a:t>
            </a:r>
          </a:p>
        </p:txBody>
      </p:sp>
    </p:spTree>
    <p:extLst>
      <p:ext uri="{BB962C8B-B14F-4D97-AF65-F5344CB8AC3E}">
        <p14:creationId xmlns:p14="http://schemas.microsoft.com/office/powerpoint/2010/main" val="1037298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22FDC-F1FF-47F5-F357-49E8A50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37D8D-77FF-5863-9B05-2C2DA5B9B21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0B8C7971-05EC-D0B3-7097-8F89D20170F7}"/>
              </a:ext>
            </a:extLst>
          </p:cNvPr>
          <p:cNvSpPr txBox="1"/>
          <p:nvPr/>
        </p:nvSpPr>
        <p:spPr>
          <a:xfrm>
            <a:off x="5381104" y="2389882"/>
            <a:ext cx="681089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nn-NO" sz="2800" dirty="0">
                <a:latin typeface="Futura T OT" panose="02000000000000000000" pitchFamily="50" charset="0"/>
              </a:rPr>
              <a:t>for (uint8_t i = 0; i &lt; 8; i++) {</a:t>
            </a:r>
          </a:p>
          <a:p>
            <a:r>
              <a:rPr lang="nn-NO" sz="2800" dirty="0">
                <a:latin typeface="Futura T OT" panose="02000000000000000000" pitchFamily="50" charset="0"/>
              </a:rPr>
              <a:t>    PORTA = (1 &lt;&lt; i);</a:t>
            </a:r>
          </a:p>
          <a:p>
            <a:r>
              <a:rPr lang="nn-NO" sz="2800" dirty="0">
                <a:latin typeface="Futura T OT" panose="02000000000000000000" pitchFamily="50" charset="0"/>
              </a:rPr>
              <a:t>    _delay_ms(200);</a:t>
            </a:r>
          </a:p>
          <a:p>
            <a:r>
              <a:rPr lang="nn-NO" sz="2800" dirty="0">
                <a:latin typeface="Futura T OT" panose="02000000000000000000" pitchFamily="50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70840-3D22-D3A6-28FF-60C9E414AD55}"/>
              </a:ext>
            </a:extLst>
          </p:cNvPr>
          <p:cNvSpPr txBox="1"/>
          <p:nvPr/>
        </p:nvSpPr>
        <p:spPr>
          <a:xfrm>
            <a:off x="260004" y="2913102"/>
            <a:ext cx="4525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Used for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Short delays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Repetitive GPIO patterns</a:t>
            </a:r>
            <a:endParaRPr lang="en-US" sz="2400" dirty="0">
              <a:latin typeface="Futura T OT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47B8F-E91F-BE2F-1ED5-99BCCAF44690}"/>
              </a:ext>
            </a:extLst>
          </p:cNvPr>
          <p:cNvSpPr txBox="1"/>
          <p:nvPr/>
        </p:nvSpPr>
        <p:spPr>
          <a:xfrm>
            <a:off x="260004" y="1100991"/>
            <a:ext cx="1767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472C4"/>
                </a:solidFill>
                <a:latin typeface="Futura T OT" panose="02000000000000000000" pitchFamily="50" charset="0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677541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CC703-592E-E1A3-6702-50601EF3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377DB-078D-07FF-2547-D5AE449ACBA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B49D8-FCB8-2964-531E-1DD9B144D763}"/>
              </a:ext>
            </a:extLst>
          </p:cNvPr>
          <p:cNvSpPr txBox="1"/>
          <p:nvPr/>
        </p:nvSpPr>
        <p:spPr>
          <a:xfrm>
            <a:off x="260004" y="2913102"/>
            <a:ext cx="4525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A pointer in C is a variable that stores the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address</a:t>
            </a:r>
            <a:r>
              <a:rPr lang="en-US" sz="2400" dirty="0">
                <a:latin typeface="Futura T OT" panose="02000000000000000000" pitchFamily="50" charset="0"/>
              </a:rPr>
              <a:t> of another variable.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D11F4-B86D-9DA2-3169-05BC298CF3B5}"/>
              </a:ext>
            </a:extLst>
          </p:cNvPr>
          <p:cNvSpPr txBox="1"/>
          <p:nvPr/>
        </p:nvSpPr>
        <p:spPr>
          <a:xfrm>
            <a:off x="260004" y="1100991"/>
            <a:ext cx="1599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pointers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AFD0FA-2456-0ED3-1635-CF83BC862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9" t="28971" r="10270" b="9855"/>
          <a:stretch>
            <a:fillRect/>
          </a:stretch>
        </p:blipFill>
        <p:spPr>
          <a:xfrm>
            <a:off x="4842193" y="1487608"/>
            <a:ext cx="7089803" cy="405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7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B6781-B053-EFA2-2951-0D3F0CAA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AAFC4-E6E3-23D9-A29E-983F52757A5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D77D07B7-E887-48B4-D768-0D72DB562ED4}"/>
              </a:ext>
            </a:extLst>
          </p:cNvPr>
          <p:cNvSpPr txBox="1"/>
          <p:nvPr/>
        </p:nvSpPr>
        <p:spPr>
          <a:xfrm>
            <a:off x="6855691" y="3036213"/>
            <a:ext cx="507630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FR" sz="2800" dirty="0">
                <a:latin typeface="Futura T OT" panose="02000000000000000000" pitchFamily="50" charset="0"/>
              </a:rPr>
              <a:t>uint8_t x = 10;</a:t>
            </a:r>
          </a:p>
          <a:p>
            <a:r>
              <a:rPr lang="fr-FR" sz="2800" dirty="0">
                <a:latin typeface="Futura T OT" panose="02000000000000000000" pitchFamily="50" charset="0"/>
              </a:rPr>
              <a:t>uint8_t *</a:t>
            </a:r>
            <a:r>
              <a:rPr lang="fr-FR" sz="2800" dirty="0" err="1">
                <a:latin typeface="Futura T OT" panose="02000000000000000000" pitchFamily="50" charset="0"/>
              </a:rPr>
              <a:t>ptr</a:t>
            </a:r>
            <a:r>
              <a:rPr lang="fr-FR" sz="2800" dirty="0">
                <a:latin typeface="Futura T OT" panose="02000000000000000000" pitchFamily="50" charset="0"/>
              </a:rPr>
              <a:t> = &amp;x;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4538F-8E9E-062B-7B18-2AFF409B6568}"/>
              </a:ext>
            </a:extLst>
          </p:cNvPr>
          <p:cNvSpPr txBox="1"/>
          <p:nvPr/>
        </p:nvSpPr>
        <p:spPr>
          <a:xfrm>
            <a:off x="260004" y="2682270"/>
            <a:ext cx="54924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Use of pointers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Access hardware registers directly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Manipulate port registers dynamically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Pass variables to functions by 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A94A9-3B93-3710-5E58-127F5543C3DB}"/>
              </a:ext>
            </a:extLst>
          </p:cNvPr>
          <p:cNvSpPr txBox="1"/>
          <p:nvPr/>
        </p:nvSpPr>
        <p:spPr>
          <a:xfrm>
            <a:off x="260004" y="1100991"/>
            <a:ext cx="1599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1854854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284A4-AAF8-61FB-13F8-D96AB6A3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35C668-995A-C685-B95A-BEF5C2A3B32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4863C659-CCC3-5101-0224-4436D364BEC4}"/>
              </a:ext>
            </a:extLst>
          </p:cNvPr>
          <p:cNvSpPr txBox="1"/>
          <p:nvPr/>
        </p:nvSpPr>
        <p:spPr>
          <a:xfrm>
            <a:off x="5000104" y="3036213"/>
            <a:ext cx="681089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DDRC |= (1 &lt;&lt; PC0);  // Set PC0 as output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PORTC &amp;= ~(1 &lt;&lt; PC0); // Set PC0 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91D1B-4BD7-971C-68E5-50204BA21DBF}"/>
              </a:ext>
            </a:extLst>
          </p:cNvPr>
          <p:cNvSpPr txBox="1"/>
          <p:nvPr/>
        </p:nvSpPr>
        <p:spPr>
          <a:xfrm>
            <a:off x="260004" y="2477193"/>
            <a:ext cx="4525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Registers are memory addresses that control hardware.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B8479-1DBE-DA84-0F4B-E1C9F5BC22BB}"/>
              </a:ext>
            </a:extLst>
          </p:cNvPr>
          <p:cNvSpPr txBox="1"/>
          <p:nvPr/>
        </p:nvSpPr>
        <p:spPr>
          <a:xfrm>
            <a:off x="260004" y="3308190"/>
            <a:ext cx="4525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Futura T OT" panose="02000000000000000000" pitchFamily="50" charset="0"/>
              </a:rPr>
              <a:t>avr</a:t>
            </a:r>
            <a:r>
              <a:rPr lang="en-US" sz="2400" dirty="0">
                <a:latin typeface="Futura T OT" panose="02000000000000000000" pitchFamily="50" charset="0"/>
              </a:rPr>
              <a:t>/</a:t>
            </a:r>
            <a:r>
              <a:rPr lang="en-US" sz="2400" dirty="0" err="1">
                <a:latin typeface="Futura T OT" panose="02000000000000000000" pitchFamily="50" charset="0"/>
              </a:rPr>
              <a:t>io.h</a:t>
            </a:r>
            <a:r>
              <a:rPr lang="en-US" sz="2400" dirty="0">
                <a:latin typeface="Futura T OT" panose="02000000000000000000" pitchFamily="50" charset="0"/>
              </a:rPr>
              <a:t> defines all register name like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PORTA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DDRA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PINA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 err="1">
                <a:latin typeface="Futura T OT" panose="02000000000000000000" pitchFamily="50" charset="0"/>
              </a:rPr>
              <a:t>etc</a:t>
            </a:r>
            <a:endParaRPr lang="en-US" sz="2400" dirty="0">
              <a:latin typeface="Futura T OT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42911-6570-0FB3-A5B4-B349C33D3DA2}"/>
              </a:ext>
            </a:extLst>
          </p:cNvPr>
          <p:cNvSpPr txBox="1"/>
          <p:nvPr/>
        </p:nvSpPr>
        <p:spPr>
          <a:xfrm>
            <a:off x="260004" y="4265875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|=</a:t>
            </a:r>
            <a:r>
              <a:rPr lang="en-US" sz="2400" dirty="0">
                <a:latin typeface="Futura T OT" panose="02000000000000000000" pitchFamily="50" charset="0"/>
              </a:rPr>
              <a:t> , 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&amp;=~</a:t>
            </a:r>
            <a:r>
              <a:rPr lang="en-US" sz="2400" dirty="0">
                <a:latin typeface="Futura T OT" panose="02000000000000000000" pitchFamily="50" charset="0"/>
              </a:rPr>
              <a:t> are used to set/clear bits.</a:t>
            </a:r>
          </a:p>
        </p:txBody>
      </p:sp>
    </p:spTree>
    <p:extLst>
      <p:ext uri="{BB962C8B-B14F-4D97-AF65-F5344CB8AC3E}">
        <p14:creationId xmlns:p14="http://schemas.microsoft.com/office/powerpoint/2010/main" val="4251998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21B57-ED25-7ED7-D6AE-0BB68D7E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10F35E-1288-91FA-CF43-119A142A87C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30594E49-07E6-E204-32AB-6ED3A91136DE}"/>
              </a:ext>
            </a:extLst>
          </p:cNvPr>
          <p:cNvSpPr txBox="1"/>
          <p:nvPr/>
        </p:nvSpPr>
        <p:spPr>
          <a:xfrm>
            <a:off x="6096001" y="3036213"/>
            <a:ext cx="583599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FR" sz="2800" dirty="0">
                <a:latin typeface="Futura T OT" panose="02000000000000000000" pitchFamily="50" charset="0"/>
              </a:rPr>
              <a:t>volatile uint8_t *</a:t>
            </a:r>
            <a:r>
              <a:rPr lang="fr-FR" sz="2800" dirty="0" err="1">
                <a:latin typeface="Futura T OT" panose="02000000000000000000" pitchFamily="50" charset="0"/>
              </a:rPr>
              <a:t>portA</a:t>
            </a:r>
            <a:r>
              <a:rPr lang="fr-FR" sz="2800" dirty="0">
                <a:latin typeface="Futura T OT" panose="02000000000000000000" pitchFamily="50" charset="0"/>
              </a:rPr>
              <a:t> = (uint8_t*)0x1B; </a:t>
            </a:r>
          </a:p>
          <a:p>
            <a:r>
              <a:rPr lang="fr-FR" sz="2800" dirty="0">
                <a:latin typeface="Futura T OT" panose="02000000000000000000" pitchFamily="50" charset="0"/>
              </a:rPr>
              <a:t>*</a:t>
            </a:r>
            <a:r>
              <a:rPr lang="fr-FR" sz="2800" dirty="0" err="1">
                <a:latin typeface="Futura T OT" panose="02000000000000000000" pitchFamily="50" charset="0"/>
              </a:rPr>
              <a:t>portA</a:t>
            </a:r>
            <a:r>
              <a:rPr lang="fr-FR" sz="2800" dirty="0">
                <a:latin typeface="Futura T OT" panose="02000000000000000000" pitchFamily="50" charset="0"/>
              </a:rPr>
              <a:t> = 0xFF;  // Write to PORTA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31317-6B26-DFD5-1AD5-191CF5402FAC}"/>
              </a:ext>
            </a:extLst>
          </p:cNvPr>
          <p:cNvSpPr txBox="1"/>
          <p:nvPr/>
        </p:nvSpPr>
        <p:spPr>
          <a:xfrm>
            <a:off x="260003" y="2067128"/>
            <a:ext cx="54924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Use volatile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Variable is a hardware 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Variable is modified by an interrupt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Variable is changed by hardware (ADC, Timer, UART)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Variable is shared between main code and ISR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Variable might change without your program writing to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CB253-8B35-075B-6744-771AA419DD15}"/>
              </a:ext>
            </a:extLst>
          </p:cNvPr>
          <p:cNvSpPr txBox="1"/>
          <p:nvPr/>
        </p:nvSpPr>
        <p:spPr>
          <a:xfrm>
            <a:off x="260004" y="1100991"/>
            <a:ext cx="1466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3858229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60F66-583B-4959-C1B7-6618471B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1022E1-2113-62F4-116A-BDEDEFBB317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02D0CBAB-912B-F0D6-99C5-646211430FB4}"/>
              </a:ext>
            </a:extLst>
          </p:cNvPr>
          <p:cNvSpPr txBox="1"/>
          <p:nvPr/>
        </p:nvSpPr>
        <p:spPr>
          <a:xfrm>
            <a:off x="5381104" y="1789953"/>
            <a:ext cx="6810896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latin typeface="Futura T OT" panose="02000000000000000000" pitchFamily="50" charset="0"/>
              </a:rPr>
              <a:t>#include &lt;</a:t>
            </a:r>
            <a:r>
              <a:rPr lang="en-US" sz="2800" dirty="0" err="1">
                <a:latin typeface="Futura T OT" panose="02000000000000000000" pitchFamily="50" charset="0"/>
              </a:rPr>
              <a:t>avr</a:t>
            </a:r>
            <a:r>
              <a:rPr lang="en-US" sz="2800" dirty="0">
                <a:latin typeface="Futura T OT" panose="02000000000000000000" pitchFamily="50" charset="0"/>
              </a:rPr>
              <a:t>/</a:t>
            </a:r>
            <a:r>
              <a:rPr lang="en-US" sz="2800" dirty="0" err="1">
                <a:latin typeface="Futura T OT" panose="02000000000000000000" pitchFamily="50" charset="0"/>
              </a:rPr>
              <a:t>io.h</a:t>
            </a:r>
            <a:r>
              <a:rPr lang="en-US" sz="2800" dirty="0">
                <a:latin typeface="Futura T OT" panose="02000000000000000000" pitchFamily="50" charset="0"/>
              </a:rPr>
              <a:t>&gt;</a:t>
            </a:r>
          </a:p>
          <a:p>
            <a:endParaRPr lang="en-US" sz="2800" dirty="0">
              <a:latin typeface="Futura T OT" panose="02000000000000000000" pitchFamily="50" charset="0"/>
            </a:endParaRPr>
          </a:p>
          <a:p>
            <a:r>
              <a:rPr lang="en-US" sz="2800" dirty="0">
                <a:latin typeface="Futura T OT" panose="02000000000000000000" pitchFamily="50" charset="0"/>
              </a:rPr>
              <a:t>int main(void)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DDRA = 0xFF;        // Configure PORTA as output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PORTA = 0b10101010; // Output pattern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while (1) {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    // Endless loop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    }</a:t>
            </a:r>
          </a:p>
          <a:p>
            <a:r>
              <a:rPr lang="en-US" sz="2800" dirty="0">
                <a:latin typeface="Futura T OT" panose="02000000000000000000" pitchFamily="50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B1AC7-93D5-FB33-ADF8-37A6BB70BD9F}"/>
              </a:ext>
            </a:extLst>
          </p:cNvPr>
          <p:cNvSpPr txBox="1"/>
          <p:nvPr/>
        </p:nvSpPr>
        <p:spPr>
          <a:xfrm>
            <a:off x="260004" y="2477193"/>
            <a:ext cx="4525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#include &lt;</a:t>
            </a:r>
            <a:r>
              <a:rPr lang="en-US" sz="2400" dirty="0" err="1">
                <a:solidFill>
                  <a:srgbClr val="FF0000"/>
                </a:solidFill>
                <a:latin typeface="Futura T OT" panose="02000000000000000000" pitchFamily="50" charset="0"/>
              </a:rPr>
              <a:t>avr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/</a:t>
            </a:r>
            <a:r>
              <a:rPr lang="en-US" sz="2400" dirty="0" err="1">
                <a:solidFill>
                  <a:srgbClr val="FF0000"/>
                </a:solidFill>
                <a:latin typeface="Futura T OT" panose="02000000000000000000" pitchFamily="50" charset="0"/>
              </a:rPr>
              <a:t>io.h</a:t>
            </a:r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&gt; : </a:t>
            </a:r>
            <a:r>
              <a:rPr lang="en-US" sz="2400" dirty="0">
                <a:latin typeface="Futura T OT" panose="02000000000000000000" pitchFamily="50" charset="0"/>
              </a:rPr>
              <a:t>Gives access to all </a:t>
            </a:r>
            <a:r>
              <a:rPr lang="en-US" sz="2400" dirty="0" err="1">
                <a:latin typeface="Futura T OT" panose="02000000000000000000" pitchFamily="50" charset="0"/>
              </a:rPr>
              <a:t>Atmega</a:t>
            </a:r>
            <a:r>
              <a:rPr lang="en-US" sz="2400" dirty="0">
                <a:latin typeface="Futura T OT" panose="02000000000000000000" pitchFamily="50" charset="0"/>
              </a:rPr>
              <a:t> registers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E50EF-90B7-49DE-3282-22F405150026}"/>
              </a:ext>
            </a:extLst>
          </p:cNvPr>
          <p:cNvSpPr txBox="1"/>
          <p:nvPr/>
        </p:nvSpPr>
        <p:spPr>
          <a:xfrm>
            <a:off x="260004" y="3556200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main(): </a:t>
            </a:r>
            <a:r>
              <a:rPr lang="en-US" sz="2400" dirty="0">
                <a:latin typeface="Futura T OT" panose="02000000000000000000" pitchFamily="50" charset="0"/>
              </a:rPr>
              <a:t>program starts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3D744-6140-4B12-FC87-6632C177C870}"/>
              </a:ext>
            </a:extLst>
          </p:cNvPr>
          <p:cNvSpPr txBox="1"/>
          <p:nvPr/>
        </p:nvSpPr>
        <p:spPr>
          <a:xfrm>
            <a:off x="260004" y="4265875"/>
            <a:ext cx="4525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utura T OT" panose="02000000000000000000" pitchFamily="50" charset="0"/>
              </a:rPr>
              <a:t>while(1): </a:t>
            </a:r>
            <a:r>
              <a:rPr lang="en-US" sz="2400" dirty="0">
                <a:latin typeface="Futura T OT" panose="02000000000000000000" pitchFamily="50" charset="0"/>
              </a:rPr>
              <a:t>program starts here</a:t>
            </a:r>
          </a:p>
        </p:txBody>
      </p:sp>
    </p:spTree>
    <p:extLst>
      <p:ext uri="{BB962C8B-B14F-4D97-AF65-F5344CB8AC3E}">
        <p14:creationId xmlns:p14="http://schemas.microsoft.com/office/powerpoint/2010/main" val="571374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3C320-460A-F1F4-F32C-B2575374B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2AF68-4871-434D-5886-2A1FE951FA3F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53A27035-1930-19C7-F875-0ED228C6215F}"/>
              </a:ext>
            </a:extLst>
          </p:cNvPr>
          <p:cNvSpPr txBox="1"/>
          <p:nvPr/>
        </p:nvSpPr>
        <p:spPr>
          <a:xfrm>
            <a:off x="4450079" y="742550"/>
            <a:ext cx="6810896" cy="592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00" dirty="0">
                <a:latin typeface="Futura T OT" panose="02000000000000000000" pitchFamily="50" charset="0"/>
              </a:rPr>
              <a:t>#include &lt;</a:t>
            </a:r>
            <a:r>
              <a:rPr lang="en-US" sz="1100" dirty="0" err="1">
                <a:latin typeface="Futura T OT" panose="02000000000000000000" pitchFamily="50" charset="0"/>
              </a:rPr>
              <a:t>avr</a:t>
            </a:r>
            <a:r>
              <a:rPr lang="en-US" sz="1100" dirty="0">
                <a:latin typeface="Futura T OT" panose="02000000000000000000" pitchFamily="50" charset="0"/>
              </a:rPr>
              <a:t>/</a:t>
            </a:r>
            <a:r>
              <a:rPr lang="en-US" sz="1100" dirty="0" err="1">
                <a:latin typeface="Futura T OT" panose="02000000000000000000" pitchFamily="50" charset="0"/>
              </a:rPr>
              <a:t>io.h</a:t>
            </a:r>
            <a:r>
              <a:rPr lang="en-US" sz="1100" dirty="0">
                <a:latin typeface="Futura T OT" panose="02000000000000000000" pitchFamily="50" charset="0"/>
              </a:rPr>
              <a:t>&gt;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#include &lt;util/</a:t>
            </a:r>
            <a:r>
              <a:rPr lang="en-US" sz="1100" dirty="0" err="1">
                <a:latin typeface="Futura T OT" panose="02000000000000000000" pitchFamily="50" charset="0"/>
              </a:rPr>
              <a:t>delay.h</a:t>
            </a:r>
            <a:r>
              <a:rPr lang="en-US" sz="1100" dirty="0">
                <a:latin typeface="Futura T OT" panose="02000000000000000000" pitchFamily="50" charset="0"/>
              </a:rPr>
              <a:t>&gt;</a:t>
            </a:r>
          </a:p>
          <a:p>
            <a:endParaRPr lang="en-US" sz="1100" dirty="0">
              <a:latin typeface="Futura T OT" panose="02000000000000000000" pitchFamily="50" charset="0"/>
            </a:endParaRPr>
          </a:p>
          <a:p>
            <a:r>
              <a:rPr lang="en-US" sz="1100" dirty="0">
                <a:latin typeface="Futura T OT" panose="02000000000000000000" pitchFamily="50" charset="0"/>
              </a:rPr>
              <a:t>int main(void) {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// Configure ports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DDRA = 0xFF;   // PORTA as output (LEDs)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DDRB = 0x00;   // PORTB as input (switches)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PORTB = 0xFF;  // Enable pull-up resistors on PORTB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uint8_t counter = 0;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while(1) {     //  WHILE LOOP - main program loop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// Read switch on PB0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if(PINB &amp; (1&lt;&lt;PB0)) {        // IF-ELSE - check if switch pressed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// Switch is NOT pressed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PORTA = 0x00;            // Turn off all LEDs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} else {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// Switch IS pressed - create LED chaser effect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PORTA = 0x01;            // Start with first LED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//  FOR LOOP - LED chaser effect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for(counter = 0; counter &lt; 8; counter++) {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    PORTA = (1 &lt;&lt; counter);    // Light up LED at position 'counter'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    _</a:t>
            </a:r>
            <a:r>
              <a:rPr lang="en-US" sz="1100" dirty="0" err="1">
                <a:latin typeface="Futura T OT" panose="02000000000000000000" pitchFamily="50" charset="0"/>
              </a:rPr>
              <a:t>delay_ms</a:t>
            </a:r>
            <a:r>
              <a:rPr lang="en-US" sz="1100" dirty="0">
                <a:latin typeface="Futura T OT" panose="02000000000000000000" pitchFamily="50" charset="0"/>
              </a:rPr>
              <a:t>(200);            // Wait 200ms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}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// Turn off all LEDs after chaser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PORTA = 0x00;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    _</a:t>
            </a:r>
            <a:r>
              <a:rPr lang="en-US" sz="1100" dirty="0" err="1">
                <a:latin typeface="Futura T OT" panose="02000000000000000000" pitchFamily="50" charset="0"/>
              </a:rPr>
              <a:t>delay_ms</a:t>
            </a:r>
            <a:r>
              <a:rPr lang="en-US" sz="1100" dirty="0">
                <a:latin typeface="Futura T OT" panose="02000000000000000000" pitchFamily="50" charset="0"/>
              </a:rPr>
              <a:t>(500);                // Wait before next cycle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}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    _</a:t>
            </a:r>
            <a:r>
              <a:rPr lang="en-US" sz="1100" dirty="0" err="1">
                <a:latin typeface="Futura T OT" panose="02000000000000000000" pitchFamily="50" charset="0"/>
              </a:rPr>
              <a:t>delay_ms</a:t>
            </a:r>
            <a:r>
              <a:rPr lang="en-US" sz="1100" dirty="0">
                <a:latin typeface="Futura T OT" panose="02000000000000000000" pitchFamily="50" charset="0"/>
              </a:rPr>
              <a:t>(10);  // Small delay to prevent excessive CPU usage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    }</a:t>
            </a:r>
          </a:p>
          <a:p>
            <a:r>
              <a:rPr lang="en-US" sz="1100" dirty="0">
                <a:latin typeface="Futura T OT" panose="02000000000000000000" pitchFamily="50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76B37-D7DA-CE5B-885F-3907B89B6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92" y="742550"/>
            <a:ext cx="6895174" cy="60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93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B095A-A620-CA3B-A55F-C8B756EE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C24F2-ED51-4C91-C8C5-F1A4DC10EC3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Data types, Control structures and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86ACD-9790-A646-800B-FBC4ACA23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229"/>
          <a:stretch>
            <a:fillRect/>
          </a:stretch>
        </p:blipFill>
        <p:spPr>
          <a:xfrm>
            <a:off x="221095" y="812542"/>
            <a:ext cx="10552200" cy="5309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0FE08F-0384-7D4E-B3F9-7FBA6867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00" b="-1077"/>
          <a:stretch>
            <a:fillRect/>
          </a:stretch>
        </p:blipFill>
        <p:spPr>
          <a:xfrm>
            <a:off x="5843270" y="1915418"/>
            <a:ext cx="10552200" cy="39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46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3C58F-8A01-54C0-03F5-A8194453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8AF6F-16EF-9933-D08F-61BF6D4BB773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Memory management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F1F5004E-BD78-FC8C-A919-9F65353B87F4}"/>
              </a:ext>
            </a:extLst>
          </p:cNvPr>
          <p:cNvSpPr txBox="1"/>
          <p:nvPr/>
        </p:nvSpPr>
        <p:spPr>
          <a:xfrm>
            <a:off x="260004" y="1813624"/>
            <a:ext cx="597454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Flash memory is read-only during normal operation and is used to store the program code.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Use </a:t>
            </a:r>
            <a:r>
              <a:rPr lang="en-US" sz="2400" b="1" dirty="0">
                <a:latin typeface="Futura T OT" panose="02000000000000000000" pitchFamily="50" charset="0"/>
              </a:rPr>
              <a:t>compiler optimization</a:t>
            </a:r>
            <a:r>
              <a:rPr lang="en-US" sz="2400" dirty="0">
                <a:latin typeface="Futura T OT" panose="02000000000000000000" pitchFamily="50" charset="0"/>
              </a:rPr>
              <a:t> settings (e.g., -</a:t>
            </a:r>
            <a:r>
              <a:rPr lang="en-US" sz="2400" dirty="0" err="1">
                <a:latin typeface="Futura T OT" panose="02000000000000000000" pitchFamily="50" charset="0"/>
              </a:rPr>
              <a:t>Os</a:t>
            </a:r>
            <a:r>
              <a:rPr lang="en-US" sz="2400" dirty="0">
                <a:latin typeface="Futura T OT" panose="02000000000000000000" pitchFamily="50" charset="0"/>
              </a:rPr>
              <a:t> in GCC) to reduce code size.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Store constant data (e.g., lookup tables, strings) in flash using the PROGMEM directive.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Avoid frequent flash rewrites as they have limited write cycles.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Use bootloaders to simplify firmware updates without external programming tools.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Utilize segment analysis tools to track flash usage.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012FD-C1B4-562A-3647-BA1C45D62356}"/>
              </a:ext>
            </a:extLst>
          </p:cNvPr>
          <p:cNvSpPr txBox="1"/>
          <p:nvPr/>
        </p:nvSpPr>
        <p:spPr>
          <a:xfrm>
            <a:off x="260004" y="612393"/>
            <a:ext cx="5289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Flash Memory Management</a:t>
            </a:r>
          </a:p>
        </p:txBody>
      </p:sp>
      <p:pic>
        <p:nvPicPr>
          <p:cNvPr id="5" name="Picture 2" descr="Memory | Digital Circuits 7: MCUs... how do they work? | Adafruit Learning  System">
            <a:extLst>
              <a:ext uri="{FF2B5EF4-FFF2-40B4-BE49-F238E27FC236}">
                <a16:creationId xmlns:a16="http://schemas.microsoft.com/office/drawing/2014/main" id="{BDE5D73A-6C3E-CF0E-D30A-9DA2088EA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230" y="935558"/>
            <a:ext cx="5117638" cy="513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332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87BA7-EBB9-8D4A-98D3-D7720197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6F2CC4-67DA-863E-CFA9-750EDF7D9FC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Memory management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EA3B35D0-1C87-EF03-415C-1CF370407437}"/>
              </a:ext>
            </a:extLst>
          </p:cNvPr>
          <p:cNvSpPr txBox="1"/>
          <p:nvPr/>
        </p:nvSpPr>
        <p:spPr>
          <a:xfrm>
            <a:off x="260004" y="1813624"/>
            <a:ext cx="5974541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SRAM is used for runtime data, including global and local variables, stacks, and buffers.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Minimize global variables to reduce memory overhead.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Use </a:t>
            </a:r>
            <a:r>
              <a:rPr lang="en-US" sz="2400" b="1" dirty="0">
                <a:latin typeface="Futura T OT" panose="02000000000000000000" pitchFamily="50" charset="0"/>
              </a:rPr>
              <a:t>stack-efficient coding practices</a:t>
            </a:r>
            <a:r>
              <a:rPr lang="en-US" sz="2400" dirty="0">
                <a:latin typeface="Futura T OT" panose="02000000000000000000" pitchFamily="50" charset="0"/>
              </a:rPr>
              <a:t>, such as reusing local variables.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Avoid dynamic memory allocation (malloc/free) unless necessary, as it can lead to fragmentation.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Leverage </a:t>
            </a:r>
            <a:r>
              <a:rPr lang="en-US" sz="2400" b="1" dirty="0">
                <a:latin typeface="Futura T OT" panose="02000000000000000000" pitchFamily="50" charset="0"/>
              </a:rPr>
              <a:t>data packing</a:t>
            </a:r>
            <a:r>
              <a:rPr lang="en-US" sz="2400" dirty="0">
                <a:latin typeface="Futura T OT" panose="02000000000000000000" pitchFamily="50" charset="0"/>
              </a:rPr>
              <a:t> techniques, like using smaller data types or bit-fields.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Use static code analysis tools to detect potential SRAM overflows.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3EDC3-8053-46D5-5DE9-4790BE58D9D8}"/>
              </a:ext>
            </a:extLst>
          </p:cNvPr>
          <p:cNvSpPr txBox="1"/>
          <p:nvPr/>
        </p:nvSpPr>
        <p:spPr>
          <a:xfrm>
            <a:off x="260004" y="612393"/>
            <a:ext cx="3874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SRAM Management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03D8B9-FEE9-B980-EC4C-6DA4BF98A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133" y="865596"/>
            <a:ext cx="5139863" cy="512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251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1DAB3-5B80-D22E-8714-C4970DFC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5396B-BB29-EB7B-FD65-52F2E791F87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Futura T OT" panose="02000000000000000000" pitchFamily="50" charset="0"/>
              </a:rPr>
              <a:t>Memory management</a:t>
            </a:r>
          </a:p>
        </p:txBody>
      </p:sp>
      <p:sp>
        <p:nvSpPr>
          <p:cNvPr id="3" name="Google Shape;171;p19">
            <a:extLst>
              <a:ext uri="{FF2B5EF4-FFF2-40B4-BE49-F238E27FC236}">
                <a16:creationId xmlns:a16="http://schemas.microsoft.com/office/drawing/2014/main" id="{2267C545-2901-4D06-6E4D-0C91BBB54F87}"/>
              </a:ext>
            </a:extLst>
          </p:cNvPr>
          <p:cNvSpPr txBox="1"/>
          <p:nvPr/>
        </p:nvSpPr>
        <p:spPr>
          <a:xfrm>
            <a:off x="260004" y="1464489"/>
            <a:ext cx="5974541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latin typeface="Futura T OT" panose="02000000000000000000" pitchFamily="50" charset="0"/>
              </a:rPr>
              <a:t>EEPROM provides non-volatile storage for configuration or data that must persist after a reset or power loss.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Use the EEPROM library functions (</a:t>
            </a:r>
            <a:r>
              <a:rPr lang="en-US" sz="2400" dirty="0" err="1">
                <a:latin typeface="Futura T OT" panose="02000000000000000000" pitchFamily="50" charset="0"/>
              </a:rPr>
              <a:t>eeprom_read_byte</a:t>
            </a:r>
            <a:r>
              <a:rPr lang="en-US" sz="2400" dirty="0">
                <a:latin typeface="Futura T OT" panose="02000000000000000000" pitchFamily="50" charset="0"/>
              </a:rPr>
              <a:t>, </a:t>
            </a:r>
            <a:r>
              <a:rPr lang="en-US" sz="2400" dirty="0" err="1">
                <a:latin typeface="Futura T OT" panose="02000000000000000000" pitchFamily="50" charset="0"/>
              </a:rPr>
              <a:t>eeprom_write_byte</a:t>
            </a:r>
            <a:r>
              <a:rPr lang="en-US" sz="2400" dirty="0">
                <a:latin typeface="Futura T OT" panose="02000000000000000000" pitchFamily="50" charset="0"/>
              </a:rPr>
              <a:t>) for safe access.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Implement wear leveling to extend EEPROM lifespan.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Store frequently updated data in RAM and write it to EEPROM periodically.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Perform read-after-write operations to ensure data integrity.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utura T OT" panose="02000000000000000000" pitchFamily="50" charset="0"/>
              </a:rPr>
              <a:t>Avoid writing to EEPROM in performance-critical sections due to slow write speeds.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4AA95-17D3-7D55-CD30-273C377F44B7}"/>
              </a:ext>
            </a:extLst>
          </p:cNvPr>
          <p:cNvSpPr txBox="1"/>
          <p:nvPr/>
        </p:nvSpPr>
        <p:spPr>
          <a:xfrm>
            <a:off x="260004" y="612393"/>
            <a:ext cx="4366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Futura T OT" panose="02000000000000000000" pitchFamily="50" charset="0"/>
              </a:rPr>
              <a:t>EEPROM Management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15E817-7061-1B9E-4597-61FE3D025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03" y="647307"/>
            <a:ext cx="5655252" cy="563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820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8712</TotalTime>
  <Words>1954</Words>
  <Application>Microsoft Office PowerPoint</Application>
  <PresentationFormat>Widescreen</PresentationFormat>
  <Paragraphs>257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Futura T OT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Krishtein Einsna</dc:creator>
  <cp:lastModifiedBy>Krishtein Einsna</cp:lastModifiedBy>
  <cp:revision>202</cp:revision>
  <dcterms:created xsi:type="dcterms:W3CDTF">2025-09-16T01:34:55Z</dcterms:created>
  <dcterms:modified xsi:type="dcterms:W3CDTF">2025-11-21T06:51:18Z</dcterms:modified>
</cp:coreProperties>
</file>