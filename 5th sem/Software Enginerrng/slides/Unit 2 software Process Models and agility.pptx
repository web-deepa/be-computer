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3" r:id="rId4"/>
    <p:sldId id="303" r:id="rId5"/>
    <p:sldId id="304" r:id="rId6"/>
    <p:sldId id="305" r:id="rId7"/>
    <p:sldId id="306" r:id="rId8"/>
    <p:sldId id="307" r:id="rId9"/>
    <p:sldId id="308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31" r:id="rId50"/>
    <p:sldId id="263" r:id="rId51"/>
    <p:sldId id="33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4291" autoAdjust="0"/>
  </p:normalViewPr>
  <p:slideViewPr>
    <p:cSldViewPr snapToGrid="0">
      <p:cViewPr varScale="1">
        <p:scale>
          <a:sx n="124" d="100"/>
          <a:sy n="124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13/11/24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13/11/24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13/11/24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13/11/24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13/11/24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13/11/24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13/11/24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13/11/24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13/11/24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13/11/24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13/11/24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13/11/24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file:////Users/hbs/Library/Group%20Containers/UBF8T346G9.ms/WebArchiveCopyPasteTempFiles/com.microsoft.Word/What-is-Extreme-Programming-(XP).webp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file:////Users/hbs/Library/Group%20Containers/UBF8T346G9.ms/WebArchiveCopyPasteTempFiles/com.microsoft.Word/Good-Practices-in-Extreme-Programming.webp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air-programming/" TargetMode="Externa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file:////Users/hbs/Library/Group%20Containers/UBF8T346G9.ms/WebArchiveCopyPasteTempFiles/com.microsoft.Word/Life-Cycle-of-Extreme-Programming-(XP).webp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file:////Users/hbs/Library/Group%20Containers/UBF8T346G9.ms/WebArchiveCopyPasteTempFiles/com.microsoft.Word/Values-of-Extreme-Programming-(XP).webp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file:////Users/hbs/Library/Group%20Containers/UBF8T346G9.ms/WebArchiveCopyPasteTempFiles/com.microsoft.Word/442.jpg" TargetMode="Externa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75" y="460824"/>
            <a:ext cx="12084148" cy="1206589"/>
          </a:xfrm>
        </p:spPr>
        <p:txBody>
          <a:bodyPr>
            <a:noAutofit/>
          </a:bodyPr>
          <a:lstStyle/>
          <a:p>
            <a:b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</a:rPr>
              <a:t>Chapter 2</a:t>
            </a:r>
            <a:b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</a:rPr>
            </a:br>
            <a: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SOFTWARE PROCESS MODELS AND AGILITY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4861" y="2861159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sz="28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GB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3260" y="1667413"/>
            <a:ext cx="1961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Hour:5hrs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9612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265FB9-BA35-B175-3AD7-A4143797BE46}"/>
              </a:ext>
            </a:extLst>
          </p:cNvPr>
          <p:cNvSpPr txBox="1"/>
          <p:nvPr/>
        </p:nvSpPr>
        <p:spPr>
          <a:xfrm>
            <a:off x="0" y="1347796"/>
            <a:ext cx="1219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</a:rPr>
              <a:t>Software Development Lifecycle (SDLC)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</a:rPr>
              <a:t>Waterfall, Incremental, Prototyping, Iterative, Spiral, Rapid Application Development, Aspect Oriented SE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</a:rPr>
              <a:t>Agile Software Development</a:t>
            </a:r>
          </a:p>
          <a:p>
            <a:pPr algn="l"/>
            <a:r>
              <a:rPr lang="en-US" dirty="0">
                <a:latin typeface="Times New Roman" panose="02020603050405020304" pitchFamily="18" charset="0"/>
              </a:rPr>
              <a:t>        1.</a:t>
            </a:r>
            <a:r>
              <a:rPr lang="en-US" b="0" dirty="0">
                <a:latin typeface="Times New Roman" panose="02020603050405020304" pitchFamily="18" charset="0"/>
              </a:rPr>
              <a:t> Extreme Programming</a:t>
            </a:r>
          </a:p>
          <a:p>
            <a:pPr algn="l"/>
            <a:r>
              <a:rPr lang="en-US" dirty="0">
                <a:latin typeface="Times New Roman" panose="02020603050405020304" pitchFamily="18" charset="0"/>
              </a:rPr>
              <a:t>        2. </a:t>
            </a:r>
            <a:r>
              <a:rPr lang="en-US" b="0" dirty="0">
                <a:latin typeface="Times New Roman" panose="02020603050405020304" pitchFamily="18" charset="0"/>
              </a:rPr>
              <a:t>Scrum 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        </a:t>
            </a:r>
            <a:r>
              <a:rPr lang="en-US" dirty="0">
                <a:latin typeface="Times New Roman" panose="02020603050405020304" pitchFamily="18" charset="0"/>
              </a:rPr>
              <a:t>3. </a:t>
            </a:r>
            <a:r>
              <a:rPr lang="en-US" b="0" dirty="0">
                <a:latin typeface="Times New Roman" panose="02020603050405020304" pitchFamily="18" charset="0"/>
              </a:rPr>
              <a:t>Agile Project Management and Scaling Agile Methods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</a:rPr>
              <a:t>Pros and Cons of Process Models and their Applicability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Life Cycle[SDLC]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6320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It refers to the process of designing, creating, deploying, and maintaining software applications or systems.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a systematic approach to building software that meets specific requirements and objectives.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oftware Development Life Cycle (SDLC)">
            <a:extLst>
              <a:ext uri="{FF2B5EF4-FFF2-40B4-BE49-F238E27FC236}">
                <a16:creationId xmlns:a16="http://schemas.microsoft.com/office/drawing/2014/main" id="{36C4B7B4-3F72-96DD-0754-7564228CF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21177"/>
            <a:ext cx="8382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870FB-3B04-754F-5F1D-BF102AB3D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tage 1">
            <a:extLst>
              <a:ext uri="{FF2B5EF4-FFF2-40B4-BE49-F238E27FC236}">
                <a16:creationId xmlns:a16="http://schemas.microsoft.com/office/drawing/2014/main" id="{1B692E90-5E39-081C-7F83-8C0E295E52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0"/>
          <a:stretch/>
        </p:blipFill>
        <p:spPr bwMode="auto">
          <a:xfrm>
            <a:off x="0" y="381000"/>
            <a:ext cx="12192000" cy="559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220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01678-F682-8F38-0159-8F58CD06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tage-2: Defining Requirements">
            <a:extLst>
              <a:ext uri="{FF2B5EF4-FFF2-40B4-BE49-F238E27FC236}">
                <a16:creationId xmlns:a16="http://schemas.microsoft.com/office/drawing/2014/main" id="{B7413072-1749-B0A8-E5DD-CE2A89336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86"/>
          <a:stretch/>
        </p:blipFill>
        <p:spPr bwMode="auto">
          <a:xfrm>
            <a:off x="0" y="381000"/>
            <a:ext cx="12192000" cy="5588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337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23195-BC45-8AC3-38B7-98AB7E8D2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Lightbox">
            <a:extLst>
              <a:ext uri="{FF2B5EF4-FFF2-40B4-BE49-F238E27FC236}">
                <a16:creationId xmlns:a16="http://schemas.microsoft.com/office/drawing/2014/main" id="{5F4DA26B-0EFF-4E7B-DE3C-09D104D52C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40"/>
          <a:stretch/>
        </p:blipFill>
        <p:spPr bwMode="auto">
          <a:xfrm>
            <a:off x="0" y="381000"/>
            <a:ext cx="12192000" cy="552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20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0C754-57F3-8931-3FD3-040E9EEE8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Stage-4: Developing Product">
            <a:extLst>
              <a:ext uri="{FF2B5EF4-FFF2-40B4-BE49-F238E27FC236}">
                <a16:creationId xmlns:a16="http://schemas.microsoft.com/office/drawing/2014/main" id="{9ED7727E-2C2D-27EF-BDF4-D8ED0FA8FD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66"/>
          <a:stretch/>
        </p:blipFill>
        <p:spPr bwMode="auto">
          <a:xfrm>
            <a:off x="0" y="381000"/>
            <a:ext cx="12192000" cy="556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89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0E458-58F3-43F4-DE85-24FE01C66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Lightbox">
            <a:extLst>
              <a:ext uri="{FF2B5EF4-FFF2-40B4-BE49-F238E27FC236}">
                <a16:creationId xmlns:a16="http://schemas.microsoft.com/office/drawing/2014/main" id="{421E30BE-C482-E338-3BDC-47376844E5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34"/>
          <a:stretch/>
        </p:blipFill>
        <p:spPr bwMode="auto">
          <a:xfrm>
            <a:off x="0" y="381000"/>
            <a:ext cx="12192000" cy="555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375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4DD91-41F2-5BC3-39CD-3C8BE2CE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Lightbox">
            <a:extLst>
              <a:ext uri="{FF2B5EF4-FFF2-40B4-BE49-F238E27FC236}">
                <a16:creationId xmlns:a16="http://schemas.microsoft.com/office/drawing/2014/main" id="{E35895AF-B50D-16D7-02D0-8E9EC6995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51"/>
          <a:stretch/>
        </p:blipFill>
        <p:spPr bwMode="auto">
          <a:xfrm>
            <a:off x="0" y="381000"/>
            <a:ext cx="12192000" cy="546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206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11045"/>
          <a:stretch>
            <a:fillRect/>
          </a:stretch>
        </p:blipFill>
        <p:spPr>
          <a:xfrm>
            <a:off x="2038985" y="1111885"/>
            <a:ext cx="7751445" cy="44748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7170" name="Picture 2" descr="waterf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713" y="1102201"/>
            <a:ext cx="8401880" cy="5069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1027430"/>
            <a:ext cx="1180719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When To Use this Model??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When the requirements are constant and not changed regularly.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A project is short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Where the tools and technology used is consistent and is not changing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When resources are well prepared and are available to use.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0" y="2778760"/>
            <a:ext cx="121138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en-GB" b="1">
                <a:latin typeface=".AppleSystemUIFont Regular" charset="0"/>
                <a:cs typeface=".AppleSystemUIFont Regular" charset="0"/>
                <a:sym typeface="+mn-ea"/>
              </a:rPr>
              <a:t>Advantages:</a:t>
            </a:r>
            <a:endParaRPr lang="en-GB" b="1">
              <a:latin typeface=".AppleSystemUIFont Regular" charset="0"/>
              <a:cs typeface=".AppleSystemUIFont Regular" charset="0"/>
              <a:sym typeface="+mn-e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latin typeface=".AppleSystemUIFont Regular" charset="0"/>
                <a:cs typeface=".AppleSystemUIFont Regular" charset="0"/>
                <a:sym typeface="+mn-ea"/>
              </a:rPr>
              <a:t>Simple and easy to understand and use.</a:t>
            </a:r>
            <a:endParaRPr>
              <a:latin typeface=".AppleSystemUIFont Regular" charset="0"/>
              <a:cs typeface=".AppleSystemUIFont Regular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latin typeface=".AppleSystemUIFont Regular" charset="0"/>
                <a:cs typeface=".AppleSystemUIFont Regular" charset="0"/>
                <a:sym typeface="+mn-ea"/>
              </a:rPr>
              <a:t>Phases do not overlap.</a:t>
            </a:r>
            <a:endParaRPr>
              <a:latin typeface=".AppleSystemUIFont Regular" charset="0"/>
              <a:cs typeface=".AppleSystemUIFont Regular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latin typeface=".AppleSystemUIFont Regular" charset="0"/>
                <a:cs typeface=".AppleSystemUIFont Regular" charset="0"/>
                <a:sym typeface="+mn-ea"/>
              </a:rPr>
              <a:t>Waterfall model works well for smaller projects where requirements are very well understood.</a:t>
            </a:r>
            <a:endParaRPr lang="en-US">
              <a:latin typeface=".AppleSystemUIFont Regular" charset="0"/>
              <a:cs typeface=".AppleSystemUIFont Regular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8740" y="4431030"/>
            <a:ext cx="1211326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en-GB" b="1">
                <a:sym typeface="+mn-ea"/>
              </a:rPr>
              <a:t>Disadvantages:</a:t>
            </a:r>
            <a:endParaRPr lang="en-GB" b="1">
              <a:sym typeface="+mn-e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ym typeface="+mn-ea"/>
              </a:rPr>
              <a:t>High amounts of risk and uncertainty.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ym typeface="+mn-ea"/>
              </a:rPr>
              <a:t>Not a good model for complex projects.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ym typeface="+mn-ea"/>
              </a:rPr>
              <a:t>Poor model for long and ongoing projects.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sym typeface="+mn-ea"/>
              </a:rPr>
              <a:t>Not suitable for the projects where requirements are at a moderate to high risk of changing.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295" y="572770"/>
            <a:ext cx="9544050" cy="61537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34620" y="441325"/>
            <a:ext cx="1205738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V-Model?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requirement is well defined and not ambiguous.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V-shaped model should be used for small to medium-sized projects where requirements are clearly defined and fixed.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V-shaped model should be chosen when sample technical resources are available with essential technical expertise.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 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Easy to Understand.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Testing Methods like planning, test designing happens well before coding.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This saves a lot of time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Avoids the downward flow of the defects.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Works well for small plans where requirements are easily understood.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 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Very rigid and least flexible.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Not a good for a complex project.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Software is developed during the implementation stage, so no early prototypes of the software are produced.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If any changes happen in the midway, then the test documents along with the required documents, has to be updated.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9218" name="Picture 2" descr="increme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768626"/>
            <a:ext cx="12191999" cy="608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1082675"/>
            <a:ext cx="1212469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the Incremental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requirements are superior.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 project has a lengthy development schedule.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Software team are not very well skilled or trained.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customer demands a quick release of the product.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You can develop prioritized requirements first.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Errors are easy to be recognized.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Easier to test and debug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More flexible.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Simple to manage risk because it handled during its iteration.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Client gets important functionality early.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Need for good planning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Total Cost is high.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Well defined module interfaces are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10242" name="Picture 2" descr="r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7750"/>
            <a:ext cx="12192000" cy="581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672465"/>
            <a:ext cx="1111504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RAD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system should need to create the project that modularizes in a short span time (2-3 months).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requirements are well-known.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technical risk is limited.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there's a necessity to make a system, which modularized in 2-3 months of period.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should be used only if the budget allows the use of automatic code generating tools.</a:t>
            </a:r>
          </a:p>
          <a:p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 of RAD Model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This model is flexible for change.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In this model, changes are adoptable.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reduced development time.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increases the reusability of features.</a:t>
            </a:r>
          </a:p>
          <a:p>
            <a:pPr indent="0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 of RAD Model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required highly skilled designers.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For smaller projects, we cannot use the RAD model.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On the high technical risk, it's not suitable.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Required user involvement.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335" y="1101090"/>
            <a:ext cx="9131300" cy="56172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462280"/>
            <a:ext cx="1219263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the Iterative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requirements are defined clearly and easy to understand.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software application is large.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there is a requirement of changes in future.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Testing and debugging during smaller iteration is easy.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 Parallel development can plan.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easily acceptable to ever-changing needs of the project.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Risks are identified and resolved during iteration.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Limited time spent on documentation and extra time on designing.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not suitable for smaller projects.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More Resources may be required.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Design can be changed again and again because of imperfect requirements.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Requirement changes can cause over budget.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Project completion date not confirmed because of changing requirements.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85" y="825500"/>
            <a:ext cx="7816850" cy="54552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-34290" y="1049020"/>
            <a:ext cx="1226058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Spiral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deliverance is required to be frequent.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project is large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requirements are unclear and complex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changes may require at any time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Large and high budget projects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High amount of risk analysis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Useful for large and mission-critical projects.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Can be a costly model to use.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Risk analysis needed highly particular expertise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Doesn't work well for smaller projects.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915" y="571500"/>
            <a:ext cx="5601335" cy="61906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613410"/>
            <a:ext cx="1219200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Prototyping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Changing product requirements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feasibility of the product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final product requires continuous user interactions</a:t>
            </a:r>
          </a:p>
          <a:p>
            <a:pPr marL="285750" indent="-285750">
              <a:buFont typeface="Wingdings" panose="05000000000000000000" charset="0"/>
              <a:buChar char=""/>
            </a:pP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Reduce the risk of incorrect user requirement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Good where requirement are changing/uncommitted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Regular visible process aids management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Support early product marketing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Reduce Maintenance cost.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Errors can be detected much earlier as the system is made side by side.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Needs committed customer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Difficult to finish if customer withdraw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Difficult to know how long the project will last.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Prototyping tools are expensive.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a time-consuming process.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1132840"/>
            <a:ext cx="6819265" cy="4864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202565"/>
            <a:ext cx="12192635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When to use the Agile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When frequent changes are required.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When a highly qualified and experienced team is available.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When a customer is ready to have a meeting with a software team all the time.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When project size is small.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Frequent Delivery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Face-to-Face Communication with clients.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Efficient design and fulfils the business requirement.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Anytime changes are acceptable.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It reduces total development time.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Disadvantages: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dirty="0" err="1">
                <a:latin typeface="Times New Roman Regular" panose="02020603050405020304" charset="0"/>
                <a:cs typeface="Times New Roman Regular" panose="02020603050405020304" charset="0"/>
              </a:rPr>
              <a:t>LAck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of complete formal documents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Due to the lack of proper documentation, once the project completes and the developers allotted to another project, maintenance of the finished project can become a difficulty.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Models</a:t>
            </a:r>
          </a:p>
        </p:txBody>
      </p:sp>
      <p:pic>
        <p:nvPicPr>
          <p:cNvPr id="16386" name="Picture 2" descr="Big Bang 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017" y="768626"/>
            <a:ext cx="8958469" cy="564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1196340"/>
            <a:ext cx="121920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When to use Big Bang Model?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the project is small like an academic project or a practical project.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This method is also used when the size of the developer team is small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When requirements are not defined, and the release date is not confirmed or given by the customer.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There is no planning required.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Simple Model.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Few resources required.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Easy to manage.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Flexible for developers.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There are high risk and uncertainty.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Not acceptable for a large project.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If requirements are not clear that can cause very expensive.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00079-8BD7-B88B-7306-D30C1AB10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450040-2C6C-A06F-2D9F-7F6DA1B5F211}"/>
              </a:ext>
            </a:extLst>
          </p:cNvPr>
          <p:cNvSpPr txBox="1"/>
          <p:nvPr/>
        </p:nvSpPr>
        <p:spPr>
          <a:xfrm>
            <a:off x="3675580" y="0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Agile Software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BFED96-ACBA-97D1-4907-4EC2E5B24685}"/>
              </a:ext>
            </a:extLst>
          </p:cNvPr>
          <p:cNvSpPr txBox="1"/>
          <p:nvPr/>
        </p:nvSpPr>
        <p:spPr>
          <a:xfrm>
            <a:off x="0" y="566834"/>
            <a:ext cx="121920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 is an iterative and incremental approach to Software development that emphasizes the importance of delivering a working product quickly and frequently. </a:t>
            </a:r>
          </a:p>
          <a:p>
            <a:pPr marL="285750" indent="-285750" algn="just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close collaboration between the development team and the customer to ensure that the product meets their needs and expectations.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F0296-3046-ED44-37B3-0BB0CE303DEA}"/>
              </a:ext>
            </a:extLst>
          </p:cNvPr>
          <p:cNvSpPr txBox="1"/>
          <p:nvPr/>
        </p:nvSpPr>
        <p:spPr>
          <a:xfrm>
            <a:off x="166956" y="2095458"/>
            <a:ext cx="11685998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b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Agile is Used?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Tangible Value: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Concentrate on Value-Added Work: 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as a Mindset: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Response to Change: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Demonstrations: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Cross-Functional Teams: </a:t>
            </a:r>
          </a:p>
        </p:txBody>
      </p:sp>
    </p:spTree>
    <p:extLst>
      <p:ext uri="{BB962C8B-B14F-4D97-AF65-F5344CB8AC3E}">
        <p14:creationId xmlns:p14="http://schemas.microsoft.com/office/powerpoint/2010/main" val="3771620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8A68E-2531-DA69-AB94-2EE6BB4B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27B6E5-FC0C-9D04-3226-96F52A769EF3}"/>
              </a:ext>
            </a:extLst>
          </p:cNvPr>
          <p:cNvSpPr txBox="1"/>
          <p:nvPr/>
        </p:nvSpPr>
        <p:spPr>
          <a:xfrm>
            <a:off x="3408452" y="0"/>
            <a:ext cx="6097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Core Values of Agile Software Development</a:t>
            </a:r>
          </a:p>
        </p:txBody>
      </p:sp>
      <p:pic>
        <p:nvPicPr>
          <p:cNvPr id="14338" name="Picture 2" descr="Lightbox">
            <a:extLst>
              <a:ext uri="{FF2B5EF4-FFF2-40B4-BE49-F238E27FC236}">
                <a16:creationId xmlns:a16="http://schemas.microsoft.com/office/drawing/2014/main" id="{BFF0B22D-0A43-130E-E92D-DEFB0D0D7E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72" t="3863" r="24663" b="15576"/>
          <a:stretch/>
        </p:blipFill>
        <p:spPr bwMode="auto">
          <a:xfrm>
            <a:off x="2083941" y="572784"/>
            <a:ext cx="8024118" cy="571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877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5F5CD-7E2E-E6CF-60A2-4D6ECFA4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23F829-11CF-5EA0-95D2-3A412436E5CE}"/>
              </a:ext>
            </a:extLst>
          </p:cNvPr>
          <p:cNvSpPr txBox="1"/>
          <p:nvPr/>
        </p:nvSpPr>
        <p:spPr>
          <a:xfrm>
            <a:off x="3244065" y="128427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Principles of Agile Software Development</a:t>
            </a:r>
          </a:p>
        </p:txBody>
      </p:sp>
      <p:pic>
        <p:nvPicPr>
          <p:cNvPr id="16386" name="Picture 2" descr="Lightbox">
            <a:extLst>
              <a:ext uri="{FF2B5EF4-FFF2-40B4-BE49-F238E27FC236}">
                <a16:creationId xmlns:a16="http://schemas.microsoft.com/office/drawing/2014/main" id="{4C019CDB-732F-D604-D16D-F94194CF71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5" b="8497"/>
          <a:stretch/>
        </p:blipFill>
        <p:spPr bwMode="auto">
          <a:xfrm>
            <a:off x="-1712" y="922105"/>
            <a:ext cx="12192000" cy="5807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2092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B3543-FA90-3A08-951C-E657F7222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C22793-C281-3320-2DD1-019DEC200DA2}"/>
              </a:ext>
            </a:extLst>
          </p:cNvPr>
          <p:cNvSpPr txBox="1"/>
          <p:nvPr/>
        </p:nvSpPr>
        <p:spPr>
          <a:xfrm>
            <a:off x="3244065" y="128427"/>
            <a:ext cx="6097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 Process</a:t>
            </a:r>
          </a:p>
        </p:txBody>
      </p:sp>
      <p:pic>
        <p:nvPicPr>
          <p:cNvPr id="18434" name="Picture 2" descr="Lightbox">
            <a:extLst>
              <a:ext uri="{FF2B5EF4-FFF2-40B4-BE49-F238E27FC236}">
                <a16:creationId xmlns:a16="http://schemas.microsoft.com/office/drawing/2014/main" id="{28E004DF-DF6F-D595-BD98-B5723DA08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333500"/>
            <a:ext cx="8382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443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378E5-D137-51DA-5035-461376E4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7AE3A2-FE71-EB23-EE7E-4CF420925BCF}"/>
              </a:ext>
            </a:extLst>
          </p:cNvPr>
          <p:cNvSpPr txBox="1"/>
          <p:nvPr/>
        </p:nvSpPr>
        <p:spPr>
          <a:xfrm>
            <a:off x="3244065" y="128427"/>
            <a:ext cx="6097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 cycle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22D95-16A2-A143-3CEE-E3EF8D20E013}"/>
              </a:ext>
            </a:extLst>
          </p:cNvPr>
          <p:cNvSpPr txBox="1"/>
          <p:nvPr/>
        </p:nvSpPr>
        <p:spPr>
          <a:xfrm>
            <a:off x="305656" y="955725"/>
            <a:ext cx="11591818" cy="328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philosophy.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iteration/construction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retirement</a:t>
            </a:r>
          </a:p>
        </p:txBody>
      </p:sp>
      <p:pic>
        <p:nvPicPr>
          <p:cNvPr id="20482" name="Picture 2" descr="Lightbox">
            <a:extLst>
              <a:ext uri="{FF2B5EF4-FFF2-40B4-BE49-F238E27FC236}">
                <a16:creationId xmlns:a16="http://schemas.microsoft.com/office/drawing/2014/main" id="{EF4885AC-6246-41C3-696C-DADCEAF55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533" y="4025479"/>
            <a:ext cx="9447944" cy="242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858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B9819-265F-8F25-4A7B-9C884FD8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68E84A-24CB-DF93-86D5-2E019D514A58}"/>
              </a:ext>
            </a:extLst>
          </p:cNvPr>
          <p:cNvSpPr txBox="1"/>
          <p:nvPr/>
        </p:nvSpPr>
        <p:spPr>
          <a:xfrm>
            <a:off x="1" y="0"/>
            <a:ext cx="12092682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Agile Software Development over traditional software development approaches</a:t>
            </a:r>
          </a:p>
          <a:p>
            <a:pPr algn="ctr" fontAlgn="base"/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customer satisfaction: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time-to-market: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risk: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team collaboration: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 to change: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quality software: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transparency: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productivity: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project control:</a:t>
            </a:r>
          </a:p>
        </p:txBody>
      </p:sp>
    </p:spTree>
    <p:extLst>
      <p:ext uri="{BB962C8B-B14F-4D97-AF65-F5344CB8AC3E}">
        <p14:creationId xmlns:p14="http://schemas.microsoft.com/office/powerpoint/2010/main" val="3364734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990B6-C1A1-D6B4-7948-9551BA094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754150-6088-C6CF-62BF-44B74E50EFD8}"/>
              </a:ext>
            </a:extLst>
          </p:cNvPr>
          <p:cNvSpPr txBox="1"/>
          <p:nvPr/>
        </p:nvSpPr>
        <p:spPr>
          <a:xfrm>
            <a:off x="0" y="12357"/>
            <a:ext cx="121920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Practices of Agile Software Development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is a framework for agile software development that involves iterative cycles called sprints, daily stand-up meetings, and a product backlog that is prioritized by the customer.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Kanban: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Kanban is a visual system that helps teams manage their work and improve their processes. It involves using a board with columns to represent different stages of the development process, and cards or sticky notes to represent work items.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 is the practice of frequently merging code changes into a shared repository, which helps to identify and resolve conflicts early in the development process.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Test-Driven Development: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Test-Driven Development (TDD) is a development practice that involves writing automated tests before writing the code. This helps to ensure that the code meets the requirements and reduces the likelihood of defects.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 Programming: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 programming involves two developers working together on the same code. This helps to improve code quality, share knowledge, and reduce the likelihood of defects.</a:t>
            </a:r>
          </a:p>
        </p:txBody>
      </p:sp>
    </p:spTree>
    <p:extLst>
      <p:ext uri="{BB962C8B-B14F-4D97-AF65-F5344CB8AC3E}">
        <p14:creationId xmlns:p14="http://schemas.microsoft.com/office/powerpoint/2010/main" val="799588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B93C6-3586-B2A2-3D99-41BCF8271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F8740E6-07E4-0BF8-534B-73DAD313D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5033"/>
            <a:ext cx="1210295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delivering high-quality software through frequent and continuous feedback, collaboration, and adaptation.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 emphasizes a close working relationship between the development team, the customer, and stakeholders, with an emphasis on rapid, iterative development and deployment.</a:t>
            </a:r>
          </a:p>
        </p:txBody>
      </p:sp>
      <p:pic>
        <p:nvPicPr>
          <p:cNvPr id="1025" name="Picture 48" descr="Extreme Programming (XP)">
            <a:extLst>
              <a:ext uri="{FF2B5EF4-FFF2-40B4-BE49-F238E27FC236}">
                <a16:creationId xmlns:a16="http://schemas.microsoft.com/office/drawing/2014/main" id="{4304AE08-2116-394A-A03C-842C6D4969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7"/>
          <a:stretch/>
        </p:blipFill>
        <p:spPr bwMode="auto">
          <a:xfrm>
            <a:off x="2576244" y="1600200"/>
            <a:ext cx="8078056" cy="465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6C654E-74FD-65F5-0E2E-AD958D6962BD}"/>
              </a:ext>
            </a:extLst>
          </p:cNvPr>
          <p:cNvSpPr txBox="1"/>
          <p:nvPr/>
        </p:nvSpPr>
        <p:spPr>
          <a:xfrm>
            <a:off x="1232899" y="0"/>
            <a:ext cx="9185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 PROGRAMMING (XP) </a:t>
            </a:r>
            <a:endParaRPr 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5347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47547-A461-E6E3-72E3-763C1EE1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248AF2-79CA-2E25-4C58-2783A7B12306}"/>
              </a:ext>
            </a:extLst>
          </p:cNvPr>
          <p:cNvSpPr txBox="1"/>
          <p:nvPr/>
        </p:nvSpPr>
        <p:spPr>
          <a:xfrm>
            <a:off x="1232899" y="0"/>
            <a:ext cx="91850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 Practices in Extreme Programming</a:t>
            </a:r>
            <a:r>
              <a:rPr lang="en-US" alt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8EC2F0-2EEC-7118-F128-B5C63F45B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3" name="Picture 47" descr="Good-Practices-in-Extreme-Programming">
            <a:extLst>
              <a:ext uri="{FF2B5EF4-FFF2-40B4-BE49-F238E27FC236}">
                <a16:creationId xmlns:a16="http://schemas.microsoft.com/office/drawing/2014/main" id="{3C9E0BFE-ECA2-341A-44E0-0D050C058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411" y="791110"/>
            <a:ext cx="7952198" cy="573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7863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A2192-9329-2183-4492-D51E94AAB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B5CB02-F410-0A6B-C709-E6816D56E9E0}"/>
              </a:ext>
            </a:extLst>
          </p:cNvPr>
          <p:cNvSpPr txBox="1"/>
          <p:nvPr/>
        </p:nvSpPr>
        <p:spPr>
          <a:xfrm>
            <a:off x="1335641" y="-35478"/>
            <a:ext cx="9185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Principles of Extreme Programming</a:t>
            </a:r>
            <a:r>
              <a:rPr lang="en-US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80916D-79C7-C642-A9D7-1D891B6C5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D2562-F172-05DE-2859-30D18AFFA361}"/>
              </a:ext>
            </a:extLst>
          </p:cNvPr>
          <p:cNvSpPr txBox="1"/>
          <p:nvPr/>
        </p:nvSpPr>
        <p:spPr>
          <a:xfrm>
            <a:off x="0" y="394692"/>
            <a:ext cx="1219199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Coding: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drawing diagrams (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modeling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that will be transformed into code, scripting a web-based system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Testing: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 XP model gives high importance to testing and considers it to be the primary factor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Listening: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 developers need to carefully listen to the customers if they have to develop good quality software.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Designing: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A good design results elimination of complex dependencies within a system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Feedback: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gain feedback to understand the exact customer needs.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Simplicity: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 main principle of the XP model is to develop a simple system that will work efficiently in the present time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Pair Programming: 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XP encourages </a:t>
            </a:r>
            <a:r>
              <a:rPr lang="en-GB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pair programming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where two developers work together at the same workstation.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Continuous Integration: 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XP, developers integrate their code into a shared repository several times a day.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Refactoring: 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XP encourages the process of restructuring existing code to make it more efficient and maintainable.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Collective Code Ownership: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 entire team is responsible for the codebase.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Planning Game: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 customer and the development team collaborate to prioritize and plan development tasks.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On-site Customer: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XP requires an on-site customer who works closely with the development team throughout the project. </a:t>
            </a:r>
          </a:p>
        </p:txBody>
      </p:sp>
    </p:spTree>
    <p:extLst>
      <p:ext uri="{BB962C8B-B14F-4D97-AF65-F5344CB8AC3E}">
        <p14:creationId xmlns:p14="http://schemas.microsoft.com/office/powerpoint/2010/main" val="32583246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9F06-90D8-2133-46FA-5793BE1B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A89CC8-A514-9670-AC33-904183EBF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53C255-E889-8B4F-5CC5-C4DDCAED7E24}"/>
              </a:ext>
            </a:extLst>
          </p:cNvPr>
          <p:cNvSpPr txBox="1"/>
          <p:nvPr/>
        </p:nvSpPr>
        <p:spPr>
          <a:xfrm>
            <a:off x="357027" y="1006883"/>
            <a:ext cx="11834973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Applications of Extreme Programming (XP)</a:t>
            </a:r>
          </a:p>
          <a:p>
            <a:pPr algn="ctr"/>
            <a:endParaRPr lang="en-GB" sz="20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Some of the projects that are suitable to develop using the XP model are given below: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Small projects: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Projects involving new technology or Research projects: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 development projects: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Collaborative projects: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Projects with tight deadlines: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Projects with rapidly changing requirements: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Projects where quality is a high priority: </a:t>
            </a:r>
          </a:p>
        </p:txBody>
      </p:sp>
    </p:spTree>
    <p:extLst>
      <p:ext uri="{BB962C8B-B14F-4D97-AF65-F5344CB8AC3E}">
        <p14:creationId xmlns:p14="http://schemas.microsoft.com/office/powerpoint/2010/main" val="3353233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D66E5-E5C8-F7F0-95C2-5662B6F03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B5F4E6-8787-B379-0334-B3A4B69CF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E22E1A3-9EFA-769B-8949-261410CAA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1" name="Picture 46" descr="Life Cycle of Extreme Programming (XP)">
            <a:extLst>
              <a:ext uri="{FF2B5EF4-FFF2-40B4-BE49-F238E27FC236}">
                <a16:creationId xmlns:a16="http://schemas.microsoft.com/office/drawing/2014/main" id="{274600DD-477E-D060-74C2-148391AAB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0"/>
          <a:stretch>
            <a:fillRect/>
          </a:stretch>
        </p:blipFill>
        <p:spPr bwMode="auto">
          <a:xfrm>
            <a:off x="565078" y="164399"/>
            <a:ext cx="10870058" cy="647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993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B0D33-A6A2-7FF2-4527-56FB8E47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717505-E69F-E6A9-E258-927CCBAED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7231E90-BBF8-14FA-ADF9-C06F899AD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52463B1-7DC4-7B5A-71AB-A2BF82794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145" name="Picture 45" descr="Values-of-Extreme-Programming-(XP)">
            <a:extLst>
              <a:ext uri="{FF2B5EF4-FFF2-40B4-BE49-F238E27FC236}">
                <a16:creationId xmlns:a16="http://schemas.microsoft.com/office/drawing/2014/main" id="{717A5D5A-C29A-BC09-FD7E-FE47EEE39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31" y="390432"/>
            <a:ext cx="8157680" cy="590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698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C32FB-F5D8-FAC9-E9B3-FD344CF4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4622F1-0B42-4154-CCC0-EC73DC879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3FFF132-24D8-822D-D55C-0E0A477D5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EE43B7-5EBF-E942-35C7-27A05149B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D40C6E-5E6C-ACE6-4276-0A67FAF8545B}"/>
              </a:ext>
            </a:extLst>
          </p:cNvPr>
          <p:cNvSpPr txBox="1"/>
          <p:nvPr/>
        </p:nvSpPr>
        <p:spPr>
          <a:xfrm>
            <a:off x="82192" y="476913"/>
            <a:ext cx="1210980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 of Extreme Programming (XP)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Slipped schedules: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Misunderstanding the business and/or domain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Cancelled projects: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Staff turnover: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Costs incurred in changes: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 changes: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Production and post-delivery defects: </a:t>
            </a:r>
          </a:p>
        </p:txBody>
      </p:sp>
    </p:spTree>
    <p:extLst>
      <p:ext uri="{BB962C8B-B14F-4D97-AF65-F5344CB8AC3E}">
        <p14:creationId xmlns:p14="http://schemas.microsoft.com/office/powerpoint/2010/main" val="19136978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CF1DD-AA7A-ACBE-DE2F-49EE44A0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FD455E-123C-EB23-6059-0654BA438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44C1B4A-9FC5-B0DC-86E3-FD31E8398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1ACF43E-C36D-90D7-441F-4E226C30A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7EF07A-998C-5BC2-17DD-D0CE964DED0B}"/>
              </a:ext>
            </a:extLst>
          </p:cNvPr>
          <p:cNvSpPr txBox="1"/>
          <p:nvPr/>
        </p:nvSpPr>
        <p:spPr>
          <a:xfrm>
            <a:off x="0" y="0"/>
            <a:ext cx="12027613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8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itchFamily="2" charset="2"/>
              <a:buChar char="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 is a management framework that teams use to self-organize tasks and work towards a common goal. </a:t>
            </a:r>
          </a:p>
          <a:p>
            <a:pPr marL="342900" lvl="0" indent="-342900" algn="just">
              <a:buFont typeface="Symbol" pitchFamily="2" charset="2"/>
              <a:buChar char="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a framework within which people can address complex adaptive problems while the productivity and creativity of delivering products are at the highest possible value.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529887-1211-8E5A-A3CA-F6E43313A1F1}"/>
              </a:ext>
            </a:extLst>
          </p:cNvPr>
          <p:cNvSpPr txBox="1"/>
          <p:nvPr/>
        </p:nvSpPr>
        <p:spPr>
          <a:xfrm>
            <a:off x="287676" y="1783641"/>
            <a:ext cx="61233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Silent features of Scrum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 is a light-weighted framework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 emphasizes self-organization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 is simple to understand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 framework helps the team to work together</a:t>
            </a:r>
          </a:p>
        </p:txBody>
      </p:sp>
    </p:spTree>
    <p:extLst>
      <p:ext uri="{BB962C8B-B14F-4D97-AF65-F5344CB8AC3E}">
        <p14:creationId xmlns:p14="http://schemas.microsoft.com/office/powerpoint/2010/main" val="24486060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276E0-1BF7-D62D-6F6A-92E3FA8BC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534DC7-954C-2020-7EFF-C394E44EA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238E156-C71E-0396-0F19-1B49C48F1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2B232E-7DA7-832D-CE8D-517C0753D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AE94FA-5C4D-3151-376C-E7383E457DE3}"/>
              </a:ext>
            </a:extLst>
          </p:cNvPr>
          <p:cNvSpPr txBox="1"/>
          <p:nvPr/>
        </p:nvSpPr>
        <p:spPr>
          <a:xfrm>
            <a:off x="0" y="0"/>
            <a:ext cx="120276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8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Lifecycle </a:t>
            </a:r>
            <a:r>
              <a:rPr lang="en-US" sz="2800" b="1" u="sng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of </a:t>
            </a:r>
            <a:r>
              <a:rPr lang="en-US" sz="28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217" name="Picture 50" descr="lifecycle of scrum">
            <a:extLst>
              <a:ext uri="{FF2B5EF4-FFF2-40B4-BE49-F238E27FC236}">
                <a16:creationId xmlns:a16="http://schemas.microsoft.com/office/drawing/2014/main" id="{3FE355C9-CF2D-0396-E86D-95D1C7698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896" y="791109"/>
            <a:ext cx="8547243" cy="535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4358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CBD6-A99C-7A96-C41C-77757924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11DFC0A-41B4-C702-7333-C95ADB8A3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B2BC3E0-E178-705D-EC23-70CD9A40E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65BF7B4-FC24-B341-161D-01B5FFF9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33898-82AD-1506-0F53-B90120C4E008}"/>
              </a:ext>
            </a:extLst>
          </p:cNvPr>
          <p:cNvSpPr txBox="1"/>
          <p:nvPr/>
        </p:nvSpPr>
        <p:spPr>
          <a:xfrm>
            <a:off x="0" y="0"/>
            <a:ext cx="120276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8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Lifecycle </a:t>
            </a:r>
            <a:r>
              <a:rPr lang="en-US" sz="2800" b="1" u="sng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of </a:t>
            </a:r>
            <a:r>
              <a:rPr lang="en-US" sz="28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4279E7-AA89-26A3-CF6A-4452875A5811}"/>
              </a:ext>
            </a:extLst>
          </p:cNvPr>
          <p:cNvSpPr txBox="1"/>
          <p:nvPr/>
        </p:nvSpPr>
        <p:spPr>
          <a:xfrm>
            <a:off x="-1" y="659227"/>
            <a:ext cx="119282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 of Scrum framework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 framework is fast moving and money efficient.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 framework works by dividing the large product into small sub-products. It’s like a divide and conquer strategy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Scrum customer satisfaction is very important.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 is adaptive in nature because it have short sprint.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 Scrum framework rely on constant feedback therefore the quality of product increases in less amount of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E654D-4ADC-B45C-92E6-FBB54DE394FA}"/>
              </a:ext>
            </a:extLst>
          </p:cNvPr>
          <p:cNvSpPr txBox="1"/>
          <p:nvPr/>
        </p:nvSpPr>
        <p:spPr>
          <a:xfrm>
            <a:off x="-1" y="2770769"/>
            <a:ext cx="121919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 of Scrum framework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 framework do not allow changes into their sprint.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Scrum framework is not fully described model. If you want to adopt it you need to fill in the framework with your own details like XP, DSDM, Kanban.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can be difficult for the Scrum to plan, structure and organize a project that lacks a clear definition.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daily Scrum meetings and frequent reviews require substantial resources.</a:t>
            </a:r>
          </a:p>
        </p:txBody>
      </p:sp>
    </p:spTree>
    <p:extLst>
      <p:ext uri="{BB962C8B-B14F-4D97-AF65-F5344CB8AC3E}">
        <p14:creationId xmlns:p14="http://schemas.microsoft.com/office/powerpoint/2010/main" val="18316621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658B2-1357-6092-D94A-4712A673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2DAFED-D597-3E93-45EB-BB51B0674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D59D5C1-7D8F-7F65-8E7E-A7F2527B8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1D2C975-FC02-77DA-0027-83036A723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C0102-1CCF-859D-858F-B9CE0B93CA1B}"/>
              </a:ext>
            </a:extLst>
          </p:cNvPr>
          <p:cNvSpPr txBox="1"/>
          <p:nvPr/>
        </p:nvSpPr>
        <p:spPr>
          <a:xfrm>
            <a:off x="0" y="0"/>
            <a:ext cx="12027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 Project Management and Scaling Agile Methods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738925-8892-55E1-500A-5A1F0E058F04}"/>
              </a:ext>
            </a:extLst>
          </p:cNvPr>
          <p:cNvSpPr txBox="1"/>
          <p:nvPr/>
        </p:nvSpPr>
        <p:spPr>
          <a:xfrm>
            <a:off x="44520" y="586120"/>
            <a:ext cx="1193857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+mj-lt"/>
              <a:buAutoNum type="arabicPeriod"/>
            </a:pPr>
            <a:r>
              <a:rPr lang="en-US" sz="20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 Project Management: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itchFamily="2" charset="2"/>
              <a:buChar char=""/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iterative and flexible approach to managing projects, initially popularized in software development but now used across various industries. </a:t>
            </a:r>
          </a:p>
          <a:p>
            <a:pPr marL="342900" lvl="0" indent="-342900" algn="just">
              <a:buFont typeface="Symbol" pitchFamily="2" charset="2"/>
              <a:buChar char=""/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 emphasizes delivering value quickly, adapting to changes, and continuously improving through collaboration among cross-functional teams.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D3FAC0-4F97-A6F6-8805-5192B18DB4D7}"/>
              </a:ext>
            </a:extLst>
          </p:cNvPr>
          <p:cNvSpPr txBox="1"/>
          <p:nvPr/>
        </p:nvSpPr>
        <p:spPr>
          <a:xfrm>
            <a:off x="44520" y="2423669"/>
            <a:ext cx="120276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Core Principles of Agile Project Management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Agile approach is built on principles outlined in the Agile Manifesto, which emphasizes: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Individuals and interactions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over processes and tools.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Working software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(or product) over comprehensive documentation.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 collaboration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over contract negotiation.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Responding to change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over following a fixed plan.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Benefits of Agile Project Management: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Faster time to market: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Improved customer satisfaction: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Increased flexibility: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Higher quality: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Enhanced team morale:  </a:t>
            </a:r>
          </a:p>
        </p:txBody>
      </p:sp>
    </p:spTree>
    <p:extLst>
      <p:ext uri="{BB962C8B-B14F-4D97-AF65-F5344CB8AC3E}">
        <p14:creationId xmlns:p14="http://schemas.microsoft.com/office/powerpoint/2010/main" val="15629050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CC925-DFE1-87A8-856E-16D1B14D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A80BCD-B04A-3490-11F0-83DC7B549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08C4D6F-0DAF-47D1-731A-BE8133CA8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03A0665-2F06-595F-8E37-1B3825E90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E094A0-822A-927C-11F7-AE7AFA347F84}"/>
              </a:ext>
            </a:extLst>
          </p:cNvPr>
          <p:cNvSpPr txBox="1"/>
          <p:nvPr/>
        </p:nvSpPr>
        <p:spPr>
          <a:xfrm>
            <a:off x="0" y="0"/>
            <a:ext cx="12027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 Project Management and Scaling Agile Methods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56362-4B0A-DB0F-E8C5-7DA8648CFBD5}"/>
              </a:ext>
            </a:extLst>
          </p:cNvPr>
          <p:cNvSpPr txBox="1"/>
          <p:nvPr/>
        </p:nvSpPr>
        <p:spPr>
          <a:xfrm>
            <a:off x="264559" y="791109"/>
            <a:ext cx="111397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Challenges of Agile: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Cultural shift: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Adopting Agile requires a change in mindset and organizational culture.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Skill development: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Teams need training and coaching to effectively implement Agile practices.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Measuring success: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Traditional metrics may not be suitable for Agile projects.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Managing dependencies: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In large-scale projects, coordinating dependencies can be complex.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5FFD3-76AC-0E2B-2DDA-863099825211}"/>
              </a:ext>
            </a:extLst>
          </p:cNvPr>
          <p:cNvSpPr txBox="1"/>
          <p:nvPr/>
        </p:nvSpPr>
        <p:spPr>
          <a:xfrm>
            <a:off x="-1" y="2597881"/>
            <a:ext cx="121919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Agile Methods:</a:t>
            </a:r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Agile becomes crucial when applying Agile practices across large organizations or projects involving multiple teams. </a:t>
            </a:r>
          </a:p>
          <a:p>
            <a:pPr marL="342900" lvl="0" indent="-342900" algn="just">
              <a:buFont typeface="Symbol" pitchFamily="2" charset="2"/>
              <a:buChar char="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Agile frameworks work best with small teams, but large enterprises need coordination and alignment. Some popular scaling frameworks include: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(Scaled Agile Framework): 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structured approach to scaling Agile across large organizations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(Large Scale Scrum): 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scales Scrum for multiple teams by using one Product Backlog across multiple teams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 Model: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Spotify, this model organizes people into "squads" (similar to Scrum teams) and groups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Disciplined Agile Delivery (DAD):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 provides a decision-making framework that helps teams choose between various Agile and Lean techniques based on the project needs.</a:t>
            </a:r>
          </a:p>
        </p:txBody>
      </p:sp>
    </p:spTree>
    <p:extLst>
      <p:ext uri="{BB962C8B-B14F-4D97-AF65-F5344CB8AC3E}">
        <p14:creationId xmlns:p14="http://schemas.microsoft.com/office/powerpoint/2010/main" val="40131918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A3206-F268-F833-9015-BF3A68E56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7751E6-67A2-0B4E-B8B5-013C80A40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65FEA5B-7C87-F521-309C-F3D6550B9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69319A-4E79-8F21-DCC3-0AF07A362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91A301-08CB-0A21-0F23-461CF4911FD7}"/>
              </a:ext>
            </a:extLst>
          </p:cNvPr>
          <p:cNvSpPr txBox="1"/>
          <p:nvPr/>
        </p:nvSpPr>
        <p:spPr>
          <a:xfrm>
            <a:off x="0" y="0"/>
            <a:ext cx="12027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Pros and Cons of Process Models and their Applicability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6F74A-AB76-AB4F-9BE1-273AC5926760}"/>
              </a:ext>
            </a:extLst>
          </p:cNvPr>
          <p:cNvSpPr txBox="1"/>
          <p:nvPr/>
        </p:nvSpPr>
        <p:spPr>
          <a:xfrm>
            <a:off x="244011" y="636998"/>
            <a:ext cx="1178360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Pros and Cons of Process Models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Structure and Organization: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 Management: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Quality Assurance: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Team Collaboration: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 Satisfaction:</a:t>
            </a:r>
          </a:p>
          <a:p>
            <a:pPr algn="just"/>
            <a:r>
              <a:rPr lang="en-GB" sz="1800" b="1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Rigidity: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Overemphasis on Documentation: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Limited Adaptability: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Complexity: 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7129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F9ED5-07E9-F492-A735-5D33D0B93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0A03ED-4BAB-2034-2C65-2CFDF4C99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77" y="791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3104B19-994E-3D78-C2A1-ABB7CC793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958" y="9246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008C5A1-660E-1C74-7BFE-E7ABA1332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61" y="791111"/>
            <a:ext cx="1673370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802920-FB02-426F-0902-7D4DE3D7072A}"/>
              </a:ext>
            </a:extLst>
          </p:cNvPr>
          <p:cNvSpPr txBox="1"/>
          <p:nvPr/>
        </p:nvSpPr>
        <p:spPr>
          <a:xfrm>
            <a:off x="0" y="0"/>
            <a:ext cx="12027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Applicability of Process Models 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B96D1-7D3D-6EE5-E2FD-FEE2630AC310}"/>
              </a:ext>
            </a:extLst>
          </p:cNvPr>
          <p:cNvSpPr txBox="1"/>
          <p:nvPr/>
        </p:nvSpPr>
        <p:spPr>
          <a:xfrm>
            <a:off x="-1" y="686323"/>
            <a:ext cx="120276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Applicability of Process Models: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/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choice of a process model depends on various factors, including:</a:t>
            </a:r>
          </a:p>
          <a:p>
            <a:pPr indent="457200" algn="just"/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 Size and Complexity: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Requirement Certainty: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 Involvement: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 Tolerance: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Team Experience and Maturity: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8653394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72171" y="2633268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End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AE325-8993-0CFD-D300-BA9B9334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6808669-DCD9-1606-2853-3B63C89BA58C}"/>
              </a:ext>
            </a:extLst>
          </p:cNvPr>
          <p:cNvSpPr txBox="1"/>
          <p:nvPr/>
        </p:nvSpPr>
        <p:spPr>
          <a:xfrm>
            <a:off x="918751" y="2721114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54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2519</Words>
  <Application>Microsoft Macintosh PowerPoint</Application>
  <PresentationFormat>Widescreen</PresentationFormat>
  <Paragraphs>340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.AppleSystemUIFont Regular</vt:lpstr>
      <vt:lpstr>Arial</vt:lpstr>
      <vt:lpstr>Calibri</vt:lpstr>
      <vt:lpstr>Calibri Light</vt:lpstr>
      <vt:lpstr>Symbol</vt:lpstr>
      <vt:lpstr>Times New Roman</vt:lpstr>
      <vt:lpstr>Times New Roman Bold</vt:lpstr>
      <vt:lpstr>Times New Roman Regular</vt:lpstr>
      <vt:lpstr>Wingdings</vt:lpstr>
      <vt:lpstr>Office Theme</vt:lpstr>
      <vt:lpstr> Chapter 2 SOFTWARE PROCESS MODELS AND AGILITY</vt:lpstr>
      <vt:lpstr>OUTLINES</vt:lpstr>
      <vt:lpstr>Software Development Life Cycle[SDLC]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Development Models</vt:lpstr>
      <vt:lpstr>Software Development Models</vt:lpstr>
      <vt:lpstr>PowerPoint Presentation</vt:lpstr>
      <vt:lpstr>Software Development Models</vt:lpstr>
      <vt:lpstr>PowerPoint Presentation</vt:lpstr>
      <vt:lpstr>Software Development Models</vt:lpstr>
      <vt:lpstr>PowerPoint Presentation</vt:lpstr>
      <vt:lpstr>Software Development Models</vt:lpstr>
      <vt:lpstr>PowerPoint Presentation</vt:lpstr>
      <vt:lpstr>Software Development Models</vt:lpstr>
      <vt:lpstr>PowerPoint Presentation</vt:lpstr>
      <vt:lpstr>Software Development Models</vt:lpstr>
      <vt:lpstr>PowerPoint Presentation</vt:lpstr>
      <vt:lpstr>Software Development Models</vt:lpstr>
      <vt:lpstr>PowerPoint Presentation</vt:lpstr>
      <vt:lpstr>Software Development Models</vt:lpstr>
      <vt:lpstr>PowerPoint Presentation</vt:lpstr>
      <vt:lpstr>Software Development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kushal pokharel</cp:lastModifiedBy>
  <cp:revision>145</cp:revision>
  <dcterms:created xsi:type="dcterms:W3CDTF">2024-09-23T14:11:53Z</dcterms:created>
  <dcterms:modified xsi:type="dcterms:W3CDTF">2024-11-13T01:48:23Z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