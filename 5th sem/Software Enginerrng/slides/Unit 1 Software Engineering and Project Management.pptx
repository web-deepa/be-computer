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6" r:id="rId3"/>
    <p:sldId id="257" r:id="rId4"/>
    <p:sldId id="283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94" r:id="rId14"/>
    <p:sldId id="395" r:id="rId15"/>
    <p:sldId id="323" r:id="rId16"/>
    <p:sldId id="324" r:id="rId17"/>
    <p:sldId id="356" r:id="rId18"/>
    <p:sldId id="389" r:id="rId19"/>
    <p:sldId id="357" r:id="rId20"/>
    <p:sldId id="390" r:id="rId21"/>
    <p:sldId id="396" r:id="rId22"/>
    <p:sldId id="391" r:id="rId23"/>
    <p:sldId id="400" r:id="rId24"/>
    <p:sldId id="402" r:id="rId25"/>
    <p:sldId id="401" r:id="rId26"/>
    <p:sldId id="392" r:id="rId27"/>
    <p:sldId id="397" r:id="rId28"/>
    <p:sldId id="399" r:id="rId29"/>
    <p:sldId id="393" r:id="rId30"/>
    <p:sldId id="398" r:id="rId31"/>
    <p:sldId id="403" r:id="rId32"/>
    <p:sldId id="285" r:id="rId33"/>
    <p:sldId id="286" r:id="rId34"/>
    <p:sldId id="287" r:id="rId35"/>
    <p:sldId id="288" r:id="rId36"/>
    <p:sldId id="306" r:id="rId37"/>
    <p:sldId id="307" r:id="rId38"/>
    <p:sldId id="415" r:id="rId39"/>
    <p:sldId id="405" r:id="rId40"/>
    <p:sldId id="406" r:id="rId41"/>
    <p:sldId id="407" r:id="rId42"/>
    <p:sldId id="413" r:id="rId43"/>
    <p:sldId id="263" r:id="rId44"/>
    <p:sldId id="414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850"/>
    <p:restoredTop sz="94291" autoAdjust="0"/>
  </p:normalViewPr>
  <p:slideViewPr>
    <p:cSldViewPr snapToGrid="0">
      <p:cViewPr varScale="1">
        <p:scale>
          <a:sx n="46" d="100"/>
          <a:sy n="46" d="100"/>
        </p:scale>
        <p:origin x="200" y="1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0B8D6-C4BD-46A4-9A82-08D4E8E6001C}" type="datetimeFigureOut">
              <a:rPr lang="en-IN" smtClean="0"/>
              <a:t>02/12/24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82575"/>
            <a:ext cx="12084050" cy="2010410"/>
          </a:xfrm>
        </p:spPr>
        <p:txBody>
          <a:bodyPr>
            <a:noAutofit/>
          </a:bodyPr>
          <a:lstStyle/>
          <a:p>
            <a:pPr marL="228600">
              <a:lnSpc>
                <a:spcPct val="107000"/>
              </a:lnSpc>
            </a:pP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400" b="1">
                <a:latin typeface="Times New Roman" panose="02020603050405020304" pitchFamily="18" charset="0"/>
                <a:sym typeface="+mn-ea"/>
              </a:rPr>
              <a:t>Chapter 1 </a:t>
            </a:r>
            <a:br>
              <a:rPr lang="en-US" sz="4400" b="1">
                <a:latin typeface="Times New Roman" panose="02020603050405020304" pitchFamily="18" charset="0"/>
                <a:sym typeface="+mn-ea"/>
              </a:rPr>
            </a:br>
            <a:r>
              <a:rPr lang="en-US" sz="4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sym typeface="+mn-ea"/>
              </a:rPr>
              <a:t>Software Engineering and Project Management</a:t>
            </a:r>
            <a:r>
              <a:rPr lang="en-US" sz="4400" b="1">
                <a:latin typeface="Times New Roman" panose="02020603050405020304" pitchFamily="18" charset="0"/>
                <a:sym typeface="+mn-ea"/>
              </a:rPr>
              <a:t>                           			                  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0074" y="3256721"/>
            <a:ext cx="9144000" cy="2934325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GB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</a:t>
            </a:r>
          </a:p>
          <a:p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</a:p>
          <a:p>
            <a:r>
              <a:rPr 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altLang="en-GB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Engineering</a:t>
            </a:r>
          </a:p>
          <a:p>
            <a:r>
              <a:rPr lang="en-US" altLang="en-GB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NAST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0911840" y="2223770"/>
            <a:ext cx="951865" cy="4203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000" b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(7 Hrs)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7943"/>
            <a:ext cx="9144000" cy="96127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 Box 99"/>
          <p:cNvSpPr txBox="1"/>
          <p:nvPr/>
        </p:nvSpPr>
        <p:spPr>
          <a:xfrm>
            <a:off x="0" y="1199515"/>
            <a:ext cx="11779250" cy="3692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/>
            <a:r>
              <a:rPr lang="en-US" b="0" dirty="0">
                <a:latin typeface="Times New Roman" panose="02020603050405020304" pitchFamily="18" charset="0"/>
              </a:rPr>
              <a:t>1.1 Nature and Characteristics of Software</a:t>
            </a:r>
          </a:p>
          <a:p>
            <a:pPr marL="0" indent="0" algn="l"/>
            <a:r>
              <a:rPr lang="en-US" b="0" dirty="0">
                <a:latin typeface="Times New Roman" panose="02020603050405020304" pitchFamily="18" charset="0"/>
              </a:rPr>
              <a:t>1.2 Software Engineering versus System Engineering</a:t>
            </a:r>
          </a:p>
          <a:p>
            <a:pPr marL="0" indent="0" algn="l"/>
            <a:r>
              <a:rPr lang="en-US" b="0" dirty="0">
                <a:latin typeface="Times New Roman" panose="02020603050405020304" pitchFamily="18" charset="0"/>
              </a:rPr>
              <a:t>1.3 Software Crisis and Myths</a:t>
            </a:r>
          </a:p>
          <a:p>
            <a:pPr marL="0" indent="0" algn="l"/>
            <a:r>
              <a:rPr lang="en-US" b="0" dirty="0">
                <a:latin typeface="Times New Roman" panose="02020603050405020304" pitchFamily="18" charset="0"/>
              </a:rPr>
              <a:t>1.4 Four Ps of Software Project Management</a:t>
            </a:r>
          </a:p>
          <a:p>
            <a:pPr marL="0" indent="0" algn="l"/>
            <a:r>
              <a:rPr lang="en-US" b="0" dirty="0">
                <a:latin typeface="Times New Roman" panose="02020603050405020304" pitchFamily="18" charset="0"/>
              </a:rPr>
              <a:t>1.5 Process and Project Metrics</a:t>
            </a:r>
          </a:p>
          <a:p>
            <a:pPr marL="0" indent="0" algn="l"/>
            <a:r>
              <a:rPr lang="en-US" b="0" dirty="0">
                <a:latin typeface="Times New Roman" panose="02020603050405020304" pitchFamily="18" charset="0"/>
              </a:rPr>
              <a:t>1.6 Measurement of Software: Metrics, Measure, Indicator		</a:t>
            </a:r>
          </a:p>
          <a:p>
            <a:pPr marL="0" indent="0" algn="l"/>
            <a:r>
              <a:rPr lang="en-US" b="0" dirty="0">
                <a:latin typeface="Times New Roman" panose="02020603050405020304" pitchFamily="18" charset="0"/>
              </a:rPr>
              <a:t>1.7 Project Estimation, Empirical Estimation Models </a:t>
            </a:r>
          </a:p>
          <a:p>
            <a:pPr marL="0" indent="0" algn="l"/>
            <a:r>
              <a:rPr lang="en-US" b="0" dirty="0">
                <a:latin typeface="Times New Roman" panose="02020603050405020304" pitchFamily="18" charset="0"/>
              </a:rPr>
              <a:t>1.8 Software Risks, Assumption, Issues, Dependency</a:t>
            </a:r>
          </a:p>
          <a:p>
            <a:pPr marL="0" indent="0" algn="l"/>
            <a:r>
              <a:rPr lang="en-US" b="0" dirty="0">
                <a:latin typeface="Times New Roman" panose="02020603050405020304" pitchFamily="18" charset="0"/>
              </a:rPr>
              <a:t>       1.8.1 Identification</a:t>
            </a:r>
          </a:p>
          <a:p>
            <a:pPr marL="0" indent="0" algn="l"/>
            <a:r>
              <a:rPr lang="en-US" b="0" dirty="0">
                <a:latin typeface="Times New Roman" panose="02020603050405020304" pitchFamily="18" charset="0"/>
              </a:rPr>
              <a:t>       1.8.2 Mitigation</a:t>
            </a:r>
          </a:p>
          <a:p>
            <a:pPr marL="0" indent="0" algn="l"/>
            <a:r>
              <a:rPr lang="en-US" b="0" dirty="0">
                <a:latin typeface="Times New Roman" panose="02020603050405020304" pitchFamily="18" charset="0"/>
              </a:rPr>
              <a:t>       1.8.3 Monitoring</a:t>
            </a:r>
          </a:p>
          <a:p>
            <a:pPr marL="0" indent="0" algn="l"/>
            <a:r>
              <a:rPr lang="en-US" b="0" dirty="0">
                <a:latin typeface="Times New Roman" panose="02020603050405020304" pitchFamily="18" charset="0"/>
              </a:rPr>
              <a:t>       1.8.4 Management</a:t>
            </a:r>
          </a:p>
          <a:p>
            <a:pPr marL="0" indent="0" algn="l"/>
            <a:r>
              <a:rPr lang="en-US" b="0" dirty="0">
                <a:latin typeface="Times New Roman" panose="02020603050405020304" pitchFamily="18" charset="0"/>
              </a:rPr>
              <a:t>1.9 Software Engineering Ethics and Professional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958215"/>
            <a:ext cx="121926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Collection of computer programs, procedures, rules, and data is software. 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Process of designing, developing, testing, and maintaining software is software Engineering.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238125"/>
            <a:ext cx="12192000" cy="72009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US" sz="4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Nature and Characteristics of Software</a:t>
            </a:r>
            <a:endParaRPr lang="en-US" sz="4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102485" y="1887220"/>
            <a:ext cx="74129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Components of Software Characteristics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260" y="2554605"/>
            <a:ext cx="6772275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2389505" y="0"/>
            <a:ext cx="7412990" cy="58356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Components of Software Characteristics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t="9668" b="10010"/>
          <a:stretch>
            <a:fillRect/>
          </a:stretch>
        </p:blipFill>
        <p:spPr>
          <a:xfrm>
            <a:off x="3115310" y="857250"/>
            <a:ext cx="5438775" cy="25323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23122" b="20705"/>
          <a:stretch>
            <a:fillRect/>
          </a:stretch>
        </p:blipFill>
        <p:spPr>
          <a:xfrm>
            <a:off x="3049905" y="3912235"/>
            <a:ext cx="5504815" cy="17710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2389505" y="0"/>
            <a:ext cx="7412990" cy="58356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Components of Software Characteristics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l="1832" t="24149" r="4041" b="22075"/>
          <a:stretch>
            <a:fillRect/>
          </a:stretch>
        </p:blipFill>
        <p:spPr>
          <a:xfrm>
            <a:off x="3300095" y="970915"/>
            <a:ext cx="5058410" cy="16954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l="1004" t="24491" r="3806" b="21732"/>
          <a:stretch>
            <a:fillRect/>
          </a:stretch>
        </p:blipFill>
        <p:spPr>
          <a:xfrm>
            <a:off x="3300095" y="3363595"/>
            <a:ext cx="5177155" cy="1695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2389505" y="0"/>
            <a:ext cx="7412990" cy="58356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Components of Software Characteristics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l="1203" t="23102" r="3993" b="20705"/>
          <a:stretch>
            <a:fillRect/>
          </a:stretch>
        </p:blipFill>
        <p:spPr>
          <a:xfrm>
            <a:off x="3365500" y="1236980"/>
            <a:ext cx="5156200" cy="17716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1401" t="24149" r="4005" b="21732"/>
          <a:stretch>
            <a:fillRect/>
          </a:stretch>
        </p:blipFill>
        <p:spPr>
          <a:xfrm>
            <a:off x="3376930" y="4100195"/>
            <a:ext cx="5144770" cy="1706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645795" y="0"/>
            <a:ext cx="11207115" cy="58356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Software Engineering versus System Engineering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191101"/>
              </p:ext>
            </p:extLst>
          </p:nvPr>
        </p:nvGraphicFramePr>
        <p:xfrm>
          <a:off x="92764" y="943728"/>
          <a:ext cx="12006471" cy="4756625"/>
        </p:xfrm>
        <a:graphic>
          <a:graphicData uri="http://schemas.openxmlformats.org/drawingml/2006/table">
            <a:tbl>
              <a:tblPr/>
              <a:tblGrid>
                <a:gridCol w="1223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1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9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marL="23023" marR="23023" marT="11511" marB="11511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Engineering</a:t>
                      </a:r>
                    </a:p>
                  </a:txBody>
                  <a:tcPr marL="23023" marR="23023" marT="11511" marB="11511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Engineering</a:t>
                      </a:r>
                    </a:p>
                  </a:txBody>
                  <a:tcPr marL="23023" marR="23023" marT="11511" marB="11511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248">
                <a:tc>
                  <a:txBody>
                    <a:bodyPr/>
                    <a:lstStyle/>
                    <a:p>
                      <a:pPr fontAlgn="base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focuses on software development and processes.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designing and managing complex systems.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86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Narrower scope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Broader scope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082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Develops software applications or systems to meet specific requirements.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multiple components (hardware, software, processes) to achieve system goals.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02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Emphasis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Emphasizes software design, coding, testing, and maintenance.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Emphasizes system architecture, integration, and optimization.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118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Lifecycle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Follows SDLC methodologies.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Involves system lifecycle management from conception to retirement.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291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Disciplines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Incorporates disciplines like requirements engineering, software design, and quality assurance.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disciplines such as system architecture, system integration, and system testing.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782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Skills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strong programming skills, knowledge of algorithms, and software design patterns.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systems thinking, problem-solving skills, and understanding of interdisciplinary concepts.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3099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  <a:r>
                        <a:rPr lang="en-US" alt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en-GB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development, web development, and mobile app development.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 </a:t>
                      </a:r>
                      <a:r>
                        <a:rPr lang="en-US" alt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aerospace systems, transportation systems, and healthcare systems.</a:t>
                      </a:r>
                    </a:p>
                  </a:txBody>
                  <a:tcPr marL="23023" marR="23023" marT="11511" marB="11511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645795" y="0"/>
            <a:ext cx="11207115" cy="58356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Software Crisis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0" y="583565"/>
            <a:ext cx="121926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“software crisis” refers to the numerous challenges and difficulties faced by the software industry during the 1960s and 1970s.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Difficulty of writing useful and efficient computer programs in the required time.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0" y="1570990"/>
            <a:ext cx="71247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645795" y="0"/>
            <a:ext cx="11207115" cy="58356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Factors Contributing to Software Crisis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3655" y="454660"/>
            <a:ext cx="1212405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Increasing Complexity: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Lack of Formal Methods: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Changing Requirements: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Limited Reusability: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Poor Quality Assurance: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Lack of Collaboration: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Rapid Technological Changes: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Inadequate Project Management: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Absence of Standards: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3655" y="3205480"/>
            <a:ext cx="12157710" cy="279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Solution of Software Crisis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Structured Methodologies: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Formal Software Development: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Requirements Engineering: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Quality Assurance and Testing: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Code Reusability: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Improved Project Management: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Standardization and Best Practices: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645795" y="0"/>
            <a:ext cx="11207115" cy="58356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Software Myths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0" y="583565"/>
            <a:ext cx="105397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Superstitions (false beliefs or interpretations) or misleading attitudes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995" y="1073150"/>
            <a:ext cx="4332605" cy="258064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0" y="4017645"/>
            <a:ext cx="1219263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(i) Management Myths:</a:t>
            </a: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Myth 1:</a:t>
            </a: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We have all the standards and procedures available for software development.</a:t>
            </a: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Myth 2:</a:t>
            </a: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addition of the latest hardware programs will improve the software development.</a:t>
            </a: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Myth 3:</a:t>
            </a: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With the addition of more people and program planners to Software development can help meet project deadlines (If lagging behind).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0" y="321945"/>
            <a:ext cx="12192635" cy="2122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>
                <a:latin typeface="Times New Roman Bold" panose="02020603050405020304" charset="0"/>
                <a:cs typeface="Times New Roman Bold" panose="02020603050405020304" charset="0"/>
              </a:rPr>
              <a:t>(ii)Customer Myths:</a:t>
            </a:r>
          </a:p>
          <a:p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Myth 1:</a:t>
            </a: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A general statement of intent is enough to start writing plans and details of objectives can be done over time.</a:t>
            </a:r>
          </a:p>
          <a:p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Myth 2:</a:t>
            </a: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Software requirements continually change, but change can be easily accommodated because software is flexible 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-635" y="2836545"/>
            <a:ext cx="12192635" cy="3230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>
                <a:latin typeface="Times New Roman Bold" panose="02020603050405020304" charset="0"/>
                <a:cs typeface="Times New Roman Bold" panose="02020603050405020304" charset="0"/>
              </a:rPr>
              <a:t>(iii)Practitioner’s Myths: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Myths 1:</a:t>
            </a: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They believe that their work has been completed with the writing of the plan.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Myths 2:</a:t>
            </a: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There is no other way to achieve system quality, until it is “running”.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Myth 3:</a:t>
            </a: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An operating system is the only product that can be successfully exported project.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B2A00-682C-0937-6AFB-7F880A86B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80200F-7B19-D55E-4AB6-49D813DC8EB3}"/>
              </a:ext>
            </a:extLst>
          </p:cNvPr>
          <p:cNvSpPr txBox="1"/>
          <p:nvPr/>
        </p:nvSpPr>
        <p:spPr>
          <a:xfrm>
            <a:off x="2470067" y="23751"/>
            <a:ext cx="8395855" cy="53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85090" lvl="2" algn="just">
              <a:lnSpc>
                <a:spcPct val="110000"/>
              </a:lnSpc>
              <a:spcBef>
                <a:spcPts val="0"/>
              </a:spcBef>
              <a:spcAft>
                <a:spcPts val="25"/>
              </a:spcAft>
            </a:pPr>
            <a:r>
              <a:rPr lang="en-GB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DISADVANTAGES OF SOFTWARE MYTHS</a:t>
            </a:r>
            <a:endParaRPr lang="en-GB" sz="28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79DC0A-D682-8B92-D33E-B3997E15CEDC}"/>
              </a:ext>
            </a:extLst>
          </p:cNvPr>
          <p:cNvSpPr txBox="1"/>
          <p:nvPr/>
        </p:nvSpPr>
        <p:spPr>
          <a:xfrm>
            <a:off x="234538" y="622078"/>
            <a:ext cx="11545784" cy="3122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85090" lvl="0" indent="-342900" algn="just">
              <a:lnSpc>
                <a:spcPct val="110000"/>
              </a:lnSpc>
              <a:spcBef>
                <a:spcPts val="0"/>
              </a:spcBef>
              <a:spcAft>
                <a:spcPts val="25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Unrealistic Expectations: </a:t>
            </a:r>
          </a:p>
          <a:p>
            <a:pPr marL="342900" marR="85090" lvl="0" indent="-342900" algn="just">
              <a:lnSpc>
                <a:spcPct val="110000"/>
              </a:lnSpc>
              <a:spcBef>
                <a:spcPts val="0"/>
              </a:spcBef>
              <a:spcAft>
                <a:spcPts val="25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Project Delays: </a:t>
            </a:r>
          </a:p>
          <a:p>
            <a:pPr marL="342900" marR="85090" lvl="0" indent="-342900" algn="just">
              <a:lnSpc>
                <a:spcPct val="110000"/>
              </a:lnSpc>
              <a:spcBef>
                <a:spcPts val="0"/>
              </a:spcBef>
              <a:spcAft>
                <a:spcPts val="25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Poor Quality Software: </a:t>
            </a:r>
          </a:p>
          <a:p>
            <a:pPr marL="342900" marR="85090" lvl="0" indent="-342900" algn="just">
              <a:lnSpc>
                <a:spcPct val="110000"/>
              </a:lnSpc>
              <a:spcBef>
                <a:spcPts val="0"/>
              </a:spcBef>
              <a:spcAft>
                <a:spcPts val="25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Scope Creep: </a:t>
            </a:r>
          </a:p>
          <a:p>
            <a:pPr marL="342900" marR="85090" lvl="0" indent="-342900" algn="just">
              <a:lnSpc>
                <a:spcPct val="110000"/>
              </a:lnSpc>
              <a:spcBef>
                <a:spcPts val="0"/>
              </a:spcBef>
              <a:spcAft>
                <a:spcPts val="25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Ineffective Communication:</a:t>
            </a:r>
          </a:p>
          <a:p>
            <a:pPr marL="342900" marR="85090" lvl="0" indent="-342900" algn="just">
              <a:lnSpc>
                <a:spcPct val="110000"/>
              </a:lnSpc>
              <a:spcBef>
                <a:spcPts val="0"/>
              </a:spcBef>
              <a:spcAft>
                <a:spcPts val="25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Wasted Resources: </a:t>
            </a:r>
          </a:p>
          <a:p>
            <a:pPr marL="342900" marR="85090" lvl="0" indent="-342900" algn="just">
              <a:lnSpc>
                <a:spcPct val="110000"/>
              </a:lnSpc>
              <a:spcBef>
                <a:spcPts val="0"/>
              </a:spcBef>
              <a:spcAft>
                <a:spcPts val="25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Customer Dissatisfaction: </a:t>
            </a:r>
          </a:p>
          <a:p>
            <a:pPr marL="342900" marR="85090" lvl="0" indent="-342900" algn="just">
              <a:lnSpc>
                <a:spcPct val="110000"/>
              </a:lnSpc>
              <a:spcBef>
                <a:spcPts val="0"/>
              </a:spcBef>
              <a:spcAft>
                <a:spcPts val="25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Reduced Productivity: </a:t>
            </a:r>
          </a:p>
          <a:p>
            <a:pPr marL="342900" marR="85090" lvl="0" indent="-342900" algn="just">
              <a:lnSpc>
                <a:spcPct val="110000"/>
              </a:lnSpc>
              <a:spcBef>
                <a:spcPts val="0"/>
              </a:spcBef>
              <a:spcAft>
                <a:spcPts val="25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Increased Risk of Project Failure: </a:t>
            </a:r>
          </a:p>
          <a:p>
            <a:pPr marL="342900" marR="85090" lvl="0" indent="-342900" algn="just">
              <a:lnSpc>
                <a:spcPct val="110000"/>
              </a:lnSpc>
              <a:spcBef>
                <a:spcPts val="0"/>
              </a:spcBef>
              <a:spcAft>
                <a:spcPts val="25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Decreased Competitiveness:</a:t>
            </a:r>
            <a:r>
              <a:rPr lang="en-GB" dirty="0">
                <a:effectLst/>
              </a:rPr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776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C04AB-3E80-B45D-C4D4-495E6EF2E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1C522B-8983-3721-9813-749164B6FD25}"/>
              </a:ext>
            </a:extLst>
          </p:cNvPr>
          <p:cNvSpPr txBox="1"/>
          <p:nvPr/>
        </p:nvSpPr>
        <p:spPr>
          <a:xfrm>
            <a:off x="2206830" y="0"/>
            <a:ext cx="8395855" cy="53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85090" lvl="2" algn="just">
              <a:lnSpc>
                <a:spcPct val="110000"/>
              </a:lnSpc>
              <a:spcBef>
                <a:spcPts val="0"/>
              </a:spcBef>
              <a:spcAft>
                <a:spcPts val="25"/>
              </a:spcAft>
            </a:pPr>
            <a:r>
              <a:rPr lang="en-GB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STEPS TO AVOID SOFTWARE MYTHS</a:t>
            </a:r>
            <a:endParaRPr lang="en-GB" sz="28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504201-8F71-761B-7372-AA66460F1007}"/>
              </a:ext>
            </a:extLst>
          </p:cNvPr>
          <p:cNvSpPr txBox="1"/>
          <p:nvPr/>
        </p:nvSpPr>
        <p:spPr>
          <a:xfrm>
            <a:off x="0" y="475325"/>
            <a:ext cx="12192000" cy="1903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85090" lvl="0" indent="-342900" algn="just">
              <a:lnSpc>
                <a:spcPct val="110000"/>
              </a:lnSpc>
              <a:spcBef>
                <a:spcPts val="0"/>
              </a:spcBef>
              <a:spcAft>
                <a:spcPts val="25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Stay Informed: </a:t>
            </a:r>
          </a:p>
          <a:p>
            <a:pPr marL="342900" marR="85090" lvl="0" indent="-342900" algn="just">
              <a:lnSpc>
                <a:spcPct val="110000"/>
              </a:lnSpc>
              <a:spcBef>
                <a:spcPts val="0"/>
              </a:spcBef>
              <a:spcAft>
                <a:spcPts val="25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Continuous Learning:</a:t>
            </a:r>
          </a:p>
          <a:p>
            <a:pPr marL="342900" marR="85090" lvl="0" indent="-342900" algn="just">
              <a:lnSpc>
                <a:spcPct val="110000"/>
              </a:lnSpc>
              <a:spcBef>
                <a:spcPts val="0"/>
              </a:spcBef>
              <a:spcAft>
                <a:spcPts val="25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Data-Driven Decision-Making: </a:t>
            </a:r>
          </a:p>
          <a:p>
            <a:pPr marL="342900" marR="85090" lvl="0" indent="-342900" algn="just">
              <a:lnSpc>
                <a:spcPct val="110000"/>
              </a:lnSpc>
              <a:spcBef>
                <a:spcPts val="0"/>
              </a:spcBef>
              <a:spcAft>
                <a:spcPts val="25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Testing and Validation: </a:t>
            </a:r>
          </a:p>
          <a:p>
            <a:pPr marL="342900" marR="85090" lvl="0" indent="-342900" algn="just">
              <a:lnSpc>
                <a:spcPct val="110000"/>
              </a:lnSpc>
              <a:spcBef>
                <a:spcPts val="0"/>
              </a:spcBef>
              <a:spcAft>
                <a:spcPts val="25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Educate Team Members: </a:t>
            </a:r>
            <a:endParaRPr lang="en-GB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85090" lvl="0" indent="-342900" algn="just">
              <a:lnSpc>
                <a:spcPct val="110000"/>
              </a:lnSpc>
              <a:spcBef>
                <a:spcPts val="0"/>
              </a:spcBef>
              <a:spcAft>
                <a:spcPts val="25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Risk Assessment: </a:t>
            </a:r>
            <a:r>
              <a:rPr lang="en-GB" dirty="0">
                <a:effectLst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70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628265" y="0"/>
            <a:ext cx="7014210" cy="95313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Software Project Management</a:t>
            </a:r>
          </a:p>
          <a:p>
            <a:pPr algn="ctr"/>
            <a:endParaRPr lang="en-US" sz="2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-635" y="584835"/>
            <a:ext cx="121926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Software Project Management (SPM) is a proper way of planning and leading software projects.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300" y="2730500"/>
            <a:ext cx="2057400" cy="178117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061970" y="2017395"/>
            <a:ext cx="606679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Need of Software Project Management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85520" y="0"/>
            <a:ext cx="9935845" cy="95313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Four Ps of Software Project Management/Planning</a:t>
            </a:r>
          </a:p>
          <a:p>
            <a:pPr algn="ctr"/>
            <a:endParaRPr lang="en-US" sz="2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t="5769"/>
          <a:stretch>
            <a:fillRect/>
          </a:stretch>
        </p:blipFill>
        <p:spPr>
          <a:xfrm>
            <a:off x="2936240" y="787400"/>
            <a:ext cx="6318885" cy="56788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85520" y="0"/>
            <a:ext cx="9935845" cy="64516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Software Metrics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35" y="645160"/>
            <a:ext cx="1219136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Quantitative measurements used to assess the efficiency, effectiveness, and quality of software development processes.</a:t>
            </a:r>
          </a:p>
          <a:p>
            <a:pPr indent="0">
              <a:buFont typeface="Wingdings" panose="05000000000000000000" charset="0"/>
              <a:buNone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4 functions related to software metrics: 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Planning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Organizing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Controlling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Improving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l="1465" t="11740" r="2778" b="6984"/>
          <a:stretch>
            <a:fillRect/>
          </a:stretch>
        </p:blipFill>
        <p:spPr>
          <a:xfrm>
            <a:off x="1964690" y="2723515"/>
            <a:ext cx="8393430" cy="33286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85520" y="0"/>
            <a:ext cx="9935845" cy="64516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Software Metrics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0" y="571500"/>
            <a:ext cx="1201293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Advantages of Software Metrics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Reduction in cost or budget.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helps to identify the particular area for improvising.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helps to increase the product quality.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Managing the workloads and teams.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Reduction in overall time to produce the product,.</a:t>
            </a:r>
          </a:p>
          <a:p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Disadvantages of Software Metrics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is expensive and difficult to implement the metrics in some cases.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Performance of the entire team or an individual from the team can’t be determined.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Sometimes the quality of the product is not met with the expectation.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leads to measure the unwanted data which is wastage of time.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Measuring the incorrect data leads to make wrong decision making.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0" y="4264025"/>
            <a:ext cx="12192000" cy="2122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4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Characteristics of software Metrics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Quantitative: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Understandable: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Applicability: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Repeatable: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Economical: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Language Independent: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85520" y="0"/>
            <a:ext cx="9935845" cy="64516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Process Metrics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0" y="645160"/>
            <a:ext cx="121926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Process Metrics are the measures of the development process that create a body of software.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length of time that the process of software creation takes.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l="2494" t="10480" r="2632" b="9932"/>
          <a:stretch>
            <a:fillRect/>
          </a:stretch>
        </p:blipFill>
        <p:spPr>
          <a:xfrm>
            <a:off x="2285365" y="1462405"/>
            <a:ext cx="7849870" cy="313944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0" y="5046345"/>
            <a:ext cx="1211897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Static Process Metrics: 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directly related to the defined process. For 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example, 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number of types of roles, types of artefacts, etc.</a:t>
            </a: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Dynamic Process Metrics: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 related to the properties of process performance. For 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example,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 how many activities are performed,    </a:t>
            </a: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                                              how many artifacts are created, etc.)</a:t>
            </a: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Process Evolution Metrics: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 related to the process of making changes over a period of time. For 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example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, how many iterations </a:t>
            </a:r>
          </a:p>
          <a:p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                       		are there within the process)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85520" y="0"/>
            <a:ext cx="9935845" cy="70675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0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Top 7 Process Metrics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0" y="893445"/>
            <a:ext cx="12192000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Lead Time: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measures the time taken from initiating a process to its completion </a:t>
            </a:r>
          </a:p>
          <a:p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Cycle Time: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This tracks the duration it takes to complete one full cycle of a process, from beginning to end. </a:t>
            </a:r>
          </a:p>
          <a:p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Throughput: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Quantifies the rate at which tasks or features are completed within a given timeframe. </a:t>
            </a:r>
          </a:p>
          <a:p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Work in Progress (WIP):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Indicates the number of tasks or features currently being worked on but not yet completed. </a:t>
            </a:r>
          </a:p>
          <a:p>
            <a:pPr indent="0">
              <a:buFont typeface="Wingdings" panose="05000000000000000000" charset="0"/>
              <a:buNone/>
            </a:pPr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Defect Density: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measures the number of defects or bugs found per unit of work or code. </a:t>
            </a:r>
          </a:p>
          <a:p>
            <a:pPr indent="0">
              <a:buFont typeface="Wingdings" panose="05000000000000000000" charset="0"/>
              <a:buNone/>
            </a:pPr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Process Efficiency: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evaluates the ratio of value-added work to non-value-added work </a:t>
            </a:r>
          </a:p>
          <a:p>
            <a:pPr indent="0">
              <a:buFont typeface="Wingdings" panose="05000000000000000000" charset="0"/>
              <a:buNone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Process Compliance:</a:t>
            </a: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It ensures consistency and quality in the software development process.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9A350-B1EB-1663-42A4-2FACFBDB5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>
            <a:extLst>
              <a:ext uri="{FF2B5EF4-FFF2-40B4-BE49-F238E27FC236}">
                <a16:creationId xmlns:a16="http://schemas.microsoft.com/office/drawing/2014/main" id="{067631B3-EF35-E59E-B07B-4407799D5793}"/>
              </a:ext>
            </a:extLst>
          </p:cNvPr>
          <p:cNvSpPr txBox="1"/>
          <p:nvPr/>
        </p:nvSpPr>
        <p:spPr>
          <a:xfrm>
            <a:off x="325905" y="141490"/>
            <a:ext cx="11228705" cy="1906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8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Importance of Process Metrics</a:t>
            </a:r>
            <a:endParaRPr lang="en-US" sz="28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Continuous Improvement: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Decision-Making: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Performance Monitoring: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Benchmarking: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Accountability: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426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85520" y="0"/>
            <a:ext cx="9935845" cy="70675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Project Metrics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0" y="869950"/>
            <a:ext cx="12192000" cy="14773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"/>
            </a:pPr>
            <a:r>
              <a:rPr lang="en-GB" b="0" i="0" u="none" strike="noStrike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metrics used by the project manager to check the project's progress.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measures used to track, evaluate, and improve the performance, quality, and progress of a software development project.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:number of software developers, the staffing pattern throughout the software's life cycle, cost, schedule, and productivity.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F2FE91-EF9E-5D5E-5253-0A90EF919968}"/>
              </a:ext>
            </a:extLst>
          </p:cNvPr>
          <p:cNvSpPr txBox="1"/>
          <p:nvPr/>
        </p:nvSpPr>
        <p:spPr>
          <a:xfrm>
            <a:off x="192641" y="2510473"/>
            <a:ext cx="11550721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Benefits of Using Project Metrics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Decision Making: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Project Visibility: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Management: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Quality Assurance: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Improvement: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4CD6AB-60AC-7D2F-EFA0-C6B04C412782}"/>
              </a:ext>
            </a:extLst>
          </p:cNvPr>
          <p:cNvSpPr txBox="1"/>
          <p:nvPr/>
        </p:nvSpPr>
        <p:spPr>
          <a:xfrm>
            <a:off x="192641" y="4851003"/>
            <a:ext cx="106260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 Productivity Metrics</a:t>
            </a:r>
          </a:p>
          <a:p>
            <a:pPr algn="l"/>
            <a:r>
              <a:rPr lang="en-GB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 Quality Metrics</a:t>
            </a:r>
          </a:p>
          <a:p>
            <a:pPr algn="l"/>
            <a:r>
              <a:rPr lang="en-GB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 Schedule Metrics</a:t>
            </a:r>
          </a:p>
          <a:p>
            <a:pPr algn="l"/>
            <a:r>
              <a:rPr lang="en-GB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 Cost Metrics</a:t>
            </a:r>
          </a:p>
          <a:p>
            <a:pPr algn="l"/>
            <a:r>
              <a:rPr lang="en-GB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GB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 Customer Satisfaction Metrics</a:t>
            </a:r>
          </a:p>
          <a:p>
            <a:pPr algn="l"/>
            <a:r>
              <a:rPr lang="en-GB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GB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 Team Performance Metrics</a:t>
            </a:r>
            <a:endParaRPr lang="en-GB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D2DAF4-970A-A5F0-F27A-D71224BAA9E4}"/>
              </a:ext>
            </a:extLst>
          </p:cNvPr>
          <p:cNvSpPr txBox="1"/>
          <p:nvPr/>
        </p:nvSpPr>
        <p:spPr>
          <a:xfrm>
            <a:off x="4044799" y="4418688"/>
            <a:ext cx="25935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Project Metrics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59A32-E199-68D4-0DE8-808ACE411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A1B207E1-4FA1-6934-8DBB-48D90A777E90}"/>
              </a:ext>
            </a:extLst>
          </p:cNvPr>
          <p:cNvSpPr txBox="1"/>
          <p:nvPr/>
        </p:nvSpPr>
        <p:spPr>
          <a:xfrm>
            <a:off x="985520" y="0"/>
            <a:ext cx="9935845" cy="70675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Product Metrics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BA6783-97DC-E8A6-1693-CDCB8D2F0078}"/>
              </a:ext>
            </a:extLst>
          </p:cNvPr>
          <p:cNvSpPr txBox="1"/>
          <p:nvPr/>
        </p:nvSpPr>
        <p:spPr>
          <a:xfrm>
            <a:off x="0" y="853830"/>
            <a:ext cx="12336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metrics are quantitative measures used to assess the characteristics of software products.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metrics help in evaluating various aspects such as quality, performance, maintainability, and complexity of the software.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93CF61-A8D2-30B6-1261-87D5B8543E47}"/>
              </a:ext>
            </a:extLst>
          </p:cNvPr>
          <p:cNvSpPr txBox="1"/>
          <p:nvPr/>
        </p:nvSpPr>
        <p:spPr>
          <a:xfrm>
            <a:off x="0" y="1647236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metrics fall into two classes: </a:t>
            </a:r>
          </a:p>
          <a:p>
            <a:pPr algn="l" fontAlgn="base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metrics 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measurements made from a program in execution.</a:t>
            </a:r>
          </a:p>
          <a:p>
            <a:pPr algn="l" fontAlgn="base">
              <a:buFont typeface="+mj-lt"/>
              <a:buAutoNum type="arabicPeriod" startAt="2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metrics 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measurements made from system representations such as design, programs, or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23934270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4347D-43BC-FC73-D0C9-E858FAECB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F42C02C7-44AD-4B96-BBBD-F7AF7073EE4E}"/>
              </a:ext>
            </a:extLst>
          </p:cNvPr>
          <p:cNvSpPr txBox="1"/>
          <p:nvPr/>
        </p:nvSpPr>
        <p:spPr>
          <a:xfrm>
            <a:off x="985520" y="0"/>
            <a:ext cx="9935845" cy="70675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Common Product Metrics</a:t>
            </a:r>
          </a:p>
        </p:txBody>
      </p:sp>
      <p:pic>
        <p:nvPicPr>
          <p:cNvPr id="3" name="Picture 2" descr="Lightbox">
            <a:extLst>
              <a:ext uri="{FF2B5EF4-FFF2-40B4-BE49-F238E27FC236}">
                <a16:creationId xmlns:a16="http://schemas.microsoft.com/office/drawing/2014/main" id="{934F53DA-CAF8-3407-949C-73F0E4A5D5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40" t="23634" r="12164" b="11696"/>
          <a:stretch/>
        </p:blipFill>
        <p:spPr bwMode="auto">
          <a:xfrm>
            <a:off x="108371" y="1087032"/>
            <a:ext cx="2542362" cy="4359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C47A6E-C4EC-3F57-BE56-38BC856EC586}"/>
              </a:ext>
            </a:extLst>
          </p:cNvPr>
          <p:cNvSpPr txBox="1"/>
          <p:nvPr/>
        </p:nvSpPr>
        <p:spPr>
          <a:xfrm>
            <a:off x="2147299" y="1095277"/>
            <a:ext cx="100447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 fontAlgn="base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Fan-in is a measure of the number of functions that call some other function (say X). </a:t>
            </a:r>
          </a:p>
          <a:p>
            <a:pPr marL="285750" indent="-285750" algn="l" rtl="0" fontAlgn="base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Fan-out is the number of functions which are called by function X. </a:t>
            </a:r>
          </a:p>
          <a:p>
            <a:pPr algn="l" rtl="0" fontAlgn="base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rtl="0" fontAlgn="base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the size of a program. </a:t>
            </a:r>
          </a:p>
          <a:p>
            <a:pPr algn="l" rtl="0" fontAlgn="base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rtl="0" fontAlgn="base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 the complexity of a program. </a:t>
            </a:r>
          </a:p>
          <a:p>
            <a:pPr algn="l" rtl="0" fontAlgn="base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rtl="0" fontAlgn="base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assessing the readability and maintainability of the code. </a:t>
            </a:r>
          </a:p>
          <a:p>
            <a:pPr algn="l" rtl="0" fontAlgn="base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rtl="0" fontAlgn="base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indicates how many levels deep the nested conditional statements go. </a:t>
            </a:r>
          </a:p>
          <a:p>
            <a:pPr algn="l" rtl="0" fontAlgn="base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rtl="0" fontAlgn="base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measure of the average length of words and sentences in documents.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009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58F1E-D21A-20AD-F532-E3A104338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B0D84E55-5B25-6FA3-5CBC-9676A45BA5DE}"/>
              </a:ext>
            </a:extLst>
          </p:cNvPr>
          <p:cNvSpPr txBox="1"/>
          <p:nvPr/>
        </p:nvSpPr>
        <p:spPr>
          <a:xfrm>
            <a:off x="985520" y="0"/>
            <a:ext cx="9935845" cy="70675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Software Metrics Comparisons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696421-F3B2-4322-57A0-1975DFC7A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242" y="1846475"/>
            <a:ext cx="7772400" cy="316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11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0"/>
            <a:ext cx="11932285" cy="64516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Measurement of Software: Metrics, Measure, Indicator	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0" y="645160"/>
            <a:ext cx="12191365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en-US" b="1" dirty="0">
                <a:latin typeface="Times New Roman Regular" panose="02020603050405020304" charset="0"/>
                <a:cs typeface="Times New Roman Regular" panose="02020603050405020304" charset="0"/>
              </a:rPr>
              <a:t>Software Measurement is </a:t>
            </a: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process of quantifying various attributes and aspects of a software product or its development process.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The software measurement process is defined and governed by ISO Standard. 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635" y="1582734"/>
            <a:ext cx="1219136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Software Measurement Principles/Activities</a:t>
            </a:r>
          </a:p>
          <a:p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The software measurement process can be characterized by five activities-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Formulation:</a:t>
            </a: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Collection:</a:t>
            </a: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Analysis: 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Interpretation:</a:t>
            </a: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Feedback:</a:t>
            </a: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F7AE8-6C56-726D-6C5E-17E2B4D20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8">
            <a:extLst>
              <a:ext uri="{FF2B5EF4-FFF2-40B4-BE49-F238E27FC236}">
                <a16:creationId xmlns:a16="http://schemas.microsoft.com/office/drawing/2014/main" id="{666ADED5-1D36-66E7-8A34-0E66EE2B14B9}"/>
              </a:ext>
            </a:extLst>
          </p:cNvPr>
          <p:cNvSpPr txBox="1"/>
          <p:nvPr/>
        </p:nvSpPr>
        <p:spPr>
          <a:xfrm>
            <a:off x="143839" y="386743"/>
            <a:ext cx="11137186" cy="3230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4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Need for Software Measurement</a:t>
            </a:r>
          </a:p>
          <a:p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Software is measured to: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Create the quality of the current product or process.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Anticipate future qualities of the product or process.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Enhance the quality of a product or process.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Regulate the state of the project concerning budget and schedule.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Enable data-driven decision-making in project planning and control.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Identify bottlenecks and areas for improvement to drive process improvement activities.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Ensure that industry standards and regulations are followed.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Give software products and processes a quantitative basis for evaluation.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Enable the ongoing improvement of software development practices.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E573AB45-71CF-1201-E7DF-657C09D21A13}"/>
              </a:ext>
            </a:extLst>
          </p:cNvPr>
          <p:cNvSpPr txBox="1"/>
          <p:nvPr/>
        </p:nvSpPr>
        <p:spPr>
          <a:xfrm>
            <a:off x="0" y="4298108"/>
            <a:ext cx="1219200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8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Classification of Software Measurement</a:t>
            </a:r>
          </a:p>
          <a:p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There are 2 types of software measurement: </a:t>
            </a:r>
          </a:p>
          <a:p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Direct Measurement: </a:t>
            </a: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the product, process, or thing is measured directly using a standard scale.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Indirect Measurement:</a:t>
            </a: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 the quantity or quality to be measured is measured using related parameters i.e. by use of reference.</a:t>
            </a:r>
          </a:p>
        </p:txBody>
      </p:sp>
    </p:spTree>
    <p:extLst>
      <p:ext uri="{BB962C8B-B14F-4D97-AF65-F5344CB8AC3E}">
        <p14:creationId xmlns:p14="http://schemas.microsoft.com/office/powerpoint/2010/main" val="11021232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CDAA2-F5DA-B440-ADB4-A58A01B08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FF328D-0901-84FF-412F-359AF67D6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61911"/>
            <a:ext cx="7772400" cy="50344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5DE496-EC7F-7CC7-7D21-1DD62EE1485D}"/>
              </a:ext>
            </a:extLst>
          </p:cNvPr>
          <p:cNvSpPr txBox="1"/>
          <p:nvPr/>
        </p:nvSpPr>
        <p:spPr>
          <a:xfrm>
            <a:off x="3292732" y="0"/>
            <a:ext cx="8116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SHOULD BE MEASURED (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 CLASS)</a:t>
            </a:r>
          </a:p>
        </p:txBody>
      </p:sp>
    </p:spTree>
    <p:extLst>
      <p:ext uri="{BB962C8B-B14F-4D97-AF65-F5344CB8AC3E}">
        <p14:creationId xmlns:p14="http://schemas.microsoft.com/office/powerpoint/2010/main" val="20627604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C4DA82E-CA22-E834-5626-4CF7B08B88C0}"/>
              </a:ext>
            </a:extLst>
          </p:cNvPr>
          <p:cNvSpPr txBox="1"/>
          <p:nvPr/>
        </p:nvSpPr>
        <p:spPr>
          <a:xfrm>
            <a:off x="0" y="765895"/>
            <a:ext cx="1082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ssential metrics used to assess various aspects of software development processes, products, and resources.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5F4B29-7F57-A583-EFC4-3CF188890E3D}"/>
              </a:ext>
            </a:extLst>
          </p:cNvPr>
          <p:cNvSpPr txBox="1"/>
          <p:nvPr/>
        </p:nvSpPr>
        <p:spPr>
          <a:xfrm>
            <a:off x="3863084" y="0"/>
            <a:ext cx="5416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Measurement Indicators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784D79-4E37-F63B-588A-9D66395B6924}"/>
              </a:ext>
            </a:extLst>
          </p:cNvPr>
          <p:cNvSpPr txBox="1"/>
          <p:nvPr/>
        </p:nvSpPr>
        <p:spPr>
          <a:xfrm>
            <a:off x="2774022" y="1721190"/>
            <a:ext cx="68565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sz="28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ypes of software measurement indicators</a:t>
            </a:r>
            <a:endParaRPr lang="en-US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750F4F-0D9E-09AD-8A56-E6659C279177}"/>
              </a:ext>
            </a:extLst>
          </p:cNvPr>
          <p:cNvSpPr txBox="1"/>
          <p:nvPr/>
        </p:nvSpPr>
        <p:spPr>
          <a:xfrm>
            <a:off x="84042" y="2454761"/>
            <a:ext cx="61182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 Product Metrics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 Process Metrics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 Resource Metrics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 Project Metrics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 Customer Satisfaction Metrics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 Security Metrics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81D1EB-79A3-9E87-AA4F-7A88147C91C2}"/>
              </a:ext>
            </a:extLst>
          </p:cNvPr>
          <p:cNvSpPr txBox="1"/>
          <p:nvPr/>
        </p:nvSpPr>
        <p:spPr>
          <a:xfrm>
            <a:off x="84042" y="4106946"/>
            <a:ext cx="12107958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Software Measurement Indicators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Improving Quality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Predicting Project Outcomes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Enhancing Productivity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Management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27239-0F96-8B0A-CD41-4D2DE3D9E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5B5728-34B5-51BE-56D4-000E6DC4762A}"/>
              </a:ext>
            </a:extLst>
          </p:cNvPr>
          <p:cNvSpPr txBox="1"/>
          <p:nvPr/>
        </p:nvSpPr>
        <p:spPr>
          <a:xfrm>
            <a:off x="2198670" y="0"/>
            <a:ext cx="7941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Project Estimation, Empirical Estimation Models </a:t>
            </a:r>
            <a:endParaRPr lang="en-US" sz="2800" b="1" dirty="0">
              <a:solidFill>
                <a:srgbClr val="00B0F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9F5A0B-E726-7834-3D3E-95A2754BCD5F}"/>
              </a:ext>
            </a:extLst>
          </p:cNvPr>
          <p:cNvSpPr txBox="1"/>
          <p:nvPr/>
        </p:nvSpPr>
        <p:spPr>
          <a:xfrm>
            <a:off x="0" y="566601"/>
            <a:ext cx="115404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Size Estimation Techniques are essential tools that help in predicting the required resources, time, and cost.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size estimation is determining the scope and resources required for the project.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FFB323-E07E-711F-F64E-BD90561EA5DF}"/>
              </a:ext>
            </a:extLst>
          </p:cNvPr>
          <p:cNvSpPr txBox="1"/>
          <p:nvPr/>
        </p:nvSpPr>
        <p:spPr>
          <a:xfrm>
            <a:off x="0" y="1432266"/>
            <a:ext cx="12191999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Project Size Estimation</a:t>
            </a:r>
          </a:p>
          <a:p>
            <a:pPr algn="l" fontAlgn="base">
              <a:buFont typeface="+mj-lt"/>
              <a:buAutoNum type="arabicPeriod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Planning </a:t>
            </a:r>
          </a:p>
          <a:p>
            <a:pPr algn="l" fontAlgn="base"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Planning</a:t>
            </a:r>
          </a:p>
          <a:p>
            <a:pPr algn="l" fontAlgn="base">
              <a:buFont typeface="+mj-lt"/>
              <a:buAutoNum type="arabicPeriod" startAt="3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Creation</a:t>
            </a:r>
          </a:p>
          <a:p>
            <a:pPr algn="l" fontAlgn="base">
              <a:buFont typeface="+mj-lt"/>
              <a:buAutoNum type="arabicPeriod" startAt="3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Risks</a:t>
            </a:r>
          </a:p>
          <a:p>
            <a:pPr algn="l" fontAlgn="base">
              <a:buFont typeface="+mj-lt"/>
              <a:buAutoNum type="arabicPeriod" startAt="3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Planning</a:t>
            </a:r>
          </a:p>
          <a:p>
            <a:pPr algn="l" fontAlgn="base">
              <a:buFont typeface="+mj-lt"/>
              <a:buAutoNum type="arabicPeriod" startAt="6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Quality Assurance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015B5A-F853-D4E4-B48D-459AD473B6C7}"/>
              </a:ext>
            </a:extLst>
          </p:cNvPr>
          <p:cNvSpPr txBox="1"/>
          <p:nvPr/>
        </p:nvSpPr>
        <p:spPr>
          <a:xfrm>
            <a:off x="51371" y="3990702"/>
            <a:ext cx="12140628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Estimates Projects Size?</a:t>
            </a:r>
          </a:p>
          <a:p>
            <a:pPr algn="l" fontAlgn="base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Manager</a:t>
            </a:r>
          </a:p>
          <a:p>
            <a:pPr algn="l" fontAlgn="base"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Matter Experts (SMEs)</a:t>
            </a:r>
          </a:p>
          <a:p>
            <a:pPr algn="l" fontAlgn="base"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Analysts</a:t>
            </a:r>
          </a:p>
          <a:p>
            <a:pPr algn="l" fontAlgn="base"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Leads</a:t>
            </a:r>
          </a:p>
          <a:p>
            <a:pPr algn="l" fontAlgn="base"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</a:t>
            </a:r>
          </a:p>
          <a:p>
            <a:pPr algn="l" fontAlgn="base"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Analysts</a:t>
            </a:r>
          </a:p>
          <a:p>
            <a:pPr algn="l" fontAlgn="base"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Managers</a:t>
            </a:r>
          </a:p>
          <a:p>
            <a:pPr algn="l" fontAlgn="base">
              <a:buFont typeface="+mj-lt"/>
              <a:buAutoNum type="arabicPeriod" startAt="8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 </a:t>
            </a:r>
          </a:p>
        </p:txBody>
      </p:sp>
    </p:spTree>
    <p:extLst>
      <p:ext uri="{BB962C8B-B14F-4D97-AF65-F5344CB8AC3E}">
        <p14:creationId xmlns:p14="http://schemas.microsoft.com/office/powerpoint/2010/main" val="17290730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FF25C-02B4-9B5E-BB3D-9210C1F7B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9C78AA-1E7C-9B1C-4EAB-E2D5029F9320}"/>
              </a:ext>
            </a:extLst>
          </p:cNvPr>
          <p:cNvSpPr txBox="1"/>
          <p:nvPr/>
        </p:nvSpPr>
        <p:spPr>
          <a:xfrm>
            <a:off x="2198670" y="0"/>
            <a:ext cx="7941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Methods/Models of Project Estimation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1DF079-F7DF-0123-F6E5-505FD46285F5}"/>
              </a:ext>
            </a:extLst>
          </p:cNvPr>
          <p:cNvSpPr txBox="1"/>
          <p:nvPr/>
        </p:nvSpPr>
        <p:spPr>
          <a:xfrm>
            <a:off x="0" y="657546"/>
            <a:ext cx="12192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buFont typeface="Wingdings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Judgment: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group of experts in the relevant field estimates the project size based on their experience and expertise</a:t>
            </a:r>
          </a:p>
          <a:p>
            <a:pPr marL="285750" indent="-285750" algn="l" fontAlgn="base">
              <a:buFont typeface="Wingdings" pitchFamily="2" charset="2"/>
              <a:buChar char="Ø"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fontAlgn="base">
              <a:buFont typeface="Wingdings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Analogous Estimation: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estimating based on the similarities between the current project and previously completed projects.</a:t>
            </a:r>
          </a:p>
          <a:p>
            <a:pPr marL="285750" indent="-285750" algn="l" fontAlgn="base">
              <a:buFont typeface="Wingdings" pitchFamily="2" charset="2"/>
              <a:buChar char="Ø"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fontAlgn="base">
              <a:buFont typeface="Wingdings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Bottom-up Estimation: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divided into smaller modules or tasks, and each task is estimated separately. </a:t>
            </a:r>
          </a:p>
          <a:p>
            <a:pPr marL="285750" indent="-285750" algn="l" fontAlgn="base">
              <a:buFont typeface="Wingdings" pitchFamily="2" charset="2"/>
              <a:buChar char="Ø"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fontAlgn="base">
              <a:buFont typeface="Wingdings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Three-point Estimation: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estimating the project size using three values: optimistic, pessimistic, and most likely. </a:t>
            </a:r>
          </a:p>
          <a:p>
            <a:pPr marL="285750" indent="-285750" algn="l" fontAlgn="base">
              <a:buFont typeface="Wingdings" pitchFamily="2" charset="2"/>
              <a:buChar char="Ø"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fontAlgn="base">
              <a:buFont typeface="Wingdings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Points: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estimating the project size based on the functionality provided by the software. </a:t>
            </a:r>
          </a:p>
          <a:p>
            <a:pPr marL="285750" indent="-285750" algn="l" fontAlgn="base">
              <a:buFont typeface="Wingdings" pitchFamily="2" charset="2"/>
              <a:buChar char="Ø"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fontAlgn="base">
              <a:buFont typeface="Wingdings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Points: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estimating the project size based on the number of use cases that the software must support.</a:t>
            </a:r>
          </a:p>
          <a:p>
            <a:pPr marL="285750" indent="-285750" algn="l" fontAlgn="base">
              <a:buFont typeface="Wingdings" pitchFamily="2" charset="2"/>
              <a:buChar char="Ø"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fontAlgn="base">
              <a:buFont typeface="Wingdings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Parametric Estimation: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models founded on project parameters and historical data are used.</a:t>
            </a:r>
          </a:p>
          <a:p>
            <a:pPr marL="285750" indent="-285750" algn="l" fontAlgn="base">
              <a:buFont typeface="Wingdings" pitchFamily="2" charset="2"/>
              <a:buChar char="Ø"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fontAlgn="base">
              <a:buFont typeface="Wingdings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COCOMO (Constructive Cost Model):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algorithmic model that estimates effort, time, and cost in software projects</a:t>
            </a:r>
          </a:p>
          <a:p>
            <a:pPr marL="285750" indent="-285750" algn="l" fontAlgn="base">
              <a:buFont typeface="Wingdings" pitchFamily="2" charset="2"/>
              <a:buChar char="Ø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fontAlgn="base">
              <a:buFont typeface="Wingdings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Wideband Delphi: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estimating method for balanced size estimations that combines expert estimates from anonymous experts with cooperative conversations.</a:t>
            </a:r>
          </a:p>
          <a:p>
            <a:pPr marL="285750" indent="-285750" algn="l" fontAlgn="base">
              <a:buFont typeface="Wingdings" pitchFamily="2" charset="2"/>
              <a:buChar char="Ø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fontAlgn="base">
              <a:buFont typeface="Wingdings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Simulation: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project size and analyses hazards using statistical methods and random sampling.</a:t>
            </a:r>
          </a:p>
        </p:txBody>
      </p:sp>
    </p:spTree>
    <p:extLst>
      <p:ext uri="{BB962C8B-B14F-4D97-AF65-F5344CB8AC3E}">
        <p14:creationId xmlns:p14="http://schemas.microsoft.com/office/powerpoint/2010/main" val="7042594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78740"/>
            <a:ext cx="11906885" cy="55753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en-IN" sz="4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Empirical </a:t>
            </a:r>
            <a:r>
              <a:rPr lang="en-IN" sz="4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Project Estimation Techniques</a:t>
            </a:r>
            <a:endParaRPr lang="en-IN" altLang="en-IN" sz="4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0" y="707461"/>
            <a:ext cx="121920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 estimation technique are based on the data taken from the previous project and some based on guesses and assumptions.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 estimation is a technique or model in which empirically derived formulas are used for predicting the data that are a required and essential part of the software project planning step.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uses the size of the software to estimate the effort.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technique, an educated guess of project parameters is made.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these models are based on common sense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0" y="2921635"/>
            <a:ext cx="114058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most common type of Empirical Project Estimation Techniques are:</a:t>
            </a:r>
          </a:p>
          <a:p>
            <a:pPr algn="l" fontAlgn="base">
              <a:buFont typeface="+mj-lt"/>
              <a:buAutoNum type="arabicPeriod"/>
            </a:pPr>
            <a:r>
              <a:rPr lang="en-IN" sz="20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Expert Judgment Technique</a:t>
            </a:r>
            <a:endParaRPr lang="en-IN" sz="2000" b="1" i="0" u="none" strike="noStrike" dirty="0">
              <a:solidFill>
                <a:srgbClr val="000000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+mj-lt"/>
              <a:buAutoNum type="arabicPeriod"/>
            </a:pPr>
            <a:r>
              <a:rPr lang="en-IN" sz="2000" b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Delphi Cost Estimation Technique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78740"/>
            <a:ext cx="11906885" cy="55753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US" sz="4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Expert Judgement</a:t>
            </a:r>
            <a:r>
              <a:rPr lang="en-IN" sz="4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Techniques</a:t>
            </a:r>
            <a:endParaRPr lang="en-IN" altLang="en-IN" sz="4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0" y="61341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judgment techniques are methods used to gather insights, opinions, and judgments from individuals who have specialized knowledge or expertise relevant to a particular subject or problem.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techniques leverage the expertise of knowledgeable individuals to enhance decision-making and problem-solving processes. </a:t>
            </a:r>
          </a:p>
          <a:p>
            <a:pPr indent="0">
              <a:buFont typeface="Wingdings" panose="05000000000000000000" charset="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are some common expert judgment techniques: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0" y="2366645"/>
            <a:ext cx="12192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Interviews: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Workshops: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Panels: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Questionnaires: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78740"/>
            <a:ext cx="11906885" cy="55753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IN" sz="40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FF"/>
                </a:highligh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Delphi Cost Estimation Technique</a:t>
            </a:r>
            <a:endParaRPr lang="en-IN" altLang="en-IN" sz="40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FF"/>
              </a:highligh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0" y="636270"/>
            <a:ext cx="1219200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Delphi technique can indeed be applied to cost estimation in project management and other domains where accurate estimation is crucial. </a:t>
            </a:r>
          </a:p>
          <a:p>
            <a:pPr indent="0">
              <a:buFont typeface="Wingdings" panose="05000000000000000000" charset="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Involved in Delphi Cost Estimation: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of Experts: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1 - Initial Estimates: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2 - Feedback and Discussion: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3 - Revised Estimates: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Estimate: 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78740"/>
            <a:ext cx="11906885" cy="557530"/>
          </a:xfrm>
        </p:spPr>
        <p:txBody>
          <a:bodyPr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IN" sz="4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FF"/>
                </a:highligh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Delphi Cost Estimation Technique</a:t>
            </a:r>
            <a:endParaRPr lang="en-IN" altLang="en-IN" sz="4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FF"/>
              </a:highligh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92405" y="840105"/>
            <a:ext cx="1082103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Expertise Utilization: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Anonymity[Reducing Biasness]: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Process: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Mitigation: 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92405" y="2967990"/>
            <a:ext cx="1119632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Delphi Method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Interpretation Depends on Responder Expertise: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Limited Open Discussion: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Requires Commitment for Multiple Rounds: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4510405" y="0"/>
            <a:ext cx="3806825" cy="46037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l" fontAlgn="base">
              <a:buFont typeface="+mj-lt"/>
              <a:buNone/>
            </a:pPr>
            <a:r>
              <a:rPr lang="en-US" altLang="en-IN" sz="24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Software </a:t>
            </a:r>
            <a:r>
              <a:rPr lang="en-IN" sz="24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Risk Management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0" y="618490"/>
            <a:ext cx="120002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specifically on identifying, assessing, and mitigating risks associated with developing, deploying, and maintaining software systems.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0" y="1263650"/>
            <a:ext cx="1098169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mainly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classes/ Categories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risks that may affect a computer code project: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Risks: 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Risks: 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Risks: 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156845" y="2925445"/>
            <a:ext cx="9326245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risk management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protect against potential losses.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decision-making by considering risks.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unexpected expenses.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resilience against unexpected challenges.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 of Risk Management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much focus on risk can lead to missed opportunities.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risk management can be expensive.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models can be overly complex and hard to understand.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risks can take a lot of time and resources.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4510405" y="0"/>
            <a:ext cx="3806825" cy="46037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l" fontAlgn="base">
              <a:buFont typeface="+mj-lt"/>
              <a:buNone/>
            </a:pPr>
            <a:r>
              <a:rPr lang="en-US" altLang="en-I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Software </a:t>
            </a:r>
            <a:r>
              <a:rPr lang="en-I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Risk Management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010" y="671830"/>
            <a:ext cx="7350760" cy="584263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CA733-F6AE-70C6-0A6C-D47D68654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>
            <a:extLst>
              <a:ext uri="{FF2B5EF4-FFF2-40B4-BE49-F238E27FC236}">
                <a16:creationId xmlns:a16="http://schemas.microsoft.com/office/drawing/2014/main" id="{A14E33E8-D3C6-6648-3A6A-674D334FF925}"/>
              </a:ext>
            </a:extLst>
          </p:cNvPr>
          <p:cNvSpPr txBox="1"/>
          <p:nvPr/>
        </p:nvSpPr>
        <p:spPr>
          <a:xfrm>
            <a:off x="4510405" y="0"/>
            <a:ext cx="2224520" cy="46166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l" fontAlgn="base">
              <a:buFont typeface="+mj-lt"/>
              <a:buNone/>
            </a:pPr>
            <a:r>
              <a:rPr lang="en-US" altLang="en-I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Software </a:t>
            </a:r>
            <a:r>
              <a:rPr lang="en-I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Issues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CFBC49-1772-35AB-A6FE-4E69EE69A2A0}"/>
              </a:ext>
            </a:extLst>
          </p:cNvPr>
          <p:cNvSpPr txBox="1"/>
          <p:nvPr/>
        </p:nvSpPr>
        <p:spPr>
          <a:xfrm>
            <a:off x="347609" y="1068513"/>
            <a:ext cx="879639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 Functional Issues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 Performance Issues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 Compatibility Issues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 Security Issues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 Usability and Accessibility Issues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 Data Handling Issues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 Development and Maintenance Issues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 Deployment and Integration Issues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388374-E5DF-DDFB-D7A0-92AE2AC771FC}"/>
              </a:ext>
            </a:extLst>
          </p:cNvPr>
          <p:cNvSpPr txBox="1"/>
          <p:nvPr/>
        </p:nvSpPr>
        <p:spPr>
          <a:xfrm>
            <a:off x="215757" y="3647566"/>
            <a:ext cx="1165089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Addressing Software Issues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Regular Testing: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Monitoring and Logging: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Feedback: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Updates and Patching: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Quality Assurance Practices: </a:t>
            </a:r>
          </a:p>
        </p:txBody>
      </p:sp>
    </p:spTree>
    <p:extLst>
      <p:ext uri="{BB962C8B-B14F-4D97-AF65-F5344CB8AC3E}">
        <p14:creationId xmlns:p14="http://schemas.microsoft.com/office/powerpoint/2010/main" val="4401335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521E6-36DF-824F-A7D3-749DEF766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>
            <a:extLst>
              <a:ext uri="{FF2B5EF4-FFF2-40B4-BE49-F238E27FC236}">
                <a16:creationId xmlns:a16="http://schemas.microsoft.com/office/drawing/2014/main" id="{5A331264-8A61-CDED-2851-133D59CC31B6}"/>
              </a:ext>
            </a:extLst>
          </p:cNvPr>
          <p:cNvSpPr txBox="1"/>
          <p:nvPr/>
        </p:nvSpPr>
        <p:spPr>
          <a:xfrm>
            <a:off x="2424931" y="0"/>
            <a:ext cx="7342138" cy="46166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ctr" fontAlgn="base">
              <a:buFont typeface="+mj-lt"/>
              <a:buNone/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Software Engineering Ethics and Professional Practice</a:t>
            </a:r>
            <a:endParaRPr lang="en-IN" sz="2400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21C386-185D-6266-BE68-A57F698A50AF}"/>
              </a:ext>
            </a:extLst>
          </p:cNvPr>
          <p:cNvSpPr txBox="1"/>
          <p:nvPr/>
        </p:nvSpPr>
        <p:spPr>
          <a:xfrm>
            <a:off x="-1" y="689444"/>
            <a:ext cx="123495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Establish a code of conduct for professional software engineers to make software engineering a beneficial and respected profession.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﻿Joint Effort by </a:t>
            </a:r>
            <a:r>
              <a:rPr lang="en-GB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lEEE</a:t>
            </a: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-Computer Society and Association of Computing MachineryACM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572702-6AB2-E201-B8FC-B83B85788E3E}"/>
              </a:ext>
            </a:extLst>
          </p:cNvPr>
          <p:cNvSpPr txBox="1"/>
          <p:nvPr/>
        </p:nvSpPr>
        <p:spPr>
          <a:xfrm>
            <a:off x="208050" y="1840553"/>
            <a:ext cx="111551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engineers are those who contribute either by direct participation or by</a:t>
            </a:r>
          </a:p>
          <a:p>
            <a:endParaRPr lang="en-GB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﻿teaching,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﻿analysing,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﻿Specification generating,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﻿designing,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﻿developing,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﻿certifying,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﻿Maintaining 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﻿testing 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software system</a:t>
            </a:r>
          </a:p>
        </p:txBody>
      </p:sp>
    </p:spTree>
    <p:extLst>
      <p:ext uri="{BB962C8B-B14F-4D97-AF65-F5344CB8AC3E}">
        <p14:creationId xmlns:p14="http://schemas.microsoft.com/office/powerpoint/2010/main" val="3246288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C7F0C-99B4-2931-D198-87C48E7DF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>
            <a:extLst>
              <a:ext uri="{FF2B5EF4-FFF2-40B4-BE49-F238E27FC236}">
                <a16:creationId xmlns:a16="http://schemas.microsoft.com/office/drawing/2014/main" id="{9D45A52C-15DF-E322-741A-7AE471C983D0}"/>
              </a:ext>
            </a:extLst>
          </p:cNvPr>
          <p:cNvSpPr txBox="1"/>
          <p:nvPr/>
        </p:nvSpPr>
        <p:spPr>
          <a:xfrm>
            <a:off x="2424931" y="0"/>
            <a:ext cx="7342138" cy="46166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ctr" fontAlgn="base">
              <a:buFont typeface="+mj-lt"/>
              <a:buNone/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Software Engineering Ethics and Professional Practice</a:t>
            </a:r>
            <a:endParaRPr lang="en-IN" sz="2400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269CC1-567C-91AA-7EFD-DC5F921E4605}"/>
              </a:ext>
            </a:extLst>
          </p:cNvPr>
          <p:cNvSpPr txBox="1"/>
          <p:nvPr/>
        </p:nvSpPr>
        <p:spPr>
          <a:xfrm>
            <a:off x="295381" y="905806"/>
            <a:ext cx="11896619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Roles of Engineers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"Professional Software Engineers" include</a:t>
            </a:r>
          </a:p>
          <a:p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Practitioners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Educators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Managers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Supervisors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Policy makers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Trainees and Students of the Profession</a:t>
            </a:r>
          </a:p>
        </p:txBody>
      </p:sp>
    </p:spTree>
    <p:extLst>
      <p:ext uri="{BB962C8B-B14F-4D97-AF65-F5344CB8AC3E}">
        <p14:creationId xmlns:p14="http://schemas.microsoft.com/office/powerpoint/2010/main" val="7450084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2DAD8-726C-E819-9B37-915A9718B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>
            <a:extLst>
              <a:ext uri="{FF2B5EF4-FFF2-40B4-BE49-F238E27FC236}">
                <a16:creationId xmlns:a16="http://schemas.microsoft.com/office/drawing/2014/main" id="{C50F1668-5B4C-781F-9E63-48834FFE475B}"/>
              </a:ext>
            </a:extLst>
          </p:cNvPr>
          <p:cNvSpPr txBox="1"/>
          <p:nvPr/>
        </p:nvSpPr>
        <p:spPr>
          <a:xfrm>
            <a:off x="2424931" y="0"/>
            <a:ext cx="7342138" cy="46166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ctr" fontAlgn="base">
              <a:buFont typeface="+mj-lt"/>
              <a:buNone/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Software Engineering Ethics and Professional Practice</a:t>
            </a:r>
            <a:endParaRPr lang="en-IN" sz="2400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4C4E45-FEB1-CF38-6F66-C6AED0910FE4}"/>
              </a:ext>
            </a:extLst>
          </p:cNvPr>
          <p:cNvSpPr txBox="1"/>
          <p:nvPr/>
        </p:nvSpPr>
        <p:spPr>
          <a:xfrm>
            <a:off x="0" y="461665"/>
            <a:ext cx="12192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engineers shall act consistently with the public interest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AND EMPLOYER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engineers shall act in a manner that is in the best interests of their client and employer, consistent with the public interest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engineers shall ensure that their products and related modifications meet the highest professional standards possible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JUDGMENT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﻿Software engineers shall maintain integrity and independence in their professional judgment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﻿Software engineering managers and leaders shall subscribe to and promote an ethical approach to the management of software development and maintenance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﻿Software engineers shall advance the integrity and reputation of the profession consistent with the public interest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COLLEAGUES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﻿﻿Software engineers shall be fair to and supportive of their colleagues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﻿Software engineers shall participate in lifelong learning regarding the practice of their profession and shall promote an ethical approach to the practice of the profession</a:t>
            </a:r>
          </a:p>
        </p:txBody>
      </p:sp>
    </p:spTree>
    <p:extLst>
      <p:ext uri="{BB962C8B-B14F-4D97-AF65-F5344CB8AC3E}">
        <p14:creationId xmlns:p14="http://schemas.microsoft.com/office/powerpoint/2010/main" val="3778428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199A2-C35F-881F-78BD-28D1A0A4C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>
            <a:extLst>
              <a:ext uri="{FF2B5EF4-FFF2-40B4-BE49-F238E27FC236}">
                <a16:creationId xmlns:a16="http://schemas.microsoft.com/office/drawing/2014/main" id="{2FC93979-3CF3-94B3-608C-BC9FE89F7239}"/>
              </a:ext>
            </a:extLst>
          </p:cNvPr>
          <p:cNvSpPr txBox="1"/>
          <p:nvPr/>
        </p:nvSpPr>
        <p:spPr>
          <a:xfrm>
            <a:off x="4126134" y="0"/>
            <a:ext cx="3939732" cy="46166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ctr" fontAlgn="base">
              <a:buFont typeface="+mj-lt"/>
              <a:buNone/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Software Engineering Ethics</a:t>
            </a:r>
            <a:endParaRPr lang="en-IN" sz="2400" b="1" dirty="0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9C646-7B77-6594-BFE2-B8C749F431D9}"/>
              </a:ext>
            </a:extLst>
          </p:cNvPr>
          <p:cNvSpPr txBox="1"/>
          <p:nvPr/>
        </p:nvSpPr>
        <p:spPr>
          <a:xfrm>
            <a:off x="0" y="461665"/>
            <a:ext cx="12192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Practices: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Learning: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Communication: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Accountability: .  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Teamwork: 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Adherence to Standards:   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/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Ethical Challenges in Software Engineering: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Privacy and Security: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Bias and Discrimination: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Impact: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Intellectual Property: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Responsibility:</a:t>
            </a:r>
          </a:p>
        </p:txBody>
      </p:sp>
    </p:spTree>
    <p:extLst>
      <p:ext uri="{BB962C8B-B14F-4D97-AF65-F5344CB8AC3E}">
        <p14:creationId xmlns:p14="http://schemas.microsoft.com/office/powerpoint/2010/main" val="27944945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16701" y="2499704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The Unit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3F01A-5FA9-097C-1091-7110BF8DB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2B654D1-164E-58FF-2392-17D964D9E5A1}"/>
              </a:ext>
            </a:extLst>
          </p:cNvPr>
          <p:cNvSpPr txBox="1"/>
          <p:nvPr/>
        </p:nvSpPr>
        <p:spPr>
          <a:xfrm>
            <a:off x="1216701" y="3075057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20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2776</Words>
  <Application>Microsoft Macintosh PowerPoint</Application>
  <PresentationFormat>Widescreen</PresentationFormat>
  <Paragraphs>442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Arial</vt:lpstr>
      <vt:lpstr>Calibri</vt:lpstr>
      <vt:lpstr>Calibri Light</vt:lpstr>
      <vt:lpstr>Symbol</vt:lpstr>
      <vt:lpstr>Times New Roman</vt:lpstr>
      <vt:lpstr>Times New Roman Bold</vt:lpstr>
      <vt:lpstr>Times New Roman Regular</vt:lpstr>
      <vt:lpstr>Wingdings</vt:lpstr>
      <vt:lpstr>Office Theme</vt:lpstr>
      <vt:lpstr>1_Office Theme</vt:lpstr>
      <vt:lpstr>   Chapter 1  Software Engineering and Project Management                                                </vt:lpstr>
      <vt:lpstr>OUTLINES</vt:lpstr>
      <vt:lpstr>Nature and Characteristics of Software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Empirical Project Estimation Techniques</vt:lpstr>
      <vt:lpstr>Expert Judgement Techniques</vt:lpstr>
      <vt:lpstr>Delphi Cost Estimation Technique</vt:lpstr>
      <vt:lpstr>Delphi Cost Estimation Technique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E-Business</dc:title>
  <dc:creator>Harendra Bikram Shah</dc:creator>
  <cp:lastModifiedBy>kushal pokharel</cp:lastModifiedBy>
  <cp:revision>308</cp:revision>
  <dcterms:created xsi:type="dcterms:W3CDTF">2024-09-24T16:02:49Z</dcterms:created>
  <dcterms:modified xsi:type="dcterms:W3CDTF">2024-12-02T14:38:31Z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