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6" r:id="rId13"/>
    <p:sldId id="277" r:id="rId14"/>
    <p:sldId id="285" r:id="rId15"/>
    <p:sldId id="275" r:id="rId16"/>
    <p:sldId id="278" r:id="rId17"/>
    <p:sldId id="279" r:id="rId18"/>
    <p:sldId id="286" r:id="rId19"/>
    <p:sldId id="287" r:id="rId20"/>
    <p:sldId id="288" r:id="rId21"/>
    <p:sldId id="289" r:id="rId22"/>
    <p:sldId id="290" r:id="rId23"/>
    <p:sldId id="280" r:id="rId24"/>
    <p:sldId id="281" r:id="rId25"/>
    <p:sldId id="282" r:id="rId26"/>
    <p:sldId id="283" r:id="rId27"/>
    <p:sldId id="274" r:id="rId28"/>
    <p:sldId id="284" r:id="rId29"/>
    <p:sldId id="291" r:id="rId30"/>
    <p:sldId id="292" r:id="rId31"/>
    <p:sldId id="293" r:id="rId32"/>
    <p:sldId id="263" r:id="rId33"/>
    <p:sldId id="264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843"/>
    <p:restoredTop sz="94291" autoAdjust="0"/>
  </p:normalViewPr>
  <p:slideViewPr>
    <p:cSldViewPr snapToGrid="0">
      <p:cViewPr varScale="1">
        <p:scale>
          <a:sx n="99" d="100"/>
          <a:sy n="99" d="100"/>
        </p:scale>
        <p:origin x="20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0B8D6-C4BD-46A4-9A82-08D4E8E6001C}" type="datetimeFigureOut">
              <a:rPr lang="en-IN" smtClean="0"/>
              <a:t>31/01/25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9A205-56FA-4820-9B78-BADF71C7EFD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types-of-software-architecture-patterns/#7-masterslave-architecture-pattern" TargetMode="External"/><Relationship Id="rId3" Type="http://schemas.openxmlformats.org/officeDocument/2006/relationships/hyperlink" Target="https://www.geeksforgeeks.org/types-of-software-architecture-patterns/#2-clientserver-pattern" TargetMode="External"/><Relationship Id="rId7" Type="http://schemas.openxmlformats.org/officeDocument/2006/relationships/hyperlink" Target="https://www.geeksforgeeks.org/types-of-software-architecture-patterns/#6-spacebased-architecture-pattern" TargetMode="External"/><Relationship Id="rId2" Type="http://schemas.openxmlformats.org/officeDocument/2006/relationships/hyperlink" Target="https://www.geeksforgeeks.org/types-of-software-architecture-patterns/#1-layered-pattern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eeksforgeeks.org/types-of-software-architecture-patterns/#5-microservices-pattern" TargetMode="External"/><Relationship Id="rId11" Type="http://schemas.openxmlformats.org/officeDocument/2006/relationships/hyperlink" Target="https://www.geeksforgeeks.org/types-of-software-architecture-patterns/#10-peertopeer-architecture-pattern" TargetMode="External"/><Relationship Id="rId5" Type="http://schemas.openxmlformats.org/officeDocument/2006/relationships/hyperlink" Target="https://www.geeksforgeeks.org/types-of-software-architecture-patterns/#4-microkernel-pattern" TargetMode="External"/><Relationship Id="rId10" Type="http://schemas.openxmlformats.org/officeDocument/2006/relationships/hyperlink" Target="https://www.geeksforgeeks.org/types-of-software-architecture-patterns/#9-broker-architecture-pattern" TargetMode="External"/><Relationship Id="rId4" Type="http://schemas.openxmlformats.org/officeDocument/2006/relationships/hyperlink" Target="https://www.geeksforgeeks.org/types-of-software-architecture-patterns/#3-eventdriven-pattern" TargetMode="External"/><Relationship Id="rId9" Type="http://schemas.openxmlformats.org/officeDocument/2006/relationships/hyperlink" Target="https://www.geeksforgeeks.org/types-of-software-architecture-patterns/#8-pipefilter-architecture-pattern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61fab65cb0894541b591a461_Layered-Arch.jpeg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06-client_server_architecture.pn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file:////Users/hbs/Library/Group%20Containers/UBF8T346G9.ms/WebArchiveCopyPasteTempFiles/com.microsoft.Word/06-repository_architecture.pn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https://miro.medium.com/v2/resize:fit:1400/1*S4KQWxmuTdQSh5v-M731Xw.png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94675"/>
            <a:ext cx="12084148" cy="1172738"/>
          </a:xfrm>
        </p:spPr>
        <p:txBody>
          <a:bodyPr>
            <a:noAutofit/>
          </a:bodyPr>
          <a:lstStyle/>
          <a:p>
            <a:pPr marL="228600">
              <a:lnSpc>
                <a:spcPct val="107000"/>
              </a:lnSpc>
            </a:pPr>
            <a:r>
              <a:rPr lang="en-US" sz="3600" b="1" dirty="0">
                <a:latin typeface="Times New Roman" panose="02020603050405020304" pitchFamily="18" charset="0"/>
                <a:sym typeface="+mn-ea"/>
              </a:rPr>
              <a:t>Chapter 4</a:t>
            </a:r>
            <a:br>
              <a:rPr lang="en-US" sz="3600" b="1" dirty="0">
                <a:latin typeface="Times New Roman" panose="02020603050405020304" pitchFamily="18" charset="0"/>
                <a:sym typeface="+mn-ea"/>
              </a:rPr>
            </a:br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DESIGN, ARCHITECTURE AND PRINCIPLES</a:t>
            </a: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3490" y="3429000"/>
            <a:ext cx="9144000" cy="2934325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GB" sz="28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</a:t>
            </a:r>
          </a:p>
          <a:p>
            <a:r>
              <a:rPr lang="en-GB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</a:p>
          <a:p>
            <a:r>
              <a:rPr lang="en-GB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US" altLang="en-GB" sz="2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</a:t>
            </a:r>
          </a:p>
          <a:p>
            <a:r>
              <a:rPr lang="en-US" altLang="en-GB" sz="2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3260" y="1667413"/>
            <a:ext cx="1961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Hour:7hrs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E6E58-2E17-DCC4-F068-C5175495A0EB}"/>
              </a:ext>
            </a:extLst>
          </p:cNvPr>
          <p:cNvSpPr txBox="1"/>
          <p:nvPr/>
        </p:nvSpPr>
        <p:spPr>
          <a:xfrm>
            <a:off x="110446" y="657138"/>
            <a:ext cx="9670551" cy="389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4.1 Design Modeling Principles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4.2 Design Process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4.3 Architectural design	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4.3.1 Layered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4.3.2 Repository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4.3.3 Client Server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4.3.4 Pipe and Filter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4.4 Interface, Component, Database Design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4.5 Design Patterns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4.6 Security by Design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4.7 Object Oriented Design </a:t>
            </a:r>
          </a:p>
          <a:p>
            <a:pPr>
              <a:lnSpc>
                <a:spcPct val="115000"/>
              </a:lnSpc>
            </a:pPr>
            <a:r>
              <a:rPr lang="en-GB" sz="1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4.8 Embedded System Design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A81EC-4386-9ED8-A75C-D06AE482A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5A891-DAC3-C5C0-5819-35122C99D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rmAutofit fontScale="90000"/>
          </a:bodyPr>
          <a:lstStyle/>
          <a:p>
            <a:r>
              <a:rPr lang="en-GB" sz="6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Modeling Principles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esign Modeling in Software Engineering">
            <a:extLst>
              <a:ext uri="{FF2B5EF4-FFF2-40B4-BE49-F238E27FC236}">
                <a16:creationId xmlns:a16="http://schemas.microsoft.com/office/drawing/2014/main" id="{140B795A-9590-3AD6-5431-05D7ABB65A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88" t="27551" r="5265" b="11937"/>
          <a:stretch/>
        </p:blipFill>
        <p:spPr bwMode="auto">
          <a:xfrm>
            <a:off x="2219218" y="2083368"/>
            <a:ext cx="6657654" cy="384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024908F5-866E-0F3B-EFA1-E09D0ADE3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6150"/>
            <a:ext cx="1034879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 features of the software that helps engineer to develop it effectively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methods like data-driven, pattern-driven, or object-oriented methods are used for constructing the design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these methods use set of design principles for designing a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9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2B401-55C5-7130-CA10-B8DBE05C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2B3F9-D27A-726F-6915-317DFE4A1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rmAutofit fontScale="90000"/>
          </a:bodyPr>
          <a:lstStyle/>
          <a:p>
            <a:r>
              <a:rPr lang="en-GB" sz="60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Modeling Principles</a:t>
            </a:r>
            <a:endParaRPr lang="en-IN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0FE004A-6FF0-72B1-5CD9-64E8DBE3A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756" y="1057168"/>
            <a:ext cx="709944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must be traceable to the analysis model: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consider architecture of the system to be built: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the design of the data: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interfaces should consider the user first: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should be loosely coupled: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both user and internal must be designed: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level design should exhibit Functional independence:</a:t>
            </a:r>
          </a:p>
        </p:txBody>
      </p:sp>
    </p:spTree>
    <p:extLst>
      <p:ext uri="{BB962C8B-B14F-4D97-AF65-F5344CB8AC3E}">
        <p14:creationId xmlns:p14="http://schemas.microsoft.com/office/powerpoint/2010/main" val="216661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2319D-4E89-3C4B-48C5-32E7ABBBA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68A0-054E-3BD7-5058-D5D4A3CCC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Autofit/>
          </a:bodyPr>
          <a:lstStyle/>
          <a:p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</a:t>
            </a:r>
            <a:endParaRPr lang="en-IN" sz="4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64148-37CD-80D7-5ACB-5ED9E0E68F4F}"/>
              </a:ext>
            </a:extLst>
          </p:cNvPr>
          <p:cNvSpPr txBox="1"/>
          <p:nvPr/>
        </p:nvSpPr>
        <p:spPr>
          <a:xfrm>
            <a:off x="0" y="767105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mechanism to transform user requirements into some suitable form, which helps the programmer in software coding and implementation.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deals with representing the client's requirement, as described in SRS (Software Requirement Specification) document, into a form, i.e., easily implementable using programming language.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Software Design">
            <a:extLst>
              <a:ext uri="{FF2B5EF4-FFF2-40B4-BE49-F238E27FC236}">
                <a16:creationId xmlns:a16="http://schemas.microsoft.com/office/drawing/2014/main" id="{D96A514D-68B5-3905-7D24-F0037B586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887" y="2039920"/>
            <a:ext cx="6350000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957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3C2EB-B9A2-8D26-185A-B7E8E211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C63A6-A39B-2717-7C54-208CCA052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Autofit/>
          </a:bodyPr>
          <a:lstStyle/>
          <a:p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</a:t>
            </a:r>
            <a:endParaRPr lang="en-IN" sz="4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B232C-182F-B6ED-3060-5E14A30F6BCE}"/>
              </a:ext>
            </a:extLst>
          </p:cNvPr>
          <p:cNvSpPr txBox="1"/>
          <p:nvPr/>
        </p:nvSpPr>
        <p:spPr>
          <a:xfrm>
            <a:off x="0" y="1023765"/>
            <a:ext cx="12051587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software design process can be divided into the following three levels or phases of design: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Design:</a:t>
            </a:r>
            <a:r>
              <a:rPr lang="en-GB" b="1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 of the interaction between a system and its environment.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Design:</a:t>
            </a:r>
            <a:r>
              <a:rPr lang="en-GB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 of the major components of a system, their responsibilities, properties, interfaces, and the relationships and interactions between them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Design:</a:t>
            </a:r>
            <a:r>
              <a:rPr lang="en-GB" b="0" i="0" u="none" strike="noStrike" dirty="0">
                <a:solidFill>
                  <a:srgbClr val="FFFFFF"/>
                </a:solidFill>
                <a:effectLst/>
                <a:latin typeface="Nunito" pitchFamily="2" charset="77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 of the internal elements of all major system components, their properties, relationships, processing, and often their algorithms and the data structures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6812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D6AE-1144-055A-99D8-09CF1317C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64CD1-E6C9-B04C-9A2B-3AD2A2A0C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4105"/>
            <a:ext cx="9144000" cy="748376"/>
          </a:xfrm>
        </p:spPr>
        <p:txBody>
          <a:bodyPr>
            <a:noAutofit/>
          </a:bodyPr>
          <a:lstStyle/>
          <a:p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DESIGN PROCESS</a:t>
            </a:r>
            <a:endParaRPr lang="en-IN" sz="4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2" name="Picture 4" descr="Lightbox">
            <a:extLst>
              <a:ext uri="{FF2B5EF4-FFF2-40B4-BE49-F238E27FC236}">
                <a16:creationId xmlns:a16="http://schemas.microsoft.com/office/drawing/2014/main" id="{0B5C790D-E242-6D76-3099-E78E8281F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233" y="1289255"/>
            <a:ext cx="7224909" cy="4967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2025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F9DDC-4F43-A7C0-3E35-9289477E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82069-355F-8F2A-EFE9-099C78DFD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748376"/>
          </a:xfrm>
        </p:spPr>
        <p:txBody>
          <a:bodyPr>
            <a:noAutofit/>
          </a:bodyPr>
          <a:lstStyle/>
          <a:p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</a:t>
            </a:r>
            <a:endParaRPr lang="en-IN" sz="4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7D020-79CA-58D0-9C9E-BA7545A0E1D3}"/>
              </a:ext>
            </a:extLst>
          </p:cNvPr>
          <p:cNvSpPr txBox="1"/>
          <p:nvPr/>
        </p:nvSpPr>
        <p:spPr>
          <a:xfrm>
            <a:off x="0" y="1018217"/>
            <a:ext cx="11855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u="none" strike="noStrike" dirty="0">
                <a:solidFill>
                  <a:srgbClr val="2B2A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"The process of defining a collection of hardware and software components and their interfaces to establish the framework for the development of a computer system" is how the IEEE defines architectural design.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F65B5A-F54C-A2BC-D5F4-1691AAA62B7F}"/>
              </a:ext>
            </a:extLst>
          </p:cNvPr>
          <p:cNvSpPr txBox="1"/>
          <p:nvPr/>
        </p:nvSpPr>
        <p:spPr>
          <a:xfrm>
            <a:off x="184935" y="1664548"/>
            <a:ext cx="4356244" cy="463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Components of Architectural Design: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Organization: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Abstraction and Decomposition:</a:t>
            </a:r>
            <a:endParaRPr lang="en-GB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 Patterns: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Architectural Styles: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Management: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Interaction and Communication: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Scalability: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Optimization and performance: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Concerns with Cross-Cutting: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Extensibility and Flexibility: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Communication and Documentation: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Validation and Testing: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Maintainability: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Cost factors to consider: </a:t>
            </a:r>
          </a:p>
        </p:txBody>
      </p:sp>
      <p:pic>
        <p:nvPicPr>
          <p:cNvPr id="9218" name="Picture 2" descr="Software Architecture Types">
            <a:extLst>
              <a:ext uri="{FF2B5EF4-FFF2-40B4-BE49-F238E27FC236}">
                <a16:creationId xmlns:a16="http://schemas.microsoft.com/office/drawing/2014/main" id="{15712C58-34BA-1730-824F-7B8B2F5B5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800" y="1810598"/>
            <a:ext cx="73660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958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424C-AA5F-095D-8410-91BA097EA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D0E04-1FD6-E46C-AAF7-F8DB21967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748376"/>
          </a:xfrm>
        </p:spPr>
        <p:txBody>
          <a:bodyPr>
            <a:noAutofit/>
          </a:bodyPr>
          <a:lstStyle/>
          <a:p>
            <a:r>
              <a:rPr lang="en-GB" sz="48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DESIGN</a:t>
            </a:r>
            <a:endParaRPr lang="en-IN" sz="4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CDDBC7-60F2-5EEA-0340-B5655EA21A30}"/>
              </a:ext>
            </a:extLst>
          </p:cNvPr>
          <p:cNvSpPr txBox="1"/>
          <p:nvPr/>
        </p:nvSpPr>
        <p:spPr>
          <a:xfrm>
            <a:off x="100173" y="842481"/>
            <a:ext cx="5879388" cy="5800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Properties of Architectural Design: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Modularity: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Scalability: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Maintainability: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Flexibility: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Reliability: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Security: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Documentation:</a:t>
            </a:r>
          </a:p>
          <a:p>
            <a:pPr algn="just">
              <a:lnSpc>
                <a:spcPct val="115000"/>
              </a:lnSpc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 of Architectural Design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Structure and Clarity: 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Modularity: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Scalability: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Maintenance and Expandability: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 Optimization: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Security: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Reliability: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Interoperability: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8DEA25-CA5E-970A-6192-4B7EF8A4BD62}"/>
              </a:ext>
            </a:extLst>
          </p:cNvPr>
          <p:cNvSpPr txBox="1"/>
          <p:nvPr/>
        </p:nvSpPr>
        <p:spPr>
          <a:xfrm>
            <a:off x="5979561" y="3742794"/>
            <a:ext cx="5026631" cy="293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 of Architectural Design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Initial Time Investment: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Over-Engineering: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Rigidity: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Complexity: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Misalignment with Requirements: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Resistance to Change: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Communication Challenges: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Resource Intensive: 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77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229EA-77CA-63C2-A27F-57F703F2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CAF9D-6120-FAA0-C941-57E254347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748376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ARCHITECTURAL DESIGN PATTERNS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4EBF46-91DF-C17B-7A28-53E9F61521CC}"/>
              </a:ext>
            </a:extLst>
          </p:cNvPr>
          <p:cNvSpPr txBox="1"/>
          <p:nvPr/>
        </p:nvSpPr>
        <p:spPr>
          <a:xfrm>
            <a:off x="863029" y="1356189"/>
            <a:ext cx="624155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Layered Architecture Pattern 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Client-Server Architecture Pattern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Event-Driven Architecture Pattern 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4. Microkernel Architecture Pattern 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5. Microservices Architecture Pattern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6. Space-Based Architecture Pattern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7. Master-Slave Architecture Pattern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8. Pipe-Filter Architecture Pattern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9. Broker Architecture Pattern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>
              <a:spcBef>
                <a:spcPts val="375"/>
              </a:spcBef>
              <a:spcAft>
                <a:spcPts val="375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 Peer-to-Peer Architecture Pattern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18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B21F1-8947-C6F1-0AFD-0BEC1420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FFB9-4736-5DFF-C233-35986C340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748376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ARCHITECTURAL DESIGN PATTERNS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F75F69E-1F07-6604-0E3F-BDBAEAB58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39" y="118152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41" name="Picture 12" descr="5 Common Software Architecture Patterns — Crowdbotics">
            <a:extLst>
              <a:ext uri="{FF2B5EF4-FFF2-40B4-BE49-F238E27FC236}">
                <a16:creationId xmlns:a16="http://schemas.microsoft.com/office/drawing/2014/main" id="{33AE287E-D768-E930-21CB-9D30A6C2B1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9" b="10751"/>
          <a:stretch>
            <a:fillRect/>
          </a:stretch>
        </p:blipFill>
        <p:spPr bwMode="auto">
          <a:xfrm>
            <a:off x="2265452" y="1163025"/>
            <a:ext cx="7358009" cy="348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E5992A-88BB-F9F9-CB54-ACA940F808BB}"/>
              </a:ext>
            </a:extLst>
          </p:cNvPr>
          <p:cNvSpPr txBox="1"/>
          <p:nvPr/>
        </p:nvSpPr>
        <p:spPr>
          <a:xfrm>
            <a:off x="192641" y="3953505"/>
            <a:ext cx="37526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Scalability: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Flexibility: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Maintainability: </a:t>
            </a:r>
          </a:p>
          <a:p>
            <a:pPr lvl="0">
              <a:tabLst>
                <a:tab pos="457200" algn="l"/>
              </a:tabLs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Complexity: 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 Overhead: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Strict Layer Separation: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95BBD2-0D33-25F4-4C10-F325B211B931}"/>
              </a:ext>
            </a:extLst>
          </p:cNvPr>
          <p:cNvSpPr txBox="1"/>
          <p:nvPr/>
        </p:nvSpPr>
        <p:spPr>
          <a:xfrm>
            <a:off x="3838254" y="4784502"/>
            <a:ext cx="81611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Cases: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Enterprise Applications like Customer Relationship Management (CRM).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 Applications like E-commerce platforms.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Desktop Applications such as Financial Software.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 Applications like Banking applications.</a:t>
            </a:r>
          </a:p>
          <a:p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Content Management Systems like WordPress</a:t>
            </a:r>
            <a:r>
              <a:rPr lang="en-GB" dirty="0">
                <a:effectLst/>
              </a:rPr>
              <a:t>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F8EF9F-BCC6-E5AD-0CF7-6A4C4A8863DA}"/>
              </a:ext>
            </a:extLst>
          </p:cNvPr>
          <p:cNvSpPr txBox="1"/>
          <p:nvPr/>
        </p:nvSpPr>
        <p:spPr>
          <a:xfrm>
            <a:off x="0" y="812196"/>
            <a:ext cx="6241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Layered Architecture Pattern </a:t>
            </a:r>
            <a:r>
              <a:rPr lang="en-GB" dirty="0">
                <a:solidFill>
                  <a:srgbClr val="FF0000"/>
                </a:solidFill>
                <a:effectLst/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8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FDB67-D8BF-5F4E-A523-E7609E06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A5B27A08-77BD-36CE-6DD6-BA4E23FE7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39" y="118152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89EB9C-9A83-1E67-1865-AC882AFE72D7}"/>
              </a:ext>
            </a:extLst>
          </p:cNvPr>
          <p:cNvSpPr txBox="1"/>
          <p:nvPr/>
        </p:nvSpPr>
        <p:spPr>
          <a:xfrm>
            <a:off x="2702103" y="113285"/>
            <a:ext cx="6241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ts val="375"/>
              </a:spcBef>
              <a:spcAft>
                <a:spcPts val="375"/>
              </a:spcAft>
            </a:pPr>
            <a:r>
              <a:rPr lang="en-GB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Client-Server Architecture Pattern</a:t>
            </a:r>
            <a:r>
              <a:rPr lang="en-GB" sz="24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3D9905-AC4E-E03C-DF32-233CC9F05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667" y="5749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289" name="Picture 8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28B23D25-D2BE-41F3-195C-F543EBCAA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735" y="574949"/>
            <a:ext cx="7746714" cy="361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AF559F-664F-9978-726B-6974CBB1F7CF}"/>
              </a:ext>
            </a:extLst>
          </p:cNvPr>
          <p:cNvSpPr txBox="1"/>
          <p:nvPr/>
        </p:nvSpPr>
        <p:spPr>
          <a:xfrm>
            <a:off x="66781" y="4159392"/>
            <a:ext cx="52706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Centralized Management: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Scalability: 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Security: </a:t>
            </a:r>
          </a:p>
          <a:p>
            <a:pPr lvl="0">
              <a:tabLst>
                <a:tab pos="457200" algn="l"/>
              </a:tabLst>
            </a:pPr>
            <a:endParaRPr lang="en-GB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Single Point of Failure: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Costly: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Complexity: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95C793-1BDF-FB45-7842-6865B16464A0}"/>
              </a:ext>
            </a:extLst>
          </p:cNvPr>
          <p:cNvSpPr txBox="1"/>
          <p:nvPr/>
        </p:nvSpPr>
        <p:spPr>
          <a:xfrm>
            <a:off x="5034337" y="4799309"/>
            <a:ext cx="63802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Cases: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 Applications like Amazon.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Email Services like Gmail, Outlook.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 Sharing Services like Dropbox, Google Drive.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 Streaming Services like Netflix.</a:t>
            </a: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Education Platforms like Moodle.</a:t>
            </a:r>
          </a:p>
        </p:txBody>
      </p:sp>
    </p:spTree>
    <p:extLst>
      <p:ext uri="{BB962C8B-B14F-4D97-AF65-F5344CB8AC3E}">
        <p14:creationId xmlns:p14="http://schemas.microsoft.com/office/powerpoint/2010/main" val="4288140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E957-25CF-522E-5F42-9476541EA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8534AA8C-2AFC-B928-B1AC-92A67B218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39" y="118152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F2468C-962D-267D-CAEC-1FB5DB3F9A98}"/>
              </a:ext>
            </a:extLst>
          </p:cNvPr>
          <p:cNvSpPr txBox="1"/>
          <p:nvPr/>
        </p:nvSpPr>
        <p:spPr>
          <a:xfrm>
            <a:off x="2702103" y="113285"/>
            <a:ext cx="6241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ts val="375"/>
              </a:spcBef>
              <a:spcAft>
                <a:spcPts val="375"/>
              </a:spcAft>
            </a:pPr>
            <a:r>
              <a:rPr lang="en-GB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Repository Architecture Pattern</a:t>
            </a:r>
            <a:r>
              <a:rPr lang="en-GB" sz="24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C97A1CE-E4F8-C913-2ED5-5CCA0EE97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667" y="5749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A578C7F-181E-1C0C-FCDD-4536D36A8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103" y="64727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4337" name="Picture 10" descr="A diagram of a project&#10;&#10;Description automatically generated">
            <a:extLst>
              <a:ext uri="{FF2B5EF4-FFF2-40B4-BE49-F238E27FC236}">
                <a16:creationId xmlns:a16="http://schemas.microsoft.com/office/drawing/2014/main" id="{726F2915-A0B2-8646-573A-8BF447FAE0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539" y="567500"/>
            <a:ext cx="5943600" cy="3218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C2DE00-82B0-656B-C3CE-F96EAA1622DE}"/>
              </a:ext>
            </a:extLst>
          </p:cNvPr>
          <p:cNvSpPr txBox="1"/>
          <p:nvPr/>
        </p:nvSpPr>
        <p:spPr>
          <a:xfrm>
            <a:off x="0" y="3785615"/>
            <a:ext cx="6097712" cy="293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Benefits of Repository Architecture: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buAutoNum type="arabicPeriod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Improved Testability: 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>
              <a:lnSpc>
                <a:spcPct val="115000"/>
              </a:lnSpc>
              <a:buAutoNum type="arabicPeriod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Flexibility and Scalability: </a:t>
            </a:r>
          </a:p>
          <a:p>
            <a:pPr marL="342900" indent="-342900" algn="just">
              <a:lnSpc>
                <a:spcPct val="115000"/>
              </a:lnSpc>
              <a:buAutoNum type="arabicPeriod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Centralized Query Management</a:t>
            </a:r>
          </a:p>
          <a:p>
            <a:pPr algn="just">
              <a:lnSpc>
                <a:spcPct val="115000"/>
              </a:lnSpc>
            </a:pPr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 of Repository Architecture Pattern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Increased Complexity: 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 Overheads: 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Redundant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FAEEE-29BE-1121-2669-719CB2150C86}"/>
              </a:ext>
            </a:extLst>
          </p:cNvPr>
          <p:cNvSpPr txBox="1"/>
          <p:nvPr/>
        </p:nvSpPr>
        <p:spPr>
          <a:xfrm>
            <a:off x="5311739" y="5257716"/>
            <a:ext cx="6123398" cy="134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Cases of Repository Architecture Pattern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Enterprise Applications: 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Applications with Multiple Data Sources: </a:t>
            </a:r>
          </a:p>
        </p:txBody>
      </p:sp>
    </p:spTree>
    <p:extLst>
      <p:ext uri="{BB962C8B-B14F-4D97-AF65-F5344CB8AC3E}">
        <p14:creationId xmlns:p14="http://schemas.microsoft.com/office/powerpoint/2010/main" val="2039484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9194D-CDAE-25B8-8C7B-0E730620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EE3200E4-046D-6E44-343D-45940726F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39" y="118152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5F867D-9BD4-C263-2B5C-D5987C53C85E}"/>
              </a:ext>
            </a:extLst>
          </p:cNvPr>
          <p:cNvSpPr txBox="1"/>
          <p:nvPr/>
        </p:nvSpPr>
        <p:spPr>
          <a:xfrm>
            <a:off x="2702103" y="113285"/>
            <a:ext cx="6241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ts val="375"/>
              </a:spcBef>
              <a:spcAft>
                <a:spcPts val="375"/>
              </a:spcAft>
            </a:pPr>
            <a:r>
              <a:rPr lang="en-GB" sz="24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Pipe Filter Architecture Pattern</a:t>
            </a:r>
            <a:r>
              <a:rPr lang="en-GB" sz="24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E075B7C-6EC9-28F7-A110-DC8B8E060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5667" y="57495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5C264B5-8CB1-2DE1-16E0-359DF71CA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103" y="64727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168C7D-FA89-73F0-05B4-D2DAA8EF1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539" y="5909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1" descr="A diagram of a pipe&#10;&#10;Description automatically generated">
            <a:extLst>
              <a:ext uri="{FF2B5EF4-FFF2-40B4-BE49-F238E27FC236}">
                <a16:creationId xmlns:a16="http://schemas.microsoft.com/office/drawing/2014/main" id="{50C89C58-841A-2D87-7FE0-E2E1AFA0A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869" y="1397839"/>
            <a:ext cx="6865065" cy="1419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0C14E8-D9AA-8630-F17E-8CA631831AD4}"/>
              </a:ext>
            </a:extLst>
          </p:cNvPr>
          <p:cNvSpPr txBox="1"/>
          <p:nvPr/>
        </p:nvSpPr>
        <p:spPr>
          <a:xfrm>
            <a:off x="138272" y="3213614"/>
            <a:ext cx="3272750" cy="3252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Advantages: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Reusability: </a:t>
            </a:r>
          </a:p>
          <a:p>
            <a:pPr marL="342900" lvl="0" indent="-342900" algn="just">
              <a:lnSpc>
                <a:spcPct val="115000"/>
              </a:lnSpc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Scalability: </a:t>
            </a:r>
          </a:p>
          <a:p>
            <a:pPr marL="342900" lvl="0" indent="-342900" algn="just">
              <a:lnSpc>
                <a:spcPct val="115000"/>
              </a:lnSpc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Parallelism: </a:t>
            </a:r>
          </a:p>
          <a:p>
            <a:pPr lvl="0" algn="just">
              <a:lnSpc>
                <a:spcPct val="115000"/>
              </a:lnSpc>
              <a:tabLst>
                <a:tab pos="457200" algn="l"/>
              </a:tabLst>
            </a:pPr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Disadvantages: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Debugging Difficulty: </a:t>
            </a:r>
          </a:p>
          <a:p>
            <a:pPr marL="342900" lvl="0" indent="-342900" algn="just">
              <a:lnSpc>
                <a:spcPct val="115000"/>
              </a:lnSpc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Format constraints: </a:t>
            </a:r>
          </a:p>
          <a:p>
            <a:pPr marL="342900" lvl="0" indent="-342900" algn="just">
              <a:lnSpc>
                <a:spcPct val="115000"/>
              </a:lnSpc>
              <a:buAutoNum type="arabicPeriod"/>
              <a:tabLst>
                <a:tab pos="457200" algn="l"/>
              </a:tabLst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Latency: </a:t>
            </a:r>
          </a:p>
          <a:p>
            <a:pPr lvl="0" algn="just">
              <a:lnSpc>
                <a:spcPct val="115000"/>
              </a:lnSpc>
              <a:tabLst>
                <a:tab pos="457200" algn="l"/>
              </a:tabLst>
            </a:pPr>
            <a:endParaRPr lang="en-GB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FE8499-D43D-61A9-DDA1-6CA2122525D0}"/>
              </a:ext>
            </a:extLst>
          </p:cNvPr>
          <p:cNvSpPr txBox="1"/>
          <p:nvPr/>
        </p:nvSpPr>
        <p:spPr>
          <a:xfrm>
            <a:off x="-1" y="574950"/>
            <a:ext cx="12191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Symbol" pitchFamily="2" charset="2"/>
              <a:buChar char="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structures a system around a series of processing elements called filters that are connected by pipes. </a:t>
            </a:r>
          </a:p>
          <a:p>
            <a:pPr marL="342900" lvl="0" indent="-342900" algn="just">
              <a:buFont typeface="Symbol" pitchFamily="2" charset="2"/>
              <a:buChar char="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Each filter processes data and passes it to the next filter via pipe.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C973FE-BEA9-2D97-FBD8-4F7FB14D6150}"/>
              </a:ext>
            </a:extLst>
          </p:cNvPr>
          <p:cNvSpPr txBox="1"/>
          <p:nvPr/>
        </p:nvSpPr>
        <p:spPr>
          <a:xfrm>
            <a:off x="4412750" y="4250350"/>
            <a:ext cx="7407666" cy="1978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Cases: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2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Processing Pipelines like Extract, Transform, Load (ETL) processes in data warehousing.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2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Compilers.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2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Stream-Processing like Apache Flink.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2"/>
              <a:tabLst>
                <a:tab pos="457200" algn="l"/>
              </a:tabLst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 and Signal Processing.</a:t>
            </a:r>
          </a:p>
        </p:txBody>
      </p:sp>
    </p:spTree>
    <p:extLst>
      <p:ext uri="{BB962C8B-B14F-4D97-AF65-F5344CB8AC3E}">
        <p14:creationId xmlns:p14="http://schemas.microsoft.com/office/powerpoint/2010/main" val="2099522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CEEA-D72F-4335-EF33-0852468BE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911FDF-499D-F72E-0114-38EA3FB54A10}"/>
              </a:ext>
            </a:extLst>
          </p:cNvPr>
          <p:cNvSpPr txBox="1"/>
          <p:nvPr/>
        </p:nvSpPr>
        <p:spPr>
          <a:xfrm>
            <a:off x="232881" y="598496"/>
            <a:ext cx="11959119" cy="4396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Architecture</a:t>
            </a:r>
          </a:p>
          <a:p>
            <a:pPr algn="ctr" fontAlgn="base"/>
            <a:endParaRPr lang="en-GB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base"/>
            <a:endParaRPr lang="en-GB" sz="2400" b="1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spcAft>
                <a:spcPts val="750"/>
              </a:spcAft>
            </a:pPr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 are some key considerations to help choose the right architecture pattern: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 </a:t>
            </a:r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well the system need to scale with the increasing load?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Performance: </a:t>
            </a:r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 there any specific performance requirements such as low latency?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 </a:t>
            </a:r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Does the system need to be fault-tolerant?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Security: </a:t>
            </a:r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security requirements of the system and what are the potential threats?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Budget: </a:t>
            </a:r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budget constraints for the development and the maintenance of the system?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GB" b="1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 Stack: </a:t>
            </a:r>
            <a:r>
              <a:rPr lang="en-GB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technology and tools will be required?</a:t>
            </a:r>
          </a:p>
        </p:txBody>
      </p:sp>
    </p:spTree>
    <p:extLst>
      <p:ext uri="{BB962C8B-B14F-4D97-AF65-F5344CB8AC3E}">
        <p14:creationId xmlns:p14="http://schemas.microsoft.com/office/powerpoint/2010/main" val="1820358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54DA-3BC3-2B4E-3A11-4FD5753C2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D5A5F-07E8-A309-5832-A8954E21E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625086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Interface, Component, Database Design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EBA8F-A383-6FAB-EB9E-334179B60B76}"/>
              </a:ext>
            </a:extLst>
          </p:cNvPr>
          <p:cNvSpPr txBox="1"/>
          <p:nvPr/>
        </p:nvSpPr>
        <p:spPr>
          <a:xfrm>
            <a:off x="305655" y="719191"/>
            <a:ext cx="11242497" cy="5759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/>
            <a:r>
              <a:rPr lang="en-US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Interface Design: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  <a:tabLst>
                <a:tab pos="685800" algn="l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a crucial aspect of software engineering that focuses on the interaction between a user and a system. </a:t>
            </a:r>
          </a:p>
          <a:p>
            <a:pPr algn="just">
              <a:lnSpc>
                <a:spcPct val="115000"/>
              </a:lnSpc>
              <a:tabLst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tabLst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Principles of Interface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User-</a:t>
            </a:r>
            <a:r>
              <a:rPr lang="en-GB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Centered</a:t>
            </a: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Design: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2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Consistency and Standardization: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3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Clarity and Simplicity: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4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Accessibility: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5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Feedback and Error Handling: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tabLst>
                <a:tab pos="685800" algn="l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15000"/>
              </a:lnSpc>
              <a:tabLst>
                <a:tab pos="685800" algn="l"/>
              </a:tabLst>
            </a:pPr>
            <a:r>
              <a:rPr lang="en-GB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Steps in Interface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Interface Users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2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Define Functional Requirements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3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Choose Communication Protocols and Data Formats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4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 the Interface Structure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5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Documentation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6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 and Test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tabLst>
                <a:tab pos="685800" algn="l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1345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E4AC0-7E4F-66DC-36EF-1010F891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1D08-AB7D-D4AE-9D71-8488ED6E0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625086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Interface, Component, Database Design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36F62D-3267-7980-D036-5B8E6119E0E1}"/>
              </a:ext>
            </a:extLst>
          </p:cNvPr>
          <p:cNvSpPr txBox="1"/>
          <p:nvPr/>
        </p:nvSpPr>
        <p:spPr>
          <a:xfrm>
            <a:off x="-1713" y="719191"/>
            <a:ext cx="11590961" cy="4844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tabLst>
                <a:tab pos="685800" algn="l"/>
              </a:tabLst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Types of Interfaces: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Graphical User Interface (GUI):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2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Command-Line Interface (CLI):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tabLst>
                <a:tab pos="685800" algn="l"/>
              </a:tabLst>
            </a:pPr>
            <a:endParaRPr lang="en-GB" b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tabLst>
                <a:tab pos="685800" algn="l"/>
              </a:tabLst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Tools for Interface Design: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 Tools: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Figma, Adobe XD, Sketch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Prototyping Tools: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InVision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ProtoPie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 Testing Tools: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UserTesting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Lookback</a:t>
            </a:r>
          </a:p>
          <a:p>
            <a:pPr algn="just">
              <a:lnSpc>
                <a:spcPct val="115000"/>
              </a:lnSpc>
              <a:tabLst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tabLst>
                <a:tab pos="685800" algn="l"/>
              </a:tabLst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Best Practices for Interface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Know Your User: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Prioritize Clarity and Simplicity: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 Early and Often: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Iterate and Refine: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  <a:tab pos="6858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Accessibility: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001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87DCA-341E-56F9-3FD0-D8B40A98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FF39-3BD1-79D6-9FFC-F19F02A16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625086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Interface, Component, Database Design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4B6AF-0D06-2686-C5CF-6AF2F259184B}"/>
              </a:ext>
            </a:extLst>
          </p:cNvPr>
          <p:cNvSpPr txBox="1"/>
          <p:nvPr/>
        </p:nvSpPr>
        <p:spPr>
          <a:xfrm>
            <a:off x="-1" y="719190"/>
            <a:ext cx="12191999" cy="5476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685800" algn="l"/>
              </a:tabLst>
            </a:pPr>
            <a:r>
              <a:rPr lang="en-US" sz="20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Component Based Design: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all about taking complex software systems and making them into small, reusable pieces or simply modules. </a:t>
            </a:r>
          </a:p>
          <a:p>
            <a:pPr algn="just">
              <a:lnSpc>
                <a:spcPct val="115000"/>
              </a:lnSpc>
            </a:pPr>
            <a:endParaRPr lang="en-GB" b="1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Importance of Component-Based Design in Software Development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improves modularity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Component-based design is so important for maintainability 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it comes to scalability, component-based design forms another vital benefit. 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Breaking down elements and establishing logical interfaces facilitate the creation of a modular system </a:t>
            </a:r>
          </a:p>
          <a:p>
            <a:pPr lvl="0" algn="just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GB" b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Characteristics of Component-Based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Below are the characteristics of component-based design: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Modularity: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Reusability: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Interoperability: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Encapsulation: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Scalability: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lvl="0" algn="just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51240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DDB8-0AC5-CA8F-3662-36E07E5EE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CEF9B-3DD6-B2A9-ECE0-A022E3984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625086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Interface, Component, Database Design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1666B-9D34-913A-AB45-39BF12F4AD58}"/>
              </a:ext>
            </a:extLst>
          </p:cNvPr>
          <p:cNvSpPr txBox="1"/>
          <p:nvPr/>
        </p:nvSpPr>
        <p:spPr>
          <a:xfrm>
            <a:off x="-1" y="719191"/>
            <a:ext cx="12191999" cy="5163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Types of Components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UI Components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 Components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Components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Infrastructure Components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Integration Components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Reusable Components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Principles of Component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Below are some important principles of component design: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Single Responsibility Principle (SRP):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Open/Closed Principle (OCP):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Interface Segregation Principle (ISP):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Dependency Inversion Principle (DIP):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Separation of Concerns (SoC):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lvl="0" algn="just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940664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5E140D-0C53-C8D0-88A3-667DDB94F584}"/>
              </a:ext>
            </a:extLst>
          </p:cNvPr>
          <p:cNvSpPr txBox="1"/>
          <p:nvPr/>
        </p:nvSpPr>
        <p:spPr>
          <a:xfrm>
            <a:off x="151543" y="472611"/>
            <a:ext cx="10852079" cy="5655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Tools and Technologies for Component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Component Frameworks: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Dependency Injection Containers: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Middleware Platforms: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Component Repositories: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Component Testing Tools: </a:t>
            </a:r>
          </a:p>
          <a:p>
            <a:pPr lvl="0" algn="just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Challenges of Component Design 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Granularity: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Interoperability: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Dependency Management: 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 Overhead: </a:t>
            </a:r>
          </a:p>
          <a:p>
            <a:pPr lvl="0" algn="just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en-GB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 world Examples of Component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E-commerce Platforms: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Content Management Systems (CMS):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Enterprise Resource Planning (ERP) Systems: </a:t>
            </a:r>
            <a:r>
              <a:rPr lang="en-GB" sz="2800" dirty="0">
                <a:effectLst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28215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C15F2-DA88-3216-F0FD-95C9BD11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6C601E-2406-397A-0CF2-14BC175EA8C9}"/>
              </a:ext>
            </a:extLst>
          </p:cNvPr>
          <p:cNvSpPr txBox="1"/>
          <p:nvPr/>
        </p:nvSpPr>
        <p:spPr>
          <a:xfrm>
            <a:off x="-84762" y="0"/>
            <a:ext cx="12276762" cy="5851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DATABASE DESIGN</a:t>
            </a:r>
            <a:endParaRPr lang="en-GB" sz="2400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Database design is the process of organizing data in a database to optimize its efficiency and usability. </a:t>
            </a:r>
          </a:p>
          <a:p>
            <a:pPr lvl="0" algn="just">
              <a:lnSpc>
                <a:spcPct val="115000"/>
              </a:lnSpc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Concepts in Database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Modeling: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2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Normalization: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3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Integrity: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4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Security: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algn="just">
              <a:lnSpc>
                <a:spcPct val="115000"/>
              </a:lnSpc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Database Design Process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Requirements Gathering: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Conceptual Data Modeling: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Logical Data Modeling: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Physical Data Modeling: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Implementation: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Testing: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Deployment: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98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FC408-C64E-E635-87ED-29555689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7BBB9B-204D-9C80-9ECD-9F3EFBFC4469}"/>
              </a:ext>
            </a:extLst>
          </p:cNvPr>
          <p:cNvSpPr txBox="1"/>
          <p:nvPr/>
        </p:nvSpPr>
        <p:spPr>
          <a:xfrm>
            <a:off x="-1712" y="0"/>
            <a:ext cx="12289604" cy="3889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Database Design Tools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 Diagram Tools: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Draw.io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GB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Lucidchart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Microsoft Visio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Database Design Tools: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SQL Server Management Studio, Oracle SQL Developer, MySQL Workbench</a:t>
            </a:r>
          </a:p>
          <a:p>
            <a:pPr algn="just">
              <a:lnSpc>
                <a:spcPct val="115000"/>
              </a:lnSpc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Best Practices for Database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Keep it Simple: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Normalize Data: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Index Wisely: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Optimize Queries: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Consider Performance: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Security: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Regular Backup: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71219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E8B1F-CC41-EF11-6167-726FA625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3816-DB09-0109-9F2C-1E0C7F5E9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625086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Pattern 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362" name="Picture 2" descr="types-of-design-patterns">
            <a:extLst>
              <a:ext uri="{FF2B5EF4-FFF2-40B4-BE49-F238E27FC236}">
                <a16:creationId xmlns:a16="http://schemas.microsoft.com/office/drawing/2014/main" id="{CB480733-C4FA-DA27-056C-A8CC81C2C0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6" t="3358" b="5126"/>
          <a:stretch/>
        </p:blipFill>
        <p:spPr bwMode="auto">
          <a:xfrm>
            <a:off x="380144" y="1017142"/>
            <a:ext cx="11431712" cy="557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563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7D812-718D-E993-4CC5-04EF04978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A59A0-9381-6FD4-556D-45908D9E68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625086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Creational Design Pattern 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 descr="Creational-Design-Patterns">
            <a:extLst>
              <a:ext uri="{FF2B5EF4-FFF2-40B4-BE49-F238E27FC236}">
                <a16:creationId xmlns:a16="http://schemas.microsoft.com/office/drawing/2014/main" id="{3E6962FC-66CD-2D7E-8D09-3DAEE3539C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82650"/>
            <a:ext cx="10172700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2667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38790-E92B-BF52-F74A-0D11E279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2137-2ABD-BA7E-B2F2-2DBC97F35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625086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Structural Design Pattern 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34" name="Picture 2" descr="Structural-Design-Patterns-(1)">
            <a:extLst>
              <a:ext uri="{FF2B5EF4-FFF2-40B4-BE49-F238E27FC236}">
                <a16:creationId xmlns:a16="http://schemas.microsoft.com/office/drawing/2014/main" id="{5808B578-3709-3E41-2F13-C7BD65B5B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650" y="882650"/>
            <a:ext cx="10172700" cy="50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024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50AF9-278F-0CE3-9B4B-9AEAB4C49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F0464-BFF1-C935-5511-55CB89ABA9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625086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Behavioral Design Pattern </a:t>
            </a:r>
            <a:endParaRPr lang="en-IN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458" name="Picture 2" descr="behaviour-design-patternss">
            <a:extLst>
              <a:ext uri="{FF2B5EF4-FFF2-40B4-BE49-F238E27FC236}">
                <a16:creationId xmlns:a16="http://schemas.microsoft.com/office/drawing/2014/main" id="{3D47E7F8-1E6C-C201-4AEF-F76493AFD9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5" t="5548" r="9663" b="8834"/>
          <a:stretch/>
        </p:blipFill>
        <p:spPr bwMode="auto">
          <a:xfrm>
            <a:off x="904125" y="1181527"/>
            <a:ext cx="10181691" cy="521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921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15A26-3551-8079-2B67-C2C017267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0BC59-A456-C017-9835-E0C1ED3D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450425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Patterns </a:t>
            </a:r>
            <a:r>
              <a:rPr lang="en-GB" sz="3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 Patterns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0E8C90-F2F0-E583-BA1A-4BAC9D6D1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899" y="544530"/>
            <a:ext cx="8506145" cy="621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9D43-81E6-7066-BA82-389E6896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597BC-03E6-7D0E-408F-78FE62F55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450425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by Design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400B1-C5E4-C932-2CB1-940261466943}"/>
              </a:ext>
            </a:extLst>
          </p:cNvPr>
          <p:cNvSpPr txBox="1"/>
          <p:nvPr/>
        </p:nvSpPr>
        <p:spPr>
          <a:xfrm>
            <a:off x="-1712" y="544530"/>
            <a:ext cx="12193712" cy="4531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a software engineering approach that incorporates security considerations into every stage of the development lifecycle. </a:t>
            </a:r>
          </a:p>
          <a:p>
            <a:pPr algn="just">
              <a:lnSpc>
                <a:spcPct val="115000"/>
              </a:lnSpc>
            </a:pPr>
            <a:endParaRPr lang="en-GB" b="1" u="sng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Core Principles of Security by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Principle of Least Privilege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Defense in Depth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Secure by Default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Separation of Duties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5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Fail Securely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5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Economy of Mechanism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5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Complete Mediation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5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 Design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5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Privacy by Design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5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Continuous Monitoring and Logging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7068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C9AEE-8A58-B481-485E-13F869B5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72B-C4C9-88A7-3F03-945C4D944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4105"/>
            <a:ext cx="12192000" cy="450425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by Design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E12AC2-6323-73EF-1857-7172FA4D206B}"/>
              </a:ext>
            </a:extLst>
          </p:cNvPr>
          <p:cNvSpPr txBox="1"/>
          <p:nvPr/>
        </p:nvSpPr>
        <p:spPr>
          <a:xfrm>
            <a:off x="-1" y="544529"/>
            <a:ext cx="7325475" cy="6124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Implementing Security by Design in the Development Lifecycle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Requirements Gathering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Threat Modeling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Secure Architecture Design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Code Review and Static Analysis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Automated Testing for Security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Security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Configuration and Deployment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 Control and Authentication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Logging and Monitoring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Incident Response and Recovery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Benefits of Security by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Reduced Vulnerabilities and Risks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Cost Savings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Regulatory Compliance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Increased Trust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Improved System Resilience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76305-5815-F270-7D2B-4239E551CA26}"/>
              </a:ext>
            </a:extLst>
          </p:cNvPr>
          <p:cNvSpPr txBox="1"/>
          <p:nvPr/>
        </p:nvSpPr>
        <p:spPr>
          <a:xfrm>
            <a:off x="5815173" y="3950429"/>
            <a:ext cx="6123398" cy="2470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 of Security by Design (Web Application)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Authentication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Encryption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API Security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Input Validation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Logging and Monitoring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GB" sz="2800" dirty="0">
                <a:effectLst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1604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808A-8021-3958-36A7-37D33F494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83DD-E237-1CC4-937A-180E8E004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93"/>
            <a:ext cx="12192000" cy="450425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 Design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E9A5B-1635-DF4F-9A2B-8E7E2F1C2988}"/>
              </a:ext>
            </a:extLst>
          </p:cNvPr>
          <p:cNvSpPr txBox="1"/>
          <p:nvPr/>
        </p:nvSpPr>
        <p:spPr>
          <a:xfrm>
            <a:off x="0" y="532618"/>
            <a:ext cx="12192000" cy="6108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sz="20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Embedded System Design: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itchFamily="2" charset="2"/>
              <a:buChar char=""/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Embedded System Design in Software Engineering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focuses on creating specialized computing systems that are tightly </a:t>
            </a:r>
          </a:p>
          <a:p>
            <a:pPr lvl="0" algn="just">
              <a:lnSpc>
                <a:spcPct val="115000"/>
              </a:lnSpc>
            </a:pPr>
            <a:endParaRPr lang="en-GB" b="1" u="sng" dirty="0">
              <a:solidFill>
                <a:srgbClr val="00B0F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 Aspects of Embedded System Design in Software Engineering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Requirement Analysis and Specification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Architecture Design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3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Software Design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3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Hardware and Software Integration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3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Communication Protocols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6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Testing and Validation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6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Optimization for Resources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 startAt="6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Deployment and Maintenance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Software Engineering Techniques in Embedded System Design: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Model-Based Development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Agile and Iterative Development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Static Code Analysis and Code Review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Simulation and Emulation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Debugging and Diagnostics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3863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807C-AE3F-DA22-653A-A8625BFF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9830-7A75-FB26-1BCE-A0B800CCF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93"/>
            <a:ext cx="12192000" cy="450425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 Design</a:t>
            </a:r>
            <a:endParaRPr lang="en-IN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86CE6-3B20-DCA5-EA3E-66936D72E4A7}"/>
              </a:ext>
            </a:extLst>
          </p:cNvPr>
          <p:cNvSpPr txBox="1"/>
          <p:nvPr/>
        </p:nvSpPr>
        <p:spPr>
          <a:xfrm>
            <a:off x="-1712" y="532618"/>
            <a:ext cx="12193712" cy="3570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Applications of Embedded System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Automotive Systems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Industrial Automation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Medical Devices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Consumer Electronics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lvl="0" algn="just">
              <a:lnSpc>
                <a:spcPct val="115000"/>
              </a:lnSpc>
              <a:buSzPts val="1000"/>
              <a:tabLst>
                <a:tab pos="457200" algn="l"/>
              </a:tabLst>
            </a:pPr>
            <a:endParaRPr lang="en-GB" b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buSzPts val="1000"/>
              <a:tabLst>
                <a:tab pos="457200" algn="l"/>
              </a:tabLst>
            </a:pPr>
            <a:r>
              <a:rPr lang="en-GB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Challenges in Embedded System Design</a:t>
            </a:r>
            <a:endParaRPr lang="en-GB" dirty="0">
              <a:solidFill>
                <a:srgbClr val="00B0F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Real-Time Constraints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Power Efficiency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Reliability and Safety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  <a:tabLst>
                <a:tab pos="457200" algn="l"/>
              </a:tabLst>
            </a:pPr>
            <a:r>
              <a:rPr lang="en-GB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Security</a:t>
            </a:r>
            <a:r>
              <a:rPr lang="en-GB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305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Unit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7505-778A-3E27-9A6A-14DCF59B9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F97BFFC-8CE2-0FEF-16E1-EF85C770ADCC}"/>
              </a:ext>
            </a:extLst>
          </p:cNvPr>
          <p:cNvSpPr txBox="1"/>
          <p:nvPr/>
        </p:nvSpPr>
        <p:spPr>
          <a:xfrm>
            <a:off x="1216701" y="3075057"/>
            <a:ext cx="97585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407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1697</Words>
  <Application>Microsoft Macintosh PowerPoint</Application>
  <PresentationFormat>Widescreen</PresentationFormat>
  <Paragraphs>370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Calibri Light</vt:lpstr>
      <vt:lpstr>Nunito</vt:lpstr>
      <vt:lpstr>Symbol</vt:lpstr>
      <vt:lpstr>Times New Roman</vt:lpstr>
      <vt:lpstr>Office Theme</vt:lpstr>
      <vt:lpstr>Chapter 4 SOFTWARE DESIGN, ARCHITECTURE AND PRINCIPLES</vt:lpstr>
      <vt:lpstr>OUTLINES</vt:lpstr>
      <vt:lpstr>Design Modeling Principles</vt:lpstr>
      <vt:lpstr>Design Modeling Principles</vt:lpstr>
      <vt:lpstr>DESIGN PROCESS</vt:lpstr>
      <vt:lpstr>DESIGN PROCESS</vt:lpstr>
      <vt:lpstr>SOFTWARE DESIGN PROCESS</vt:lpstr>
      <vt:lpstr>ARCHITECTURAL DESIGN</vt:lpstr>
      <vt:lpstr>ARCHITECTURAL DESIGN</vt:lpstr>
      <vt:lpstr>TYPES OF ARCHITECTURAL DESIGN PATTERNS</vt:lpstr>
      <vt:lpstr>TYPES OF ARCHITECTURAL DESIGN PATTERNS</vt:lpstr>
      <vt:lpstr>PowerPoint Presentation</vt:lpstr>
      <vt:lpstr>PowerPoint Presentation</vt:lpstr>
      <vt:lpstr>PowerPoint Presentation</vt:lpstr>
      <vt:lpstr>PowerPoint Presentation</vt:lpstr>
      <vt:lpstr>Interface, Component, Database Design</vt:lpstr>
      <vt:lpstr>Interface, Component, Database Design</vt:lpstr>
      <vt:lpstr>Interface, Component, Database Design</vt:lpstr>
      <vt:lpstr>Interface, Component, Database Design</vt:lpstr>
      <vt:lpstr>PowerPoint Presentation</vt:lpstr>
      <vt:lpstr>PowerPoint Presentation</vt:lpstr>
      <vt:lpstr>PowerPoint Presentation</vt:lpstr>
      <vt:lpstr>Design Pattern </vt:lpstr>
      <vt:lpstr>Creational Design Pattern </vt:lpstr>
      <vt:lpstr>Structural Design Pattern </vt:lpstr>
      <vt:lpstr>Behavioral Design Pattern </vt:lpstr>
      <vt:lpstr>Architectural Patterns Vs Design Patterns</vt:lpstr>
      <vt:lpstr>Security by Design</vt:lpstr>
      <vt:lpstr>Security by Design</vt:lpstr>
      <vt:lpstr>Embedded System Design</vt:lpstr>
      <vt:lpstr>Embedded System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E-Business</dc:title>
  <dc:creator>Harendra Bikram Shah</dc:creator>
  <cp:lastModifiedBy>kushal pokharel</cp:lastModifiedBy>
  <cp:revision>197</cp:revision>
  <dcterms:created xsi:type="dcterms:W3CDTF">2024-09-23T14:11:53Z</dcterms:created>
  <dcterms:modified xsi:type="dcterms:W3CDTF">2025-01-31T03:42:15Z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