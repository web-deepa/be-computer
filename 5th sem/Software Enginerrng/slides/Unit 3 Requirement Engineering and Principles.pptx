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1"/>
    <p:restoredTop sz="94291" autoAdjust="0"/>
  </p:normalViewPr>
  <p:slideViewPr>
    <p:cSldViewPr snapToGrid="0">
      <p:cViewPr varScale="1">
        <p:scale>
          <a:sx n="124" d="100"/>
          <a:sy n="124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25/11/24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25/11/24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25/11/24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25/11/24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25/11/24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25/11/24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25/11/24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25/11/24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25/11/24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25/11/24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25/11/24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25/11/24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94675"/>
            <a:ext cx="12084148" cy="1172738"/>
          </a:xfrm>
        </p:spPr>
        <p:txBody>
          <a:bodyPr>
            <a:noAutofit/>
          </a:bodyPr>
          <a:lstStyle/>
          <a:p>
            <a:pPr marL="228600">
              <a:lnSpc>
                <a:spcPct val="107000"/>
              </a:lnSpc>
            </a:pPr>
            <a:r>
              <a:rPr lang="en-US" sz="3600" b="1" dirty="0">
                <a:latin typeface="Times New Roman" panose="02020603050405020304" pitchFamily="18" charset="0"/>
                <a:sym typeface="+mn-ea"/>
              </a:rPr>
              <a:t>Chapter 3</a:t>
            </a:r>
            <a:br>
              <a:rPr lang="en-US" sz="3600" b="1" dirty="0">
                <a:latin typeface="Times New Roman" panose="02020603050405020304" pitchFamily="18" charset="0"/>
                <a:sym typeface="+mn-ea"/>
              </a:rPr>
            </a:br>
            <a:r>
              <a:rPr lang="en-US" sz="3600" b="1" dirty="0">
                <a:latin typeface="Times New Roman" panose="02020603050405020304" pitchFamily="18" charset="0"/>
                <a:sym typeface="+mn-ea"/>
              </a:rPr>
              <a:t>REQUIREMENTS ENGINEERING AND PRINCIPLES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3490" y="3429000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sz="28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GB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</a:t>
            </a:r>
          </a:p>
          <a:p>
            <a:r>
              <a:rPr lang="en-US" altLang="en-GB" sz="2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3260" y="1667413"/>
            <a:ext cx="1961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Hour:7hrs</a:t>
            </a:r>
            <a:endParaRPr lang="en-IN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105"/>
            <a:ext cx="9144000" cy="748376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7CD203-2DE9-5455-3A1F-33CE13F7539C}"/>
              </a:ext>
            </a:extLst>
          </p:cNvPr>
          <p:cNvSpPr txBox="1"/>
          <p:nvPr/>
        </p:nvSpPr>
        <p:spPr>
          <a:xfrm>
            <a:off x="205485" y="952846"/>
            <a:ext cx="71405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/>
            <a:r>
              <a:rPr lang="en-US" sz="1800" b="0" dirty="0">
                <a:latin typeface="Times New Roman" panose="02020603050405020304" pitchFamily="18" charset="0"/>
              </a:rPr>
              <a:t>3.1 Types of Requirements</a:t>
            </a:r>
          </a:p>
          <a:p>
            <a:pPr indent="0"/>
            <a:r>
              <a:rPr lang="en-US" sz="1800" b="0" dirty="0">
                <a:latin typeface="Times New Roman" panose="02020603050405020304" pitchFamily="18" charset="0"/>
              </a:rPr>
              <a:t>3.2 Requirements Modeling Principles</a:t>
            </a:r>
          </a:p>
          <a:p>
            <a:pPr indent="0"/>
            <a:r>
              <a:rPr lang="en-US" sz="1800" b="0" dirty="0">
                <a:latin typeface="Times New Roman" panose="02020603050405020304" pitchFamily="18" charset="0"/>
              </a:rPr>
              <a:t>3.3 Domain Analysis and System Models</a:t>
            </a:r>
          </a:p>
          <a:p>
            <a:pPr indent="0"/>
            <a:r>
              <a:rPr lang="en-US" sz="1800" b="0" dirty="0">
                <a:latin typeface="Times New Roman" panose="02020603050405020304" pitchFamily="18" charset="0"/>
              </a:rPr>
              <a:t>      3.3.1 Context Models</a:t>
            </a:r>
          </a:p>
          <a:p>
            <a:pPr indent="0"/>
            <a:r>
              <a:rPr lang="en-US" sz="1800" b="0" dirty="0">
                <a:latin typeface="Times New Roman" panose="02020603050405020304" pitchFamily="18" charset="0"/>
              </a:rPr>
              <a:t>      3.3.2 Behavioral Models</a:t>
            </a:r>
          </a:p>
          <a:p>
            <a:pPr indent="0"/>
            <a:r>
              <a:rPr lang="en-US" sz="1800" b="0" dirty="0">
                <a:latin typeface="Times New Roman" panose="02020603050405020304" pitchFamily="18" charset="0"/>
              </a:rPr>
              <a:t>      3.3.3 Data Models</a:t>
            </a:r>
          </a:p>
          <a:p>
            <a:pPr indent="0"/>
            <a:r>
              <a:rPr lang="en-US" sz="1800" b="0" dirty="0">
                <a:latin typeface="Times New Roman" panose="02020603050405020304" pitchFamily="18" charset="0"/>
              </a:rPr>
              <a:t>3.4 Requirements Engineering Process</a:t>
            </a:r>
          </a:p>
          <a:p>
            <a:pPr indent="0"/>
            <a:r>
              <a:rPr lang="en-US" sz="1800" b="0" dirty="0">
                <a:latin typeface="Times New Roman" panose="02020603050405020304" pitchFamily="18" charset="0"/>
              </a:rPr>
              <a:t>       3.4.1 Feasibility Study </a:t>
            </a:r>
          </a:p>
          <a:p>
            <a:pPr indent="0"/>
            <a:r>
              <a:rPr lang="en-US" sz="1800" b="0" dirty="0">
                <a:latin typeface="Times New Roman" panose="02020603050405020304" pitchFamily="18" charset="0"/>
              </a:rPr>
              <a:t>       3.4.2 Requirements Elicitation, Analysis, </a:t>
            </a:r>
          </a:p>
          <a:p>
            <a:pPr indent="0"/>
            <a:r>
              <a:rPr lang="en-US" sz="1800" b="0" dirty="0">
                <a:latin typeface="Times New Roman" panose="02020603050405020304" pitchFamily="18" charset="0"/>
              </a:rPr>
              <a:t>                Modeling, Specification</a:t>
            </a:r>
          </a:p>
          <a:p>
            <a:pPr indent="0"/>
            <a:r>
              <a:rPr lang="en-US" sz="1800" b="0" dirty="0">
                <a:latin typeface="Times New Roman" panose="02020603050405020304" pitchFamily="18" charset="0"/>
              </a:rPr>
              <a:t>      3.4.3  Requirements Validation</a:t>
            </a:r>
          </a:p>
          <a:p>
            <a:pPr indent="0"/>
            <a:r>
              <a:rPr lang="en-US" sz="1800" dirty="0">
                <a:latin typeface="Times New Roman Regular" panose="02020603050405020304" charset="0"/>
                <a:cs typeface="Times New Roman Regular" panose="02020603050405020304" charset="0"/>
              </a:rPr>
              <a:t>3.5 Object Oriented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D3E8F-4D11-2B6E-1D6F-EEB9A8B4A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A1FD2-0ABF-05C4-5BF4-1D85E9E43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105"/>
            <a:ext cx="9144000" cy="748376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sz="60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Requirements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8F689-832D-1047-B6C3-51821FF74F4D}"/>
              </a:ext>
            </a:extLst>
          </p:cNvPr>
          <p:cNvSpPr txBox="1"/>
          <p:nvPr/>
        </p:nvSpPr>
        <p:spPr>
          <a:xfrm>
            <a:off x="0" y="842481"/>
            <a:ext cx="1219200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IEEE standard 729, a requirement is defined as follows: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condition or capability needed by a user to solve a problem or achieve an objective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condition or capability that must be met or possessed by a system or system component to satisfy a contract, standard, specification or other formally imposed documents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documented representation of a condition or capability, as in 1 and 2.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C043C6-3F7D-C22C-61E5-A249678999B0}"/>
              </a:ext>
            </a:extLst>
          </p:cNvPr>
          <p:cNvSpPr txBox="1"/>
          <p:nvPr/>
        </p:nvSpPr>
        <p:spPr>
          <a:xfrm>
            <a:off x="-1" y="3105834"/>
            <a:ext cx="11537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is description of features and functionalities of the target 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536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33B6-3EBB-3C54-59AF-7C7D8A6F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72D2C-74E3-F668-5C1D-407C01AF3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94105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Software </a:t>
            </a:r>
            <a:r>
              <a:rPr lang="en-US" sz="60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Requirements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Lightbox">
            <a:extLst>
              <a:ext uri="{FF2B5EF4-FFF2-40B4-BE49-F238E27FC236}">
                <a16:creationId xmlns:a16="http://schemas.microsoft.com/office/drawing/2014/main" id="{E437C642-CB93-1992-A107-163F4230F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2" t="21148" r="19605" b="7542"/>
          <a:stretch/>
        </p:blipFill>
        <p:spPr bwMode="auto">
          <a:xfrm>
            <a:off x="3061699" y="1127588"/>
            <a:ext cx="6010382" cy="489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676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61E8-FFE3-D31B-97CA-A110E54A6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21471-A1B0-748B-A8EE-4362F451F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94105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Software </a:t>
            </a:r>
            <a:r>
              <a:rPr lang="en-US" sz="60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Requirements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EF6CD-F598-97C7-B943-FC4B8C7514D7}"/>
              </a:ext>
            </a:extLst>
          </p:cNvPr>
          <p:cNvSpPr txBox="1"/>
          <p:nvPr/>
        </p:nvSpPr>
        <p:spPr>
          <a:xfrm>
            <a:off x="164387" y="1232899"/>
            <a:ext cx="11108933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Classifying Software Requirements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organization: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quality: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traceability: </a:t>
            </a:r>
          </a:p>
          <a:p>
            <a:pPr algn="l" fontAlgn="base"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classifying software Requirements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structure: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Misclassification:</a:t>
            </a:r>
          </a:p>
        </p:txBody>
      </p:sp>
    </p:spTree>
    <p:extLst>
      <p:ext uri="{BB962C8B-B14F-4D97-AF65-F5344CB8AC3E}">
        <p14:creationId xmlns:p14="http://schemas.microsoft.com/office/powerpoint/2010/main" val="1105684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1919-E6AD-E8B1-B56A-CB5374DF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88829-B4C6-DA40-C421-A2939C2D5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94105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Requirements Modeling Principles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D87CE6-FF0A-BB7D-0118-C949158EF0DA}"/>
              </a:ext>
            </a:extLst>
          </p:cNvPr>
          <p:cNvSpPr txBox="1"/>
          <p:nvPr/>
        </p:nvSpPr>
        <p:spPr>
          <a:xfrm>
            <a:off x="0" y="1150706"/>
            <a:ext cx="1211323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Wingdings" pitchFamily="2" charset="2"/>
              <a:buChar char="v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crucial phase in the software development lifecycle, where we translate abstract needs and goals into concrete, tangible representations. </a:t>
            </a:r>
          </a:p>
          <a:p>
            <a:pPr lvl="0" algn="just"/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Abstraction: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Decomposition: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Projection: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Modularity: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Consistency: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 Completeness: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7. Correctness: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8. Traceability: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 Understandability: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06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2AFB4-F88F-FF0E-ECB9-9C76F7B60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8E28D-A085-5E78-41E6-CA9B2848B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047" y="83831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Domain Analysis and System Models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3E32D-2C2E-4D5F-7116-C798F94DF543}"/>
              </a:ext>
            </a:extLst>
          </p:cNvPr>
          <p:cNvSpPr txBox="1"/>
          <p:nvPr/>
        </p:nvSpPr>
        <p:spPr>
          <a:xfrm>
            <a:off x="-1" y="758107"/>
            <a:ext cx="11852953" cy="293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 of studying and understanding the business domain, or problem space, where the system will operate. </a:t>
            </a:r>
          </a:p>
          <a:p>
            <a:pPr marL="7429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involves identifying the key concepts, relationships, and rules within that domain. </a:t>
            </a:r>
          </a:p>
          <a:p>
            <a:pPr marL="7429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analysis helps in building a solid foundation for the design and development of software systems.</a:t>
            </a:r>
          </a:p>
          <a:p>
            <a:pPr marL="457200" algn="just">
              <a:lnSpc>
                <a:spcPct val="115000"/>
              </a:lnSpc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Steps in Domain Analysis: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the Domain: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Key Concepts: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Relationships: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Rules and Constraints: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Create a Domain Model: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279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6A8C-AD06-7E46-C38B-4E29FBEAF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AD84-E8CD-FEE0-A013-EB9B9B107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047" y="83831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Domain Analysis and System Models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ystem Models in Software Engineering">
            <a:extLst>
              <a:ext uri="{FF2B5EF4-FFF2-40B4-BE49-F238E27FC236}">
                <a16:creationId xmlns:a16="http://schemas.microsoft.com/office/drawing/2014/main" id="{5141A292-C233-EAE8-0E64-08E6488F9D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6" b="12145"/>
          <a:stretch/>
        </p:blipFill>
        <p:spPr bwMode="auto">
          <a:xfrm>
            <a:off x="2286000" y="1780503"/>
            <a:ext cx="7620000" cy="500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4699E2-A88F-897B-5B46-68419E31014C}"/>
              </a:ext>
            </a:extLst>
          </p:cNvPr>
          <p:cNvSpPr txBox="1"/>
          <p:nvPr/>
        </p:nvSpPr>
        <p:spPr>
          <a:xfrm>
            <a:off x="-166956" y="758107"/>
            <a:ext cx="12358956" cy="102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15000"/>
              </a:lnSpc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Models: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models are representations of a system's structure, behavior, and interactions with its environment. </a:t>
            </a:r>
          </a:p>
          <a:p>
            <a:pPr marL="7429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 help in understanding the system's requirements, design, and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676057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4A8E8-0CF5-A18A-15C1-69F12BBF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505A-E613-76BE-6F56-08B8A17CD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94105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Requirements Engineering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C9C0B-DE0B-34EE-5429-1B2892D709F4}"/>
              </a:ext>
            </a:extLst>
          </p:cNvPr>
          <p:cNvSpPr txBox="1"/>
          <p:nvPr/>
        </p:nvSpPr>
        <p:spPr>
          <a:xfrm>
            <a:off x="-1712" y="842481"/>
            <a:ext cx="1242316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systematic and strict approach to the definition, creation, and verification of requirements for a software system.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09EACB-3985-F03B-C7B3-E9ED96309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595" y="1744252"/>
            <a:ext cx="74168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03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7F03B-1917-E7D7-D1D8-33138E85C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89684-0256-E581-7EDF-FA6169B61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94105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Requirements Engineering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31648-4E5F-17E0-F671-F821AD309796}"/>
              </a:ext>
            </a:extLst>
          </p:cNvPr>
          <p:cNvSpPr txBox="1"/>
          <p:nvPr/>
        </p:nvSpPr>
        <p:spPr>
          <a:xfrm>
            <a:off x="82194" y="1212351"/>
            <a:ext cx="9750176" cy="4844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15000"/>
              </a:lnSpc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Tools Involved in Requirement Engineering: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Observation report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Questionnaire (survey, poll )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cases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 stories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Requirement workshop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Mind mapping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Roleplaying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Prototyping</a:t>
            </a:r>
          </a:p>
          <a:p>
            <a:pPr marL="228600" algn="just">
              <a:lnSpc>
                <a:spcPct val="115000"/>
              </a:lnSpc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 of Requirements Engineering Process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meets the needs and expectations of the stakeholders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cost-effective and efficient manner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 communication and collaboration between the development team and stakeholders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ensure the software system meets the needs of all stakeholders.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Provides a solid foundation for the development process, which helps to reduce the risk of failure.</a:t>
            </a:r>
          </a:p>
        </p:txBody>
      </p:sp>
    </p:spTree>
    <p:extLst>
      <p:ext uri="{BB962C8B-B14F-4D97-AF65-F5344CB8AC3E}">
        <p14:creationId xmlns:p14="http://schemas.microsoft.com/office/powerpoint/2010/main" val="1420911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36BB-135F-621E-462C-196026B7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F28C2-1046-69CA-36DE-BA4379140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94105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Requirements Engineering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A86574-2A35-81B6-C4E1-D6846D720113}"/>
              </a:ext>
            </a:extLst>
          </p:cNvPr>
          <p:cNvSpPr txBox="1"/>
          <p:nvPr/>
        </p:nvSpPr>
        <p:spPr>
          <a:xfrm>
            <a:off x="0" y="813861"/>
            <a:ext cx="11458255" cy="2296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15000"/>
              </a:lnSpc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Disadvantages of Requirements Engineering Process: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 be time-consuming and costly.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 be difficult to ensure that all stakeholders’ needs and expectations are considered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challenging to ensure that the requirements are clear, consistent, and complete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Changes in requirements can lead to delays and increased costs in the development process.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Requirements may change over time, which can result in delays and additional costs.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There may be conflicts between stakeholders, which can be difficult to resolve.</a:t>
            </a:r>
          </a:p>
        </p:txBody>
      </p:sp>
    </p:spTree>
    <p:extLst>
      <p:ext uri="{BB962C8B-B14F-4D97-AF65-F5344CB8AC3E}">
        <p14:creationId xmlns:p14="http://schemas.microsoft.com/office/powerpoint/2010/main" val="350818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362EA-0B43-0C8D-BBD6-23F47C3A5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9611-561E-D5AB-6360-392CF4368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94105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Object Oriented Analysis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92DF0-3AD3-1D56-0F0A-2CB83B8B8C55}"/>
              </a:ext>
            </a:extLst>
          </p:cNvPr>
          <p:cNvSpPr txBox="1"/>
          <p:nvPr/>
        </p:nvSpPr>
        <p:spPr>
          <a:xfrm>
            <a:off x="-1712" y="904126"/>
            <a:ext cx="12029325" cy="5732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  <a:tabLst>
                <a:tab pos="32893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OOA is a software engineering approach that focuses on identifying and modeling the objects within a system and their interactions. </a:t>
            </a:r>
          </a:p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  <a:tabLst>
                <a:tab pos="32893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It's the first step in the object-oriented design (OOD) process.</a:t>
            </a:r>
          </a:p>
          <a:p>
            <a:pPr algn="just">
              <a:lnSpc>
                <a:spcPct val="115000"/>
              </a:lnSpc>
              <a:tabLst>
                <a:tab pos="328930" algn="l"/>
              </a:tabLst>
            </a:pPr>
            <a:r>
              <a:rPr lang="en-GB" sz="16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Concepts in OOA: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Objects: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Classes: .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Inheritance: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Polymorphism: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Encapsulation: </a:t>
            </a:r>
          </a:p>
          <a:p>
            <a:pPr algn="just">
              <a:lnSpc>
                <a:spcPct val="115000"/>
              </a:lnSpc>
              <a:tabLst>
                <a:tab pos="328930" algn="l"/>
              </a:tabLst>
            </a:pPr>
            <a:r>
              <a:rPr lang="en-GB" sz="16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Steps in OOA: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Objects:</a:t>
            </a:r>
          </a:p>
          <a:p>
            <a:pPr marL="342900" lvl="0" indent="-342900" algn="just">
              <a:lnSpc>
                <a:spcPct val="115000"/>
              </a:lnSpc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Attributes:</a:t>
            </a:r>
          </a:p>
          <a:p>
            <a:pPr marL="342900" lvl="0" indent="-342900" algn="just">
              <a:lnSpc>
                <a:spcPct val="115000"/>
              </a:lnSpc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Methods:</a:t>
            </a:r>
          </a:p>
          <a:p>
            <a:pPr marL="342900" lvl="0" indent="-342900" algn="just">
              <a:lnSpc>
                <a:spcPct val="115000"/>
              </a:lnSpc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Relationships:</a:t>
            </a:r>
          </a:p>
          <a:p>
            <a:pPr marL="342900" lvl="0" indent="-342900" algn="just">
              <a:lnSpc>
                <a:spcPct val="115000"/>
              </a:lnSpc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a Class Diagram:</a:t>
            </a:r>
          </a:p>
          <a:p>
            <a:pPr algn="just">
              <a:lnSpc>
                <a:spcPct val="115000"/>
              </a:lnSpc>
              <a:tabLst>
                <a:tab pos="328930" algn="l"/>
              </a:tabLst>
            </a:pPr>
            <a:endParaRPr lang="en-GB" sz="1600" b="1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tabLst>
                <a:tab pos="328930" algn="l"/>
              </a:tabLst>
            </a:pPr>
            <a:r>
              <a:rPr lang="en-GB" sz="16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Benefits of OOA: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Modularity: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Reusability: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Maintainability: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Flexibility: </a:t>
            </a:r>
          </a:p>
        </p:txBody>
      </p:sp>
    </p:spTree>
    <p:extLst>
      <p:ext uri="{BB962C8B-B14F-4D97-AF65-F5344CB8AC3E}">
        <p14:creationId xmlns:p14="http://schemas.microsoft.com/office/powerpoint/2010/main" val="621768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E6A70-D24A-3702-2A6A-DB4214D07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426B-1513-3DDC-1BEC-3ABE73B28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94105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Object Oriented Analysis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144A6-DED7-AC76-1BDD-E3FFFEEE06B2}"/>
              </a:ext>
            </a:extLst>
          </p:cNvPr>
          <p:cNvSpPr txBox="1"/>
          <p:nvPr/>
        </p:nvSpPr>
        <p:spPr>
          <a:xfrm>
            <a:off x="398122" y="1006509"/>
            <a:ext cx="11242497" cy="293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buSzPts val="1000"/>
              <a:tabLst>
                <a:tab pos="328930" algn="l"/>
                <a:tab pos="457200" algn="l"/>
              </a:tabLst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Challenges of OOA: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Complexity: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Learning Curve: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 Decisions: </a:t>
            </a:r>
          </a:p>
          <a:p>
            <a:pPr lvl="0" algn="just">
              <a:lnSpc>
                <a:spcPct val="115000"/>
              </a:lnSpc>
              <a:buSzPts val="1000"/>
              <a:tabLst>
                <a:tab pos="328930" algn="l"/>
                <a:tab pos="457200" algn="l"/>
              </a:tabLst>
            </a:pPr>
            <a:endParaRPr lang="en-GB" b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buSzPts val="1000"/>
              <a:tabLst>
                <a:tab pos="328930" algn="l"/>
                <a:tab pos="457200" algn="l"/>
              </a:tabLst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Tools for OOA: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UML (Unified Modeling Language):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Rational Rose: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328930" algn="l"/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 Paradigm: </a:t>
            </a:r>
          </a:p>
        </p:txBody>
      </p:sp>
    </p:spTree>
    <p:extLst>
      <p:ext uri="{BB962C8B-B14F-4D97-AF65-F5344CB8AC3E}">
        <p14:creationId xmlns:p14="http://schemas.microsoft.com/office/powerpoint/2010/main" val="1005298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4A14-7E1E-2B8D-B245-3CB96D4A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FCA4-4A62-94D2-D541-AF1E916F4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94105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Object Oriented Analysis Design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44E113-EA25-2A30-048F-5208C83A3999}"/>
              </a:ext>
            </a:extLst>
          </p:cNvPr>
          <p:cNvSpPr txBox="1"/>
          <p:nvPr/>
        </p:nvSpPr>
        <p:spPr>
          <a:xfrm>
            <a:off x="164387" y="1011740"/>
            <a:ext cx="11507056" cy="3644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way to design software by thinking of everything as objects similar to real-life things. </a:t>
            </a:r>
          </a:p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OOAD, we first understand what the system needs to do, then identify key objects, and finally decide how these objects will work together. </a:t>
            </a:r>
          </a:p>
          <a:p>
            <a:pPr lvl="0" algn="just">
              <a:lnSpc>
                <a:spcPct val="115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as part of the object-oriented design process, it is essential to define specific aspects: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Organization of Attributes: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OOD involves specifying how data attributes are organized within the objects. </a:t>
            </a:r>
          </a:p>
          <a:p>
            <a:pPr marL="742950" lvl="1" indent="-285750" algn="just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includes determining the types of data each object will hold and how they relate to one another.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Procedural Description of Operations: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OOD requires a procedural description for each operation that an object can perform. </a:t>
            </a:r>
          </a:p>
          <a:p>
            <a:pPr marL="742950" lvl="1" indent="-285750" algn="just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involves detailing the steps or processes involved in carrying out specific tasks.</a:t>
            </a:r>
          </a:p>
          <a:p>
            <a:pPr algn="just">
              <a:lnSpc>
                <a:spcPct val="115000"/>
              </a:lnSpc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87533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D839-55EB-3D9F-1CF5-5619AC34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C53E-C19E-86F9-59B9-8C3963D73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94105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Object Oriented Analysis Design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6" name="Picture 6" descr="The-Object-Oriented-Design-Pyramid-(1)">
            <a:extLst>
              <a:ext uri="{FF2B5EF4-FFF2-40B4-BE49-F238E27FC236}">
                <a16:creationId xmlns:a16="http://schemas.microsoft.com/office/drawing/2014/main" id="{259724E8-5334-9EEA-7F14-F2A3BA5E9E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9" t="6246" r="3875"/>
          <a:stretch/>
        </p:blipFill>
        <p:spPr bwMode="auto">
          <a:xfrm>
            <a:off x="164387" y="842481"/>
            <a:ext cx="11671442" cy="592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428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93BE-8A3A-10EB-DD8B-F7C71DD63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20F87-EA5C-8E22-B47D-B070D7F51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94105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Object Oriented Analysis Design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2AB17A-196B-2CA9-24DC-75991E9B3D57}"/>
              </a:ext>
            </a:extLst>
          </p:cNvPr>
          <p:cNvSpPr txBox="1"/>
          <p:nvPr/>
        </p:nvSpPr>
        <p:spPr>
          <a:xfrm>
            <a:off x="164386" y="719191"/>
            <a:ext cx="12027613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Object-Oriented Analysis and Design(OOAD)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increases the modularity and maintainability of software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high-level, abstract representation of a software system, making understanding and maintenance easier.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promotes object-oriented design principles and the reuse of objects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assist developers in creating scalable software systems that can adapt to changing user needs and business demands </a:t>
            </a:r>
          </a:p>
          <a:p>
            <a:pPr algn="l" fontAlgn="base">
              <a:spcAft>
                <a:spcPts val="1800"/>
              </a:spcAft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Object-Oriented Analysis and Design(OOAD)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might complicate a software system.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result in additional overhead and reduce the software’s speed.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 learning curve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a time-consuming process that involves significant upfront planning and documentation.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OOAD can be more expensive than other software engineering methodologies due to the upfront planning and documentation required.</a:t>
            </a:r>
          </a:p>
        </p:txBody>
      </p:sp>
    </p:spTree>
    <p:extLst>
      <p:ext uri="{BB962C8B-B14F-4D97-AF65-F5344CB8AC3E}">
        <p14:creationId xmlns:p14="http://schemas.microsoft.com/office/powerpoint/2010/main" val="3221793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1D78-4834-DC64-4646-3B512154E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B9F67-76B6-146B-0F80-A5601E40E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87" y="94105"/>
            <a:ext cx="11363217" cy="748376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Object Oriented Analysis Design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C8751-B8B4-32DF-2D57-2A3842ED3CDB}"/>
              </a:ext>
            </a:extLst>
          </p:cNvPr>
          <p:cNvSpPr txBox="1"/>
          <p:nvPr/>
        </p:nvSpPr>
        <p:spPr>
          <a:xfrm>
            <a:off x="164387" y="955496"/>
            <a:ext cx="117536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world applications of Object-Oriented Analysis and Design(OOAD)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Software: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Health Record (EHR) Systems: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Control Systems: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Billing Systems: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Platforms: </a:t>
            </a:r>
          </a:p>
        </p:txBody>
      </p:sp>
    </p:spTree>
    <p:extLst>
      <p:ext uri="{BB962C8B-B14F-4D97-AF65-F5344CB8AC3E}">
        <p14:creationId xmlns:p14="http://schemas.microsoft.com/office/powerpoint/2010/main" val="3616279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Unit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7505-778A-3E27-9A6A-14DCF59B9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97BFFC-8CE2-0FEF-16E1-EF85C770ADCC}"/>
              </a:ext>
            </a:extLst>
          </p:cNvPr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407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1011</Words>
  <Application>Microsoft Macintosh PowerPoint</Application>
  <PresentationFormat>Widescreen</PresentationFormat>
  <Paragraphs>154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Symbol</vt:lpstr>
      <vt:lpstr>Times New Roman</vt:lpstr>
      <vt:lpstr>Times New Roman Regular</vt:lpstr>
      <vt:lpstr>Wingdings</vt:lpstr>
      <vt:lpstr>Office Theme</vt:lpstr>
      <vt:lpstr>Chapter 3 REQUIREMENTS ENGINEERING AND PRINCIPLES</vt:lpstr>
      <vt:lpstr>OUTLINES</vt:lpstr>
      <vt:lpstr>Introduction to Requirements</vt:lpstr>
      <vt:lpstr>Types of Software Requirements</vt:lpstr>
      <vt:lpstr>Types of Software Requirements</vt:lpstr>
      <vt:lpstr>Requirements Modeling Principles</vt:lpstr>
      <vt:lpstr>Domain Analysis and System Models</vt:lpstr>
      <vt:lpstr>Domain Analysis and System Models</vt:lpstr>
      <vt:lpstr>Requirements Engineering</vt:lpstr>
      <vt:lpstr>Requirements Engineering</vt:lpstr>
      <vt:lpstr>Requirements Engineering</vt:lpstr>
      <vt:lpstr>Object Oriented Analysis</vt:lpstr>
      <vt:lpstr>Object Oriented Analysis</vt:lpstr>
      <vt:lpstr>Object Oriented Analysis Design</vt:lpstr>
      <vt:lpstr>Object Oriented Analysis Design</vt:lpstr>
      <vt:lpstr>Object Oriented Analysis Design</vt:lpstr>
      <vt:lpstr>Object Oriented Analysis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kushal pokharel</cp:lastModifiedBy>
  <cp:revision>132</cp:revision>
  <dcterms:created xsi:type="dcterms:W3CDTF">2024-09-23T14:11:53Z</dcterms:created>
  <dcterms:modified xsi:type="dcterms:W3CDTF">2024-11-25T04:28:23Z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