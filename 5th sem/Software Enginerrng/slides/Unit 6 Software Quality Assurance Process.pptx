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426" r:id="rId4"/>
    <p:sldId id="427" r:id="rId5"/>
    <p:sldId id="428" r:id="rId6"/>
    <p:sldId id="429" r:id="rId7"/>
    <p:sldId id="430" r:id="rId8"/>
    <p:sldId id="431" r:id="rId9"/>
    <p:sldId id="274" r:id="rId10"/>
    <p:sldId id="432" r:id="rId11"/>
    <p:sldId id="433" r:id="rId12"/>
    <p:sldId id="434" r:id="rId13"/>
    <p:sldId id="435" r:id="rId14"/>
    <p:sldId id="436" r:id="rId15"/>
    <p:sldId id="437" r:id="rId16"/>
    <p:sldId id="438" r:id="rId17"/>
    <p:sldId id="424" r:id="rId18"/>
    <p:sldId id="439" r:id="rId19"/>
    <p:sldId id="440" r:id="rId20"/>
    <p:sldId id="279" r:id="rId21"/>
    <p:sldId id="280" r:id="rId22"/>
    <p:sldId id="281" r:id="rId23"/>
    <p:sldId id="282" r:id="rId24"/>
    <p:sldId id="441" r:id="rId25"/>
    <p:sldId id="442" r:id="rId26"/>
    <p:sldId id="444" r:id="rId27"/>
    <p:sldId id="445" r:id="rId28"/>
    <p:sldId id="446" r:id="rId29"/>
    <p:sldId id="447" r:id="rId30"/>
    <p:sldId id="448" r:id="rId31"/>
    <p:sldId id="449" r:id="rId32"/>
    <p:sldId id="450" r:id="rId33"/>
    <p:sldId id="451" r:id="rId34"/>
    <p:sldId id="452" r:id="rId35"/>
    <p:sldId id="453" r:id="rId36"/>
    <p:sldId id="263" r:id="rId37"/>
    <p:sldId id="41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239"/>
    <p:restoredTop sz="94291" autoAdjust="0"/>
  </p:normalViewPr>
  <p:slideViewPr>
    <p:cSldViewPr snapToGrid="0">
      <p:cViewPr varScale="1">
        <p:scale>
          <a:sx n="117" d="100"/>
          <a:sy n="117" d="100"/>
        </p:scale>
        <p:origin x="192"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3FD16B-A1E2-3440-AA17-DC6AB8A95406}" type="datetimeFigureOut">
              <a:rPr lang="en-US" smtClean="0"/>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D8939C-8771-F44C-B03D-EF255AD112D2}" type="slidenum">
              <a:rPr lang="en-US" smtClean="0"/>
              <a:t>‹#›</a:t>
            </a:fld>
            <a:endParaRPr lang="en-US"/>
          </a:p>
        </p:txBody>
      </p:sp>
    </p:spTree>
    <p:extLst>
      <p:ext uri="{BB962C8B-B14F-4D97-AF65-F5344CB8AC3E}">
        <p14:creationId xmlns:p14="http://schemas.microsoft.com/office/powerpoint/2010/main" val="3567710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5B59-3982-EAD3-BBB9-C735BED80D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9A3F3-DB12-F3F8-E9F7-025287299E4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15AED66-FB2D-C669-265B-48FF5BD3ADAB}"/>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70110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651A7-0E19-E20C-5DBA-E87CD6DBC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92286-80F7-5BAA-5B97-182322ACA5F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F013A2F-A995-D8ED-10BA-E49C0F0E8253}"/>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699658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44103-D875-6E63-C641-6FEBEF0D7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7EE45-5D82-0EC3-1A32-48C0BD3D07B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EAEBEDD0-B269-2190-87A4-D68945AC0A42}"/>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189942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862E-432C-F1E6-AED3-EA0B2F90A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6B5FD-EB9F-D031-D2AA-8FF0095261F6}"/>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D7F7E9F6-7FCB-3451-3D54-3B65B33B7A3C}"/>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65215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t>22/01/25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t>22/01/25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E0B8D6-C4BD-46A4-9A82-08D4E8E6001C}" type="datetimeFigureOut">
              <a:rPr lang="en-IN" smtClean="0"/>
              <a:t>22/01/25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3E0B8D6-C4BD-46A4-9A82-08D4E8E6001C}" type="datetimeFigureOut">
              <a:rPr lang="en-IN" smtClean="0"/>
              <a:t>22/01/25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3E0B8D6-C4BD-46A4-9A82-08D4E8E6001C}" type="datetimeFigureOut">
              <a:rPr lang="en-IN" smtClean="0"/>
              <a:t>22/01/25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3E0B8D6-C4BD-46A4-9A82-08D4E8E6001C}" type="datetimeFigureOut">
              <a:rPr lang="en-IN" smtClean="0"/>
              <a:t>22/01/25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E0B8D6-C4BD-46A4-9A82-08D4E8E6001C}" type="datetimeFigureOut">
              <a:rPr lang="en-IN" smtClean="0"/>
              <a:t>22/01/25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E0B8D6-C4BD-46A4-9A82-08D4E8E6001C}" type="datetimeFigureOut">
              <a:rPr lang="en-IN" smtClean="0"/>
              <a:t>22/01/25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E0B8D6-C4BD-46A4-9A82-08D4E8E6001C}" type="datetimeFigureOut">
              <a:rPr lang="en-IN" smtClean="0"/>
              <a:t>22/01/25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t>22/01/25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3E0B8D6-C4BD-46A4-9A82-08D4E8E6001C}" type="datetimeFigureOut">
              <a:rPr lang="en-IN" smtClean="0"/>
              <a:t>22/01/25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E9A205-56FA-4820-9B78-BADF71C7EFD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E0B8D6-C4BD-46A4-9A82-08D4E8E6001C}" type="datetimeFigureOut">
              <a:rPr lang="en-IN" smtClean="0"/>
              <a:t>22/01/25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E9A205-56FA-4820-9B78-BADF71C7EFD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74688" y="3288619"/>
            <a:ext cx="9144000" cy="2934325"/>
          </a:xfrm>
        </p:spPr>
        <p:txBody>
          <a:bodyPr>
            <a:normAutofit/>
          </a:bodyPr>
          <a:lstStyle/>
          <a:p>
            <a:pPr algn="l"/>
            <a:r>
              <a:rPr lang="en-GB" sz="3600" b="1" dirty="0">
                <a:latin typeface="Times New Roman" panose="02020603050405020304" pitchFamily="18" charset="0"/>
                <a:cs typeface="Times New Roman" panose="02020603050405020304" pitchFamily="18" charset="0"/>
              </a:rPr>
              <a:t>Presented by</a:t>
            </a:r>
          </a:p>
          <a:p>
            <a:r>
              <a:rPr lang="en-GB" sz="2800" dirty="0">
                <a:solidFill>
                  <a:srgbClr val="FF0000"/>
                </a:solidFill>
                <a:latin typeface="Times New Roman" panose="02020603050405020304" pitchFamily="18" charset="0"/>
                <a:cs typeface="Times New Roman" panose="02020603050405020304" pitchFamily="18" charset="0"/>
              </a:rPr>
              <a:t>Er.Harendra Bikram Shah</a:t>
            </a:r>
          </a:p>
          <a:p>
            <a:r>
              <a:rPr lang="en-GB" sz="2800" dirty="0">
                <a:solidFill>
                  <a:schemeClr val="tx1"/>
                </a:solidFill>
                <a:latin typeface="Times New Roman" panose="02020603050405020304" pitchFamily="18" charset="0"/>
                <a:cs typeface="Times New Roman" panose="02020603050405020304" pitchFamily="18" charset="0"/>
              </a:rPr>
              <a:t>Lecturer</a:t>
            </a:r>
          </a:p>
          <a:p>
            <a:r>
              <a:rPr lang="en-GB" sz="2800" b="1" dirty="0">
                <a:solidFill>
                  <a:srgbClr val="7030A0"/>
                </a:solidFill>
                <a:latin typeface="Times New Roman" panose="02020603050405020304" pitchFamily="18" charset="0"/>
                <a:cs typeface="Times New Roman" panose="02020603050405020304" pitchFamily="18" charset="0"/>
              </a:rPr>
              <a:t>Department of </a:t>
            </a:r>
            <a:r>
              <a:rPr lang="en-US" altLang="en-GB" sz="2800" b="1" dirty="0">
                <a:solidFill>
                  <a:srgbClr val="7030A0"/>
                </a:solidFill>
                <a:latin typeface="Times New Roman" panose="02020603050405020304" pitchFamily="18" charset="0"/>
                <a:cs typeface="Times New Roman" panose="02020603050405020304" pitchFamily="18" charset="0"/>
              </a:rPr>
              <a:t>Computer Engineering</a:t>
            </a:r>
          </a:p>
          <a:p>
            <a:r>
              <a:rPr lang="en-US" altLang="en-GB" sz="28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rPr>
              <a:t>NAST</a:t>
            </a:r>
          </a:p>
        </p:txBody>
      </p:sp>
      <p:sp>
        <p:nvSpPr>
          <p:cNvPr id="4" name="Text Box 3"/>
          <p:cNvSpPr txBox="1"/>
          <p:nvPr/>
        </p:nvSpPr>
        <p:spPr>
          <a:xfrm>
            <a:off x="10911840" y="2223770"/>
            <a:ext cx="958917" cy="399405"/>
          </a:xfrm>
          <a:prstGeom prst="rect">
            <a:avLst/>
          </a:prstGeom>
          <a:noFill/>
        </p:spPr>
        <p:txBody>
          <a:bodyPr wrap="none" rtlCol="0" anchor="t">
            <a:spAutoFit/>
          </a:bodyPr>
          <a:lstStyle/>
          <a:p>
            <a:pPr>
              <a:lnSpc>
                <a:spcPct val="107000"/>
              </a:lnSpc>
            </a:pPr>
            <a:r>
              <a:rPr lang="en-US" sz="2000" b="1" dirty="0">
                <a:solidFill>
                  <a:srgbClr val="FF0000"/>
                </a:solidFill>
                <a:latin typeface="Times New Roman" panose="02020603050405020304" pitchFamily="18" charset="0"/>
                <a:sym typeface="+mn-ea"/>
              </a:rPr>
              <a:t>(4 </a:t>
            </a:r>
            <a:r>
              <a:rPr lang="en-US" sz="2000" b="1" dirty="0" err="1">
                <a:solidFill>
                  <a:srgbClr val="FF0000"/>
                </a:solidFill>
                <a:latin typeface="Times New Roman" panose="02020603050405020304" pitchFamily="18" charset="0"/>
                <a:sym typeface="+mn-ea"/>
              </a:rPr>
              <a:t>Hrs</a:t>
            </a:r>
            <a:r>
              <a:rPr lang="en-US" sz="2000" b="1" dirty="0">
                <a:solidFill>
                  <a:srgbClr val="FF0000"/>
                </a:solidFill>
                <a:latin typeface="Times New Roman" panose="02020603050405020304" pitchFamily="18" charset="0"/>
                <a:sym typeface="+mn-ea"/>
              </a:rPr>
              <a:t>)</a:t>
            </a:r>
          </a:p>
        </p:txBody>
      </p:sp>
      <p:sp>
        <p:nvSpPr>
          <p:cNvPr id="6" name="Title 5">
            <a:extLst>
              <a:ext uri="{FF2B5EF4-FFF2-40B4-BE49-F238E27FC236}">
                <a16:creationId xmlns:a16="http://schemas.microsoft.com/office/drawing/2014/main" id="{0ADEE4DE-8CF1-2CC9-4DF0-1218D5DBBB77}"/>
              </a:ext>
            </a:extLst>
          </p:cNvPr>
          <p:cNvSpPr>
            <a:spLocks noGrp="1"/>
          </p:cNvSpPr>
          <p:nvPr>
            <p:ph type="ctrTitle"/>
          </p:nvPr>
        </p:nvSpPr>
        <p:spPr>
          <a:xfrm>
            <a:off x="304801" y="269391"/>
            <a:ext cx="11565956" cy="1212568"/>
          </a:xfrm>
        </p:spPr>
        <p:txBody>
          <a:bodyPr>
            <a:normAutofit fontScale="90000"/>
          </a:bodyPr>
          <a:lstStyle/>
          <a:p>
            <a:r>
              <a:rPr lang="en-GB" sz="6000" b="1" dirty="0">
                <a:solidFill>
                  <a:srgbClr val="00B0F0"/>
                </a:solidFill>
                <a:effectLst/>
                <a:latin typeface="Times New Roman" panose="02020603050405020304" pitchFamily="18" charset="0"/>
                <a:cs typeface="Times New Roman" panose="02020603050405020304" pitchFamily="18" charset="0"/>
              </a:rPr>
              <a:t>Software Quality Assurance Process</a:t>
            </a:r>
            <a:endParaRPr lang="en-US" b="1" dirty="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60C9F42-2B32-28F7-9C2E-3A51EF79657C}"/>
              </a:ext>
            </a:extLst>
          </p:cNvPr>
          <p:cNvSpPr txBox="1"/>
          <p:nvPr/>
        </p:nvSpPr>
        <p:spPr>
          <a:xfrm>
            <a:off x="765544" y="205289"/>
            <a:ext cx="1818289" cy="461665"/>
          </a:xfrm>
          <a:prstGeom prst="rect">
            <a:avLst/>
          </a:prstGeom>
          <a:noFill/>
        </p:spPr>
        <p:txBody>
          <a:bodyPr wrap="square">
            <a:spAutoFit/>
          </a:bodyPr>
          <a:lstStyle/>
          <a:p>
            <a:r>
              <a:rPr lang="en-GB" sz="2400" b="1" dirty="0">
                <a:effectLst/>
                <a:latin typeface="Times New Roman" panose="02020603050405020304" pitchFamily="18" charset="0"/>
                <a:cs typeface="Times New Roman" panose="02020603050405020304" pitchFamily="18" charset="0"/>
              </a:rPr>
              <a:t>Chapter 6: </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7943"/>
            <a:ext cx="9144000" cy="961270"/>
          </a:xfrm>
        </p:spPr>
        <p:txBody>
          <a:bodyPr>
            <a:normAutofit/>
          </a:bodyPr>
          <a:lstStyle/>
          <a:p>
            <a:r>
              <a:rPr lang="en-GB" b="1" dirty="0">
                <a:solidFill>
                  <a:srgbClr val="00B0F0"/>
                </a:solidFill>
                <a:latin typeface="Times New Roman" panose="02020603050405020304" pitchFamily="18" charset="0"/>
                <a:cs typeface="Times New Roman" panose="02020603050405020304" pitchFamily="18" charset="0"/>
              </a:rPr>
              <a:t>OUTLINES</a:t>
            </a:r>
            <a:endParaRPr lang="en-IN" b="1" dirty="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3A07E5-1858-3017-42D6-CEDD2F7C55B0}"/>
              </a:ext>
            </a:extLst>
          </p:cNvPr>
          <p:cNvSpPr txBox="1"/>
          <p:nvPr/>
        </p:nvSpPr>
        <p:spPr>
          <a:xfrm>
            <a:off x="0" y="1292666"/>
            <a:ext cx="8544910" cy="2301977"/>
          </a:xfrm>
          <a:prstGeom prst="rect">
            <a:avLst/>
          </a:prstGeom>
          <a:noFill/>
        </p:spPr>
        <p:txBody>
          <a:bodyPr wrap="square">
            <a:spAutoFit/>
          </a:bodyPr>
          <a:lstStyle/>
          <a:p>
            <a:pPr>
              <a:lnSpc>
                <a:spcPct val="115000"/>
              </a:lnSpc>
            </a:pPr>
            <a:r>
              <a:rPr lang="en-GB" sz="1800" dirty="0">
                <a:effectLst/>
                <a:latin typeface="Times New Roman" panose="02020603050405020304" pitchFamily="18" charset="0"/>
                <a:cs typeface="Times New Roman" panose="02020603050405020304" pitchFamily="18" charset="0"/>
              </a:rPr>
              <a:t>6.1 Software Quality Concepts, Software  Reliability</a:t>
            </a:r>
          </a:p>
          <a:p>
            <a:pPr>
              <a:lnSpc>
                <a:spcPct val="115000"/>
              </a:lnSpc>
            </a:pPr>
            <a:r>
              <a:rPr lang="en-GB" sz="1800" dirty="0">
                <a:effectLst/>
                <a:latin typeface="Times New Roman" panose="02020603050405020304" pitchFamily="18" charset="0"/>
                <a:cs typeface="Times New Roman" panose="02020603050405020304" pitchFamily="18" charset="0"/>
              </a:rPr>
              <a:t>6.2 Software Quality Management and Planning</a:t>
            </a:r>
          </a:p>
          <a:p>
            <a:pPr>
              <a:lnSpc>
                <a:spcPct val="115000"/>
              </a:lnSpc>
            </a:pPr>
            <a:r>
              <a:rPr lang="en-GB" sz="1800" dirty="0">
                <a:effectLst/>
                <a:latin typeface="Times New Roman" panose="02020603050405020304" pitchFamily="18" charset="0"/>
                <a:cs typeface="Times New Roman" panose="02020603050405020304" pitchFamily="18" charset="0"/>
              </a:rPr>
              <a:t>6.3 Software Standards and their Compliance</a:t>
            </a:r>
          </a:p>
          <a:p>
            <a:pPr>
              <a:lnSpc>
                <a:spcPct val="115000"/>
              </a:lnSpc>
            </a:pPr>
            <a:r>
              <a:rPr lang="en-GB" sz="1800" dirty="0">
                <a:effectLst/>
                <a:latin typeface="Times New Roman" panose="02020603050405020304" pitchFamily="18" charset="0"/>
                <a:cs typeface="Times New Roman" panose="02020603050405020304" pitchFamily="18" charset="0"/>
              </a:rPr>
              <a:t>       6.3.1 ISO, CMMI</a:t>
            </a:r>
          </a:p>
          <a:p>
            <a:pPr>
              <a:lnSpc>
                <a:spcPct val="115000"/>
              </a:lnSpc>
            </a:pPr>
            <a:r>
              <a:rPr lang="en-GB" sz="1800" dirty="0">
                <a:effectLst/>
                <a:latin typeface="Times New Roman" panose="02020603050405020304" pitchFamily="18" charset="0"/>
                <a:cs typeface="Times New Roman" panose="02020603050405020304" pitchFamily="18" charset="0"/>
              </a:rPr>
              <a:t>6.4 Capability Assessment and Process Improvement</a:t>
            </a:r>
          </a:p>
          <a:p>
            <a:pPr>
              <a:lnSpc>
                <a:spcPct val="115000"/>
              </a:lnSpc>
            </a:pPr>
            <a:r>
              <a:rPr lang="en-GB" sz="1800" dirty="0">
                <a:effectLst/>
                <a:latin typeface="Times New Roman" panose="02020603050405020304" pitchFamily="18" charset="0"/>
                <a:cs typeface="Times New Roman" panose="02020603050405020304" pitchFamily="18" charset="0"/>
              </a:rPr>
              <a:t>6.5 Process and Product Standards</a:t>
            </a:r>
          </a:p>
          <a:p>
            <a:pPr>
              <a:lnSpc>
                <a:spcPct val="115000"/>
              </a:lnSpc>
            </a:pPr>
            <a:r>
              <a:rPr lang="en-GB" sz="1800" dirty="0">
                <a:effectLst/>
                <a:latin typeface="Times New Roman" panose="02020603050405020304" pitchFamily="18" charset="0"/>
                <a:cs typeface="Times New Roman" panose="02020603050405020304" pitchFamily="18" charset="0"/>
              </a:rPr>
              <a:t>6.6 Reviews and Inspections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591BF-FEFA-B166-0DF1-674B3DF98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6F762-7108-24F2-2C94-AEBA2D88D123}"/>
              </a:ext>
            </a:extLst>
          </p:cNvPr>
          <p:cNvSpPr>
            <a:spLocks noGrp="1"/>
          </p:cNvSpPr>
          <p:nvPr>
            <p:ph type="ctrTitle"/>
          </p:nvPr>
        </p:nvSpPr>
        <p:spPr>
          <a:xfrm>
            <a:off x="0" y="0"/>
            <a:ext cx="12192000" cy="961390"/>
          </a:xfrm>
        </p:spPr>
        <p:txBody>
          <a:bodyPr>
            <a:noAutofit/>
            <a:scene3d>
              <a:camera prst="orthographicFront"/>
              <a:lightRig rig="threePt" dir="t"/>
            </a:scene3d>
          </a:bodyPr>
          <a:lstStyle/>
          <a:p>
            <a:r>
              <a:rPr lang="en-GB" sz="4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Software Quality Concepts</a:t>
            </a:r>
          </a:p>
        </p:txBody>
      </p:sp>
      <p:pic>
        <p:nvPicPr>
          <p:cNvPr id="3" name="Picture 2">
            <a:extLst>
              <a:ext uri="{FF2B5EF4-FFF2-40B4-BE49-F238E27FC236}">
                <a16:creationId xmlns:a16="http://schemas.microsoft.com/office/drawing/2014/main" id="{65D61900-EB8C-B9C9-3D8E-73C074A07A9D}"/>
              </a:ext>
            </a:extLst>
          </p:cNvPr>
          <p:cNvPicPr>
            <a:picLocks noChangeAspect="1"/>
          </p:cNvPicPr>
          <p:nvPr/>
        </p:nvPicPr>
        <p:blipFill>
          <a:blip r:embed="rId2"/>
          <a:stretch>
            <a:fillRect/>
          </a:stretch>
        </p:blipFill>
        <p:spPr>
          <a:xfrm>
            <a:off x="1990725" y="1966595"/>
            <a:ext cx="8211820" cy="4497705"/>
          </a:xfrm>
          <a:prstGeom prst="rect">
            <a:avLst/>
          </a:prstGeom>
        </p:spPr>
      </p:pic>
      <p:sp>
        <p:nvSpPr>
          <p:cNvPr id="4" name="Text Box 3">
            <a:extLst>
              <a:ext uri="{FF2B5EF4-FFF2-40B4-BE49-F238E27FC236}">
                <a16:creationId xmlns:a16="http://schemas.microsoft.com/office/drawing/2014/main" id="{0D0AB363-EEBA-36F5-CEE3-5B6143622421}"/>
              </a:ext>
            </a:extLst>
          </p:cNvPr>
          <p:cNvSpPr txBox="1"/>
          <p:nvPr/>
        </p:nvSpPr>
        <p:spPr>
          <a:xfrm>
            <a:off x="635" y="1044575"/>
            <a:ext cx="12191365" cy="646331"/>
          </a:xfrm>
          <a:prstGeom prst="rect">
            <a:avLst/>
          </a:prstGeom>
          <a:noFill/>
        </p:spPr>
        <p:txBody>
          <a:bodyPr wrap="square" rtlCol="0" anchor="t">
            <a:spAutoFit/>
          </a:bodyPr>
          <a:lstStyle/>
          <a:p>
            <a:pPr marL="285750" indent="-285750" algn="just">
              <a:buFont typeface="Wingdings" panose="05000000000000000000" charset="0"/>
              <a:buChar char=""/>
            </a:pPr>
            <a:r>
              <a:rPr lang="en-US" b="1" dirty="0">
                <a:latin typeface="Times New Roman" panose="02020603050405020304" pitchFamily="18" charset="0"/>
                <a:cs typeface="Times New Roman" panose="02020603050405020304" pitchFamily="18" charset="0"/>
              </a:rPr>
              <a:t>Software quality</a:t>
            </a:r>
            <a:r>
              <a:rPr lang="en-US" dirty="0">
                <a:latin typeface="Times New Roman" panose="02020603050405020304" pitchFamily="18" charset="0"/>
                <a:cs typeface="Times New Roman" panose="02020603050405020304" pitchFamily="18" charset="0"/>
              </a:rPr>
              <a:t> refers to the degree to which a software product meets specified requirements and user expectations.</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Software Quality shows how good and reliable a product is</a:t>
            </a:r>
          </a:p>
        </p:txBody>
      </p:sp>
    </p:spTree>
    <p:extLst>
      <p:ext uri="{BB962C8B-B14F-4D97-AF65-F5344CB8AC3E}">
        <p14:creationId xmlns:p14="http://schemas.microsoft.com/office/powerpoint/2010/main" val="279037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1E67D-0348-004E-0A23-AC88AADB2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E630D-A11A-4EDF-FBB1-6D9E841E4B26}"/>
              </a:ext>
            </a:extLst>
          </p:cNvPr>
          <p:cNvSpPr>
            <a:spLocks noGrp="1"/>
          </p:cNvSpPr>
          <p:nvPr>
            <p:ph type="ctrTitle"/>
          </p:nvPr>
        </p:nvSpPr>
        <p:spPr>
          <a:xfrm>
            <a:off x="0" y="0"/>
            <a:ext cx="12192000" cy="961390"/>
          </a:xfrm>
        </p:spPr>
        <p:txBody>
          <a:bodyPr>
            <a:noAutofit/>
            <a:scene3d>
              <a:camera prst="orthographicFront"/>
              <a:lightRig rig="threePt" dir="t"/>
            </a:scene3d>
          </a:bodyPr>
          <a:lstStyle/>
          <a:p>
            <a:r>
              <a:rPr lang="en-GB" sz="4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Software Quality Assurance (SQA)</a:t>
            </a:r>
          </a:p>
        </p:txBody>
      </p:sp>
      <p:sp>
        <p:nvSpPr>
          <p:cNvPr id="5" name="Text Box 4">
            <a:extLst>
              <a:ext uri="{FF2B5EF4-FFF2-40B4-BE49-F238E27FC236}">
                <a16:creationId xmlns:a16="http://schemas.microsoft.com/office/drawing/2014/main" id="{E7C6634F-0255-57F8-1B5F-1B43DA5C345A}"/>
              </a:ext>
            </a:extLst>
          </p:cNvPr>
          <p:cNvSpPr txBox="1"/>
          <p:nvPr/>
        </p:nvSpPr>
        <p:spPr>
          <a:xfrm>
            <a:off x="-635" y="961390"/>
            <a:ext cx="12192000" cy="645160"/>
          </a:xfrm>
          <a:prstGeom prst="rect">
            <a:avLst/>
          </a:prstGeom>
          <a:noFill/>
        </p:spPr>
        <p:txBody>
          <a:bodyPr wrap="square" rtlCol="0" anchor="t">
            <a:spAutoFit/>
          </a:bodyPr>
          <a:lstStyle/>
          <a:p>
            <a:r>
              <a:rPr lang="en-US" dirty="0">
                <a:latin typeface="Times New Roman" panose="02020603050405020304" pitchFamily="18" charset="0"/>
                <a:cs typeface="Times New Roman" panose="02020603050405020304" pitchFamily="18" charset="0"/>
              </a:rPr>
              <a:t>Quality defines to any measurable characteristics such as correctness, maintainability, portability, testability, usability, reliability, efficiency, integrity, reusability, and interoperability.</a:t>
            </a:r>
          </a:p>
        </p:txBody>
      </p:sp>
      <p:pic>
        <p:nvPicPr>
          <p:cNvPr id="6" name="Picture 5">
            <a:extLst>
              <a:ext uri="{FF2B5EF4-FFF2-40B4-BE49-F238E27FC236}">
                <a16:creationId xmlns:a16="http://schemas.microsoft.com/office/drawing/2014/main" id="{FCAA46EB-D0CF-C471-7F26-B159D0124FDD}"/>
              </a:ext>
            </a:extLst>
          </p:cNvPr>
          <p:cNvPicPr>
            <a:picLocks noChangeAspect="1"/>
          </p:cNvPicPr>
          <p:nvPr/>
        </p:nvPicPr>
        <p:blipFill>
          <a:blip r:embed="rId2"/>
          <a:stretch>
            <a:fillRect/>
          </a:stretch>
        </p:blipFill>
        <p:spPr>
          <a:xfrm>
            <a:off x="2340610" y="2969895"/>
            <a:ext cx="6978650" cy="2957195"/>
          </a:xfrm>
          <a:prstGeom prst="rect">
            <a:avLst/>
          </a:prstGeom>
        </p:spPr>
      </p:pic>
      <p:sp>
        <p:nvSpPr>
          <p:cNvPr id="7" name="Text Box 6">
            <a:extLst>
              <a:ext uri="{FF2B5EF4-FFF2-40B4-BE49-F238E27FC236}">
                <a16:creationId xmlns:a16="http://schemas.microsoft.com/office/drawing/2014/main" id="{63769E8A-399D-D6FE-3BFE-BB668584F9EE}"/>
              </a:ext>
            </a:extLst>
          </p:cNvPr>
          <p:cNvSpPr txBox="1"/>
          <p:nvPr/>
        </p:nvSpPr>
        <p:spPr>
          <a:xfrm>
            <a:off x="-635" y="1682115"/>
            <a:ext cx="12192000" cy="645160"/>
          </a:xfrm>
          <a:prstGeom prst="rect">
            <a:avLst/>
          </a:prstGeom>
          <a:noFill/>
        </p:spPr>
        <p:txBody>
          <a:bodyPr wrap="square" rtlCol="0" anchor="t">
            <a:spAutoFit/>
          </a:bodyPr>
          <a:lstStyle/>
          <a:p>
            <a:r>
              <a:rPr lang="en-US" b="1" dirty="0">
                <a:latin typeface="Times New Roman" panose="02020603050405020304" pitchFamily="18" charset="0"/>
                <a:cs typeface="Times New Roman" panose="02020603050405020304" pitchFamily="18" charset="0"/>
              </a:rPr>
              <a:t>Quality of Design: </a:t>
            </a:r>
            <a:r>
              <a:rPr lang="en-US" dirty="0">
                <a:latin typeface="Times New Roman" panose="02020603050405020304" pitchFamily="18" charset="0"/>
                <a:cs typeface="Times New Roman" panose="02020603050405020304" pitchFamily="18" charset="0"/>
              </a:rPr>
              <a:t>refers to the characteristics that designers specify for an item.</a:t>
            </a:r>
          </a:p>
          <a:p>
            <a:r>
              <a:rPr lang="en-US" b="1" dirty="0">
                <a:latin typeface="Times New Roman" panose="02020603050405020304" pitchFamily="18" charset="0"/>
                <a:cs typeface="Times New Roman" panose="02020603050405020304" pitchFamily="18" charset="0"/>
              </a:rPr>
              <a:t>Quality of conformance:</a:t>
            </a:r>
            <a:r>
              <a:rPr lang="en-US" dirty="0">
                <a:latin typeface="Times New Roman" panose="02020603050405020304" pitchFamily="18" charset="0"/>
                <a:cs typeface="Times New Roman" panose="02020603050405020304" pitchFamily="18" charset="0"/>
              </a:rPr>
              <a:t> is the degree to which the design specifications are followed during manufacturing.  </a:t>
            </a:r>
          </a:p>
        </p:txBody>
      </p:sp>
    </p:spTree>
    <p:extLst>
      <p:ext uri="{BB962C8B-B14F-4D97-AF65-F5344CB8AC3E}">
        <p14:creationId xmlns:p14="http://schemas.microsoft.com/office/powerpoint/2010/main" val="1082722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97BB8-03A6-4C5E-22B5-6F2AF6CE9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9B237-28C9-7A86-2BB0-177E72A65B3A}"/>
              </a:ext>
            </a:extLst>
          </p:cNvPr>
          <p:cNvSpPr>
            <a:spLocks noGrp="1"/>
          </p:cNvSpPr>
          <p:nvPr>
            <p:ph type="ctrTitle"/>
          </p:nvPr>
        </p:nvSpPr>
        <p:spPr>
          <a:xfrm>
            <a:off x="0" y="0"/>
            <a:ext cx="12192000" cy="961390"/>
          </a:xfrm>
        </p:spPr>
        <p:txBody>
          <a:bodyPr>
            <a:noAutofit/>
            <a:scene3d>
              <a:camera prst="orthographicFront"/>
              <a:lightRig rig="threePt" dir="t"/>
            </a:scene3d>
          </a:bodyPr>
          <a:lstStyle/>
          <a:p>
            <a:r>
              <a:rPr lang="en-GB" sz="4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Software Quality Assurance (SQA)</a:t>
            </a:r>
          </a:p>
        </p:txBody>
      </p:sp>
      <p:sp>
        <p:nvSpPr>
          <p:cNvPr id="5" name="Text Box 4">
            <a:extLst>
              <a:ext uri="{FF2B5EF4-FFF2-40B4-BE49-F238E27FC236}">
                <a16:creationId xmlns:a16="http://schemas.microsoft.com/office/drawing/2014/main" id="{581E09AF-F32C-BD67-7C4D-C066FC24FD66}"/>
              </a:ext>
            </a:extLst>
          </p:cNvPr>
          <p:cNvSpPr txBox="1"/>
          <p:nvPr/>
        </p:nvSpPr>
        <p:spPr>
          <a:xfrm>
            <a:off x="89535" y="961390"/>
            <a:ext cx="12101830" cy="1476375"/>
          </a:xfrm>
          <a:prstGeom prst="rect">
            <a:avLst/>
          </a:prstGeom>
          <a:noFill/>
        </p:spPr>
        <p:txBody>
          <a:bodyPr wrap="square" rtlCol="0" anchor="t">
            <a:spAutoFit/>
          </a:bodyPr>
          <a:lstStyle/>
          <a:p>
            <a:pPr marL="285750" indent="-285750">
              <a:buFont typeface="Wingdings" panose="05000000000000000000" charset="0"/>
              <a:buChar char=""/>
            </a:pPr>
            <a:r>
              <a:rPr lang="en-US" b="1">
                <a:latin typeface="times)" charset="0"/>
                <a:cs typeface="times)" charset="0"/>
              </a:rPr>
              <a:t>Software quality assurance</a:t>
            </a:r>
            <a:r>
              <a:rPr lang="en-US">
                <a:latin typeface="times)" charset="0"/>
                <a:cs typeface="times)" charset="0"/>
              </a:rPr>
              <a:t> is a systematic plan of all actions necessary to provide adequate confidence that an item or product conforms to establish technical requirements.</a:t>
            </a:r>
          </a:p>
          <a:p>
            <a:pPr marL="285750" indent="-285750">
              <a:buFont typeface="Wingdings" panose="05000000000000000000" charset="0"/>
              <a:buChar char=""/>
            </a:pPr>
            <a:r>
              <a:rPr lang="en-US" b="1">
                <a:latin typeface="times)" charset="0"/>
                <a:cs typeface="times)" charset="0"/>
              </a:rPr>
              <a:t>Software Quality Assurance (SQA) </a:t>
            </a:r>
            <a:r>
              <a:rPr lang="en-US">
                <a:latin typeface="times)" charset="0"/>
                <a:cs typeface="times)" charset="0"/>
              </a:rPr>
              <a:t>is simply a way to assure quality in the software. </a:t>
            </a:r>
          </a:p>
          <a:p>
            <a:pPr marL="285750" indent="-285750">
              <a:buFont typeface="Wingdings" panose="05000000000000000000" charset="0"/>
              <a:buChar char=""/>
            </a:pPr>
            <a:r>
              <a:rPr lang="en-US">
                <a:latin typeface="times)" charset="0"/>
                <a:cs typeface="times)" charset="0"/>
              </a:rPr>
              <a:t>It is the set of activities which ensure processes, procedures as well as standards are suitable for the project and implemented correctly. </a:t>
            </a:r>
          </a:p>
        </p:txBody>
      </p:sp>
      <p:sp>
        <p:nvSpPr>
          <p:cNvPr id="4" name="Text Box 3">
            <a:extLst>
              <a:ext uri="{FF2B5EF4-FFF2-40B4-BE49-F238E27FC236}">
                <a16:creationId xmlns:a16="http://schemas.microsoft.com/office/drawing/2014/main" id="{600F4A15-62B8-346D-6FB8-BBED15C05320}"/>
              </a:ext>
            </a:extLst>
          </p:cNvPr>
          <p:cNvSpPr txBox="1"/>
          <p:nvPr/>
        </p:nvSpPr>
        <p:spPr>
          <a:xfrm>
            <a:off x="236855" y="2668270"/>
            <a:ext cx="8307070" cy="3876675"/>
          </a:xfrm>
          <a:prstGeom prst="rect">
            <a:avLst/>
          </a:prstGeom>
          <a:noFill/>
        </p:spPr>
        <p:txBody>
          <a:bodyPr wrap="square" rtlCol="0" anchor="t">
            <a:spAutoFit/>
          </a:bodyPr>
          <a:lstStyle/>
          <a:p>
            <a:r>
              <a:rPr lang="en-US" sz="2400" b="1">
                <a:latin typeface="times" charset="0"/>
                <a:cs typeface="times" charset="0"/>
              </a:rPr>
              <a:t>Software Quality Assurance (SQA) focuses on</a:t>
            </a:r>
          </a:p>
          <a:p>
            <a:r>
              <a:rPr lang="en-US">
                <a:latin typeface="times" charset="0"/>
                <a:cs typeface="times" charset="0"/>
              </a:rPr>
              <a:t>software’s portability</a:t>
            </a:r>
          </a:p>
          <a:p>
            <a:r>
              <a:rPr lang="en-US">
                <a:latin typeface="times" charset="0"/>
                <a:cs typeface="times" charset="0"/>
              </a:rPr>
              <a:t>software’s usability</a:t>
            </a:r>
          </a:p>
          <a:p>
            <a:r>
              <a:rPr lang="en-US">
                <a:latin typeface="times" charset="0"/>
                <a:cs typeface="times" charset="0"/>
              </a:rPr>
              <a:t>software’s reusability</a:t>
            </a:r>
          </a:p>
          <a:p>
            <a:r>
              <a:rPr lang="en-US">
                <a:latin typeface="times" charset="0"/>
                <a:cs typeface="times" charset="0"/>
              </a:rPr>
              <a:t>software’s correctness</a:t>
            </a:r>
          </a:p>
          <a:p>
            <a:r>
              <a:rPr lang="en-US">
                <a:latin typeface="times" charset="0"/>
                <a:cs typeface="times" charset="0"/>
              </a:rPr>
              <a:t>software’s maintainability</a:t>
            </a:r>
          </a:p>
          <a:p>
            <a:r>
              <a:rPr lang="en-US">
                <a:latin typeface="times" charset="0"/>
                <a:cs typeface="times" charset="0"/>
              </a:rPr>
              <a:t>software’s error control</a:t>
            </a:r>
          </a:p>
          <a:p>
            <a:r>
              <a:rPr lang="en-US" sz="2400" b="1">
                <a:latin typeface="times" charset="0"/>
                <a:cs typeface="times" charset="0"/>
              </a:rPr>
              <a:t>Software Quality Assurance (SQA) has</a:t>
            </a:r>
          </a:p>
          <a:p>
            <a:r>
              <a:rPr lang="en-US">
                <a:latin typeface="times" charset="0"/>
                <a:cs typeface="times" charset="0"/>
              </a:rPr>
              <a:t>A quality management approach.</a:t>
            </a:r>
          </a:p>
          <a:p>
            <a:r>
              <a:rPr lang="en-US">
                <a:latin typeface="times" charset="0"/>
                <a:cs typeface="times" charset="0"/>
              </a:rPr>
              <a:t>Formal technical reviews.</a:t>
            </a:r>
          </a:p>
          <a:p>
            <a:r>
              <a:rPr lang="en-US">
                <a:latin typeface="times" charset="0"/>
                <a:cs typeface="times" charset="0"/>
              </a:rPr>
              <a:t>Multi testing strategy. </a:t>
            </a:r>
          </a:p>
          <a:p>
            <a:r>
              <a:rPr lang="en-US">
                <a:latin typeface="times" charset="0"/>
                <a:cs typeface="times" charset="0"/>
              </a:rPr>
              <a:t>Effective software engineering technology. </a:t>
            </a:r>
          </a:p>
          <a:p>
            <a:r>
              <a:rPr lang="en-US">
                <a:latin typeface="times" charset="0"/>
                <a:cs typeface="times" charset="0"/>
              </a:rPr>
              <a:t>Measurement and reporting mechanism.  </a:t>
            </a:r>
          </a:p>
        </p:txBody>
      </p:sp>
    </p:spTree>
    <p:extLst>
      <p:ext uri="{BB962C8B-B14F-4D97-AF65-F5344CB8AC3E}">
        <p14:creationId xmlns:p14="http://schemas.microsoft.com/office/powerpoint/2010/main" val="13595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EDB9D-D843-4D16-CD61-5F4FE2B5F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CDD81-DEF6-D100-6A85-BE4B04266FC7}"/>
              </a:ext>
            </a:extLst>
          </p:cNvPr>
          <p:cNvSpPr>
            <a:spLocks noGrp="1"/>
          </p:cNvSpPr>
          <p:nvPr>
            <p:ph type="ctrTitle"/>
          </p:nvPr>
        </p:nvSpPr>
        <p:spPr>
          <a:xfrm>
            <a:off x="0" y="0"/>
            <a:ext cx="12192000" cy="961390"/>
          </a:xfrm>
        </p:spPr>
        <p:txBody>
          <a:bodyPr>
            <a:noAutofit/>
            <a:scene3d>
              <a:camera prst="orthographicFront"/>
              <a:lightRig rig="threePt" dir="t"/>
            </a:scene3d>
          </a:bodyPr>
          <a:lstStyle/>
          <a:p>
            <a:r>
              <a:rPr lang="en-US" sz="4400" b="1">
                <a:solidFill>
                  <a:schemeClr val="accent1"/>
                </a:solidFill>
                <a:effectLst>
                  <a:outerShdw blurRad="38100" dist="25400" dir="5400000" algn="ctr" rotWithShape="0">
                    <a:srgbClr val="6E747A">
                      <a:alpha val="43000"/>
                      <a:alpha val="43000"/>
                    </a:srgbClr>
                  </a:outerShdw>
                </a:effectLst>
                <a:highlight>
                  <a:srgbClr val="FFFFFF"/>
                </a:highlight>
                <a:latin typeface="times" charset="0"/>
                <a:cs typeface="times" charset="0"/>
                <a:sym typeface="+mn-ea"/>
              </a:rPr>
              <a:t>Major (SQA) Activities</a:t>
            </a:r>
            <a:endParaRPr lang="en-US" sz="4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charset="0"/>
              <a:cs typeface="times" charset="0"/>
              <a:sym typeface="+mn-ea"/>
            </a:endParaRPr>
          </a:p>
        </p:txBody>
      </p:sp>
      <p:sp>
        <p:nvSpPr>
          <p:cNvPr id="3" name="Text Box 2">
            <a:extLst>
              <a:ext uri="{FF2B5EF4-FFF2-40B4-BE49-F238E27FC236}">
                <a16:creationId xmlns:a16="http://schemas.microsoft.com/office/drawing/2014/main" id="{D12CADDC-B74E-CDAB-D570-09A3DAE09D5B}"/>
              </a:ext>
            </a:extLst>
          </p:cNvPr>
          <p:cNvSpPr txBox="1"/>
          <p:nvPr/>
        </p:nvSpPr>
        <p:spPr>
          <a:xfrm>
            <a:off x="203835" y="961390"/>
            <a:ext cx="5372100" cy="2306955"/>
          </a:xfrm>
          <a:prstGeom prst="rect">
            <a:avLst/>
          </a:prstGeom>
          <a:noFill/>
        </p:spPr>
        <p:txBody>
          <a:bodyPr wrap="square" rtlCol="0" anchor="t">
            <a:spAutoFit/>
          </a:bodyPr>
          <a:lstStyle/>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SQA Management Plan: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Set The Check Points: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Measure Change Impact: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Multi testing Strategy: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Manage Good Relations: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Maintaining records and reports :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Reviews software engineering activities :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Formalize deviation handling : </a:t>
            </a:r>
          </a:p>
        </p:txBody>
      </p:sp>
    </p:spTree>
    <p:extLst>
      <p:ext uri="{BB962C8B-B14F-4D97-AF65-F5344CB8AC3E}">
        <p14:creationId xmlns:p14="http://schemas.microsoft.com/office/powerpoint/2010/main" val="202540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7005-408A-95B1-9A8C-28CA9A9BCDC7}"/>
            </a:ext>
          </a:extLst>
        </p:cNvPr>
        <p:cNvGrpSpPr/>
        <p:nvPr/>
      </p:nvGrpSpPr>
      <p:grpSpPr>
        <a:xfrm>
          <a:off x="0" y="0"/>
          <a:ext cx="0" cy="0"/>
          <a:chOff x="0" y="0"/>
          <a:chExt cx="0" cy="0"/>
        </a:xfrm>
      </p:grpSpPr>
      <p:sp>
        <p:nvSpPr>
          <p:cNvPr id="4" name="Text Box 3">
            <a:extLst>
              <a:ext uri="{FF2B5EF4-FFF2-40B4-BE49-F238E27FC236}">
                <a16:creationId xmlns:a16="http://schemas.microsoft.com/office/drawing/2014/main" id="{75F6483F-ECD0-C307-AD80-53517FFE5B8E}"/>
              </a:ext>
            </a:extLst>
          </p:cNvPr>
          <p:cNvSpPr txBox="1"/>
          <p:nvPr/>
        </p:nvSpPr>
        <p:spPr>
          <a:xfrm>
            <a:off x="146050" y="168910"/>
            <a:ext cx="11466195" cy="3662541"/>
          </a:xfrm>
          <a:prstGeom prst="rect">
            <a:avLst/>
          </a:prstGeom>
          <a:noFill/>
        </p:spPr>
        <p:txBody>
          <a:bodyPr wrap="square" rtlCol="0" anchor="t">
            <a:spAutoFit/>
          </a:bodyPr>
          <a:lstStyle/>
          <a:p>
            <a:pPr algn="ctr"/>
            <a:r>
              <a:rPr lang="en-US" sz="28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Benefits of Software Quality Assurance (SQA)</a:t>
            </a:r>
          </a:p>
          <a:p>
            <a:pPr marL="285750" indent="-285750">
              <a:buFont typeface="Wingdings" panose="05000000000000000000" charset="0"/>
              <a:buChar char=""/>
            </a:pPr>
            <a:r>
              <a:rPr lang="en-US" dirty="0">
                <a:latin typeface="times" charset="0"/>
                <a:cs typeface="times" charset="0"/>
              </a:rPr>
              <a:t>SQA produces high quality software. </a:t>
            </a:r>
          </a:p>
          <a:p>
            <a:pPr marL="285750" indent="-285750">
              <a:buFont typeface="Wingdings" panose="05000000000000000000" charset="0"/>
              <a:buChar char=""/>
            </a:pPr>
            <a:r>
              <a:rPr lang="en-US" dirty="0">
                <a:latin typeface="times" charset="0"/>
                <a:cs typeface="times" charset="0"/>
              </a:rPr>
              <a:t>High quality application saves time and cost. </a:t>
            </a:r>
          </a:p>
          <a:p>
            <a:pPr marL="285750" indent="-285750">
              <a:buFont typeface="Wingdings" panose="05000000000000000000" charset="0"/>
              <a:buChar char=""/>
            </a:pPr>
            <a:r>
              <a:rPr lang="en-US" dirty="0">
                <a:latin typeface="times" charset="0"/>
                <a:cs typeface="times" charset="0"/>
              </a:rPr>
              <a:t>SQA is beneficial for better reliability. </a:t>
            </a:r>
          </a:p>
          <a:p>
            <a:pPr marL="285750" indent="-285750">
              <a:buFont typeface="Wingdings" panose="05000000000000000000" charset="0"/>
              <a:buChar char=""/>
            </a:pPr>
            <a:r>
              <a:rPr lang="en-US" dirty="0">
                <a:latin typeface="times" charset="0"/>
                <a:cs typeface="times" charset="0"/>
              </a:rPr>
              <a:t>Improving the process of creating software. </a:t>
            </a:r>
          </a:p>
          <a:p>
            <a:pPr marL="285750" indent="-285750">
              <a:buFont typeface="Wingdings" panose="05000000000000000000" charset="0"/>
              <a:buChar char=""/>
            </a:pPr>
            <a:r>
              <a:rPr lang="en-US" dirty="0">
                <a:latin typeface="times" charset="0"/>
                <a:cs typeface="times" charset="0"/>
              </a:rPr>
              <a:t>Improves the quality of the software. </a:t>
            </a:r>
          </a:p>
          <a:p>
            <a:endParaRPr lang="en-US" dirty="0">
              <a:latin typeface="times" charset="0"/>
              <a:cs typeface="times" charset="0"/>
            </a:endParaRPr>
          </a:p>
          <a:p>
            <a:pPr algn="ctr"/>
            <a:r>
              <a:rPr lang="en-US" sz="2400" b="1" dirty="0">
                <a:solidFill>
                  <a:schemeClr val="accent1"/>
                </a:solidFill>
                <a:effectLst>
                  <a:outerShdw blurRad="38100" dist="25400" dir="5400000" algn="ctr" rotWithShape="0">
                    <a:srgbClr val="6E747A">
                      <a:alpha val="43000"/>
                      <a:alpha val="43000"/>
                    </a:srgbClr>
                  </a:outerShdw>
                </a:effectLst>
                <a:latin typeface="times" charset="0"/>
                <a:cs typeface="times" charset="0"/>
              </a:rPr>
              <a:t>Disadvantage of Software Quality Assurance (SQA)</a:t>
            </a:r>
          </a:p>
          <a:p>
            <a:endParaRPr lang="en-US" dirty="0">
              <a:latin typeface="times" charset="0"/>
              <a:cs typeface="times" charset="0"/>
            </a:endParaRPr>
          </a:p>
          <a:p>
            <a:pPr marL="285750" indent="-285750">
              <a:buFont typeface="Wingdings" panose="05000000000000000000" charset="0"/>
              <a:buChar char=""/>
            </a:pPr>
            <a:r>
              <a:rPr lang="en-US" dirty="0">
                <a:latin typeface="times" charset="0"/>
                <a:cs typeface="times" charset="0"/>
              </a:rPr>
              <a:t>Cost: </a:t>
            </a:r>
          </a:p>
          <a:p>
            <a:pPr marL="285750" indent="-285750">
              <a:buFont typeface="Wingdings" panose="05000000000000000000" charset="0"/>
              <a:buChar char=""/>
            </a:pPr>
            <a:r>
              <a:rPr lang="en-US" dirty="0">
                <a:latin typeface="times" charset="0"/>
                <a:cs typeface="times" charset="0"/>
              </a:rPr>
              <a:t>Time Consuming: </a:t>
            </a:r>
          </a:p>
          <a:p>
            <a:pPr marL="285750" indent="-285750">
              <a:buFont typeface="Wingdings" panose="05000000000000000000" charset="0"/>
              <a:buChar char=""/>
            </a:pPr>
            <a:r>
              <a:rPr lang="en-US" dirty="0">
                <a:latin typeface="times" charset="0"/>
                <a:cs typeface="times" charset="0"/>
              </a:rPr>
              <a:t>Overhead: </a:t>
            </a:r>
          </a:p>
        </p:txBody>
      </p:sp>
    </p:spTree>
    <p:extLst>
      <p:ext uri="{BB962C8B-B14F-4D97-AF65-F5344CB8AC3E}">
        <p14:creationId xmlns:p14="http://schemas.microsoft.com/office/powerpoint/2010/main" val="646589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7320"/>
            <a:ext cx="12192000" cy="677545"/>
          </a:xfrm>
        </p:spPr>
        <p:txBody>
          <a:bodyPr>
            <a:normAutofit fontScale="90000"/>
            <a:scene3d>
              <a:camera prst="orthographicFront"/>
              <a:lightRig rig="threePt" dir="t"/>
            </a:scene3d>
          </a:bodyPr>
          <a:lstStyle/>
          <a:p>
            <a:r>
              <a:rPr lang="en-IN" sz="48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Introduction to Software Reliability</a:t>
            </a:r>
          </a:p>
        </p:txBody>
      </p:sp>
      <p:sp>
        <p:nvSpPr>
          <p:cNvPr id="3" name="Text Box 2"/>
          <p:cNvSpPr txBox="1"/>
          <p:nvPr/>
        </p:nvSpPr>
        <p:spPr>
          <a:xfrm>
            <a:off x="79375" y="910590"/>
            <a:ext cx="12192000" cy="645160"/>
          </a:xfrm>
          <a:prstGeom prst="rect">
            <a:avLst/>
          </a:prstGeom>
          <a:noFill/>
        </p:spPr>
        <p:txBody>
          <a:bodyPr wrap="square" rtlCol="0" anchor="t">
            <a:spAutoFit/>
          </a:bodyPr>
          <a:lstStyle/>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 probability that the software will operate failure-free for a specific period of time in a specific environment.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It is measured per some unit of time.</a:t>
            </a:r>
          </a:p>
        </p:txBody>
      </p:sp>
      <p:pic>
        <p:nvPicPr>
          <p:cNvPr id="4" name="Picture 3"/>
          <p:cNvPicPr>
            <a:picLocks noChangeAspect="1"/>
          </p:cNvPicPr>
          <p:nvPr/>
        </p:nvPicPr>
        <p:blipFill>
          <a:blip r:embed="rId2"/>
          <a:stretch>
            <a:fillRect/>
          </a:stretch>
        </p:blipFill>
        <p:spPr>
          <a:xfrm>
            <a:off x="1605280" y="1641475"/>
            <a:ext cx="9163050" cy="4762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7320"/>
            <a:ext cx="12192000" cy="677545"/>
          </a:xfrm>
        </p:spPr>
        <p:txBody>
          <a:bodyPr>
            <a:normAutofit fontScale="90000"/>
            <a:scene3d>
              <a:camera prst="orthographicFront"/>
              <a:lightRig rig="threePt" dir="t"/>
            </a:scene3d>
          </a:bodyPr>
          <a:lstStyle/>
          <a:p>
            <a:r>
              <a:rPr lang="en-IN" sz="48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Introduction to Software Reliability</a:t>
            </a:r>
          </a:p>
        </p:txBody>
      </p:sp>
      <p:sp>
        <p:nvSpPr>
          <p:cNvPr id="3" name="Text Box 2"/>
          <p:cNvSpPr txBox="1"/>
          <p:nvPr/>
        </p:nvSpPr>
        <p:spPr>
          <a:xfrm>
            <a:off x="79375" y="910590"/>
            <a:ext cx="12192000" cy="4308872"/>
          </a:xfrm>
          <a:prstGeom prst="rect">
            <a:avLst/>
          </a:prstGeom>
          <a:noFill/>
        </p:spPr>
        <p:txBody>
          <a:bodyPr wrap="square" rtlCol="0" anchor="t">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Factors Affecting Reliability: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Design Quality: </a:t>
            </a:r>
          </a:p>
          <a:p>
            <a:r>
              <a:rPr lang="en-US" dirty="0">
                <a:latin typeface="Times New Roman" panose="02020603050405020304" pitchFamily="18" charset="0"/>
                <a:cs typeface="Times New Roman" panose="02020603050405020304" pitchFamily="18" charset="0"/>
              </a:rPr>
              <a:t>Testing:</a:t>
            </a:r>
          </a:p>
          <a:p>
            <a:r>
              <a:rPr lang="en-US" dirty="0">
                <a:latin typeface="Times New Roman" panose="02020603050405020304" pitchFamily="18" charset="0"/>
                <a:cs typeface="Times New Roman" panose="02020603050405020304" pitchFamily="18" charset="0"/>
              </a:rPr>
              <a:t>Operational Environment:</a:t>
            </a:r>
          </a:p>
          <a:p>
            <a:r>
              <a:rPr lang="en-US" dirty="0">
                <a:latin typeface="Times New Roman" panose="02020603050405020304" pitchFamily="18" charset="0"/>
                <a:cs typeface="Times New Roman" panose="02020603050405020304" pitchFamily="18" charset="0"/>
              </a:rPr>
              <a:t>Maintenance:</a:t>
            </a:r>
          </a:p>
          <a:p>
            <a:r>
              <a:rPr lang="en-US" dirty="0">
                <a:latin typeface="Times New Roman" panose="02020603050405020304" pitchFamily="18" charset="0"/>
                <a:cs typeface="Times New Roman" panose="02020603050405020304" pitchFamily="18" charset="0"/>
              </a:rPr>
              <a:t>Complexity:</a:t>
            </a:r>
          </a:p>
          <a:p>
            <a:endParaRPr lang="en-US" dirty="0">
              <a:latin typeface="Times New Roman" panose="02020603050405020304" pitchFamily="18" charset="0"/>
              <a:cs typeface="Times New Roman" panose="02020603050405020304" pitchFamily="18" charset="0"/>
            </a:endParaRPr>
          </a:p>
          <a:p>
            <a:pPr algn="ctr"/>
            <a:r>
              <a:rPr lang="en-US" sz="2000" b="1" dirty="0">
                <a:solidFill>
                  <a:srgbClr val="FF0000"/>
                </a:solidFill>
                <a:latin typeface="Times New Roman" panose="02020603050405020304" pitchFamily="18" charset="0"/>
                <a:cs typeface="Times New Roman" panose="02020603050405020304" pitchFamily="18" charset="0"/>
              </a:rPr>
              <a:t>Techniques for Improving Reliability: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Fault Tolerance: </a:t>
            </a:r>
          </a:p>
          <a:p>
            <a:r>
              <a:rPr lang="en-US" dirty="0">
                <a:latin typeface="Times New Roman" panose="02020603050405020304" pitchFamily="18" charset="0"/>
                <a:cs typeface="Times New Roman" panose="02020603050405020304" pitchFamily="18" charset="0"/>
              </a:rPr>
              <a:t>Redundancy: </a:t>
            </a:r>
          </a:p>
          <a:p>
            <a:r>
              <a:rPr lang="en-US" dirty="0">
                <a:latin typeface="Times New Roman" panose="02020603050405020304" pitchFamily="18" charset="0"/>
                <a:cs typeface="Times New Roman" panose="02020603050405020304" pitchFamily="18" charset="0"/>
              </a:rPr>
              <a:t>Error Handling: </a:t>
            </a:r>
          </a:p>
          <a:p>
            <a:r>
              <a:rPr lang="en-US" dirty="0">
                <a:latin typeface="Times New Roman" panose="02020603050405020304" pitchFamily="18" charset="0"/>
                <a:cs typeface="Times New Roman" panose="02020603050405020304" pitchFamily="18" charset="0"/>
              </a:rPr>
              <a:t>Monitoring and Logging:</a:t>
            </a:r>
          </a:p>
          <a:p>
            <a:r>
              <a:rPr lang="en-US" dirty="0">
                <a:latin typeface="Times New Roman" panose="02020603050405020304" pitchFamily="18" charset="0"/>
                <a:cs typeface="Times New Roman" panose="02020603050405020304" pitchFamily="18" charset="0"/>
              </a:rPr>
              <a:t>Documentation and Training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2700"/>
            <a:ext cx="12192000" cy="405765"/>
          </a:xfrm>
        </p:spPr>
        <p:txBody>
          <a:bodyPr>
            <a:noAutofit/>
            <a:scene3d>
              <a:camera prst="orthographicFront"/>
              <a:lightRig rig="threePt" dir="t"/>
            </a:scene3d>
          </a:bodyPr>
          <a:lstStyle/>
          <a:p>
            <a:r>
              <a:rPr 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Measures of Reliability and Availability</a:t>
            </a:r>
          </a:p>
        </p:txBody>
      </p:sp>
      <p:graphicFrame>
        <p:nvGraphicFramePr>
          <p:cNvPr id="3" name="Table 2">
            <a:extLst>
              <a:ext uri="{FF2B5EF4-FFF2-40B4-BE49-F238E27FC236}">
                <a16:creationId xmlns:a16="http://schemas.microsoft.com/office/drawing/2014/main" id="{C9B05961-52BD-1F64-2984-52563F3DABCE}"/>
              </a:ext>
            </a:extLst>
          </p:cNvPr>
          <p:cNvGraphicFramePr>
            <a:graphicFrameLocks noGrp="1"/>
          </p:cNvGraphicFramePr>
          <p:nvPr>
            <p:extLst>
              <p:ext uri="{D42A27DB-BD31-4B8C-83A1-F6EECF244321}">
                <p14:modId xmlns:p14="http://schemas.microsoft.com/office/powerpoint/2010/main" val="2348468219"/>
              </p:ext>
            </p:extLst>
          </p:nvPr>
        </p:nvGraphicFramePr>
        <p:xfrm>
          <a:off x="0" y="1143000"/>
          <a:ext cx="12191999" cy="4572000"/>
        </p:xfrm>
        <a:graphic>
          <a:graphicData uri="http://schemas.openxmlformats.org/drawingml/2006/table">
            <a:tbl>
              <a:tblPr/>
              <a:tblGrid>
                <a:gridCol w="1733107">
                  <a:extLst>
                    <a:ext uri="{9D8B030D-6E8A-4147-A177-3AD203B41FA5}">
                      <a16:colId xmlns:a16="http://schemas.microsoft.com/office/drawing/2014/main" val="3801036547"/>
                    </a:ext>
                  </a:extLst>
                </a:gridCol>
                <a:gridCol w="4901609">
                  <a:extLst>
                    <a:ext uri="{9D8B030D-6E8A-4147-A177-3AD203B41FA5}">
                      <a16:colId xmlns:a16="http://schemas.microsoft.com/office/drawing/2014/main" val="4246875020"/>
                    </a:ext>
                  </a:extLst>
                </a:gridCol>
                <a:gridCol w="5557283">
                  <a:extLst>
                    <a:ext uri="{9D8B030D-6E8A-4147-A177-3AD203B41FA5}">
                      <a16:colId xmlns:a16="http://schemas.microsoft.com/office/drawing/2014/main" val="1566079864"/>
                    </a:ext>
                  </a:extLst>
                </a:gridCol>
              </a:tblGrid>
              <a:tr h="490825">
                <a:tc>
                  <a:txBody>
                    <a:bodyPr/>
                    <a:lstStyle/>
                    <a:p>
                      <a:pPr algn="ctr" rtl="0" fontAlgn="base">
                        <a:spcAft>
                          <a:spcPts val="750"/>
                        </a:spcAft>
                      </a:pPr>
                      <a:r>
                        <a:rPr lang="en-GB" sz="2400" b="1" dirty="0">
                          <a:latin typeface="Times New Roman" panose="02020603050405020304" pitchFamily="18" charset="0"/>
                          <a:cs typeface="Times New Roman" panose="02020603050405020304" pitchFamily="18" charset="0"/>
                        </a:rPr>
                        <a:t>Feature</a:t>
                      </a:r>
                    </a:p>
                  </a:txBody>
                  <a:tcPr marL="38100" marR="3810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spcAft>
                          <a:spcPts val="750"/>
                        </a:spcAft>
                      </a:pPr>
                      <a:r>
                        <a:rPr lang="en-GB" sz="2400" b="1" dirty="0">
                          <a:latin typeface="Times New Roman" panose="02020603050405020304" pitchFamily="18" charset="0"/>
                          <a:cs typeface="Times New Roman" panose="02020603050405020304" pitchFamily="18" charset="0"/>
                        </a:rPr>
                        <a:t>Reliability</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spcAft>
                          <a:spcPts val="750"/>
                        </a:spcAft>
                      </a:pPr>
                      <a:r>
                        <a:rPr lang="en-GB" sz="2400" b="1" dirty="0">
                          <a:latin typeface="Times New Roman" panose="02020603050405020304" pitchFamily="18" charset="0"/>
                          <a:cs typeface="Times New Roman" panose="02020603050405020304" pitchFamily="18" charset="0"/>
                        </a:rPr>
                        <a:t>Availability</a:t>
                      </a:r>
                    </a:p>
                  </a:txBody>
                  <a:tcPr marL="95250" marR="95250" marT="95250" marB="952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4802488"/>
                  </a:ext>
                </a:extLst>
              </a:tr>
              <a:tr h="717491">
                <a:tc>
                  <a:txBody>
                    <a:bodyPr/>
                    <a:lstStyle/>
                    <a:p>
                      <a:pPr algn="ctr" rtl="0" fontAlgn="base">
                        <a:spcAft>
                          <a:spcPts val="750"/>
                        </a:spcAft>
                      </a:pPr>
                      <a:r>
                        <a:rPr lang="en-GB" sz="2000" b="1" dirty="0">
                          <a:solidFill>
                            <a:srgbClr val="00B0F0"/>
                          </a:solidFill>
                          <a:latin typeface="Times New Roman" panose="02020603050405020304" pitchFamily="18" charset="0"/>
                          <a:cs typeface="Times New Roman" panose="02020603050405020304" pitchFamily="18" charset="0"/>
                        </a:rPr>
                        <a:t>Definition </a:t>
                      </a:r>
                    </a:p>
                  </a:txBody>
                  <a:tcPr marL="38100" marR="38100" marT="58931" marB="589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spcAft>
                          <a:spcPts val="750"/>
                        </a:spcAft>
                      </a:pPr>
                      <a:r>
                        <a:rPr lang="en-GB" sz="1600" dirty="0">
                          <a:latin typeface="Times New Roman" panose="02020603050405020304" pitchFamily="18" charset="0"/>
                          <a:cs typeface="Times New Roman" panose="02020603050405020304" pitchFamily="18" charset="0"/>
                        </a:rPr>
                        <a:t>It is the ability of a system to deliver services correctly under given conditions for a given period of time.</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spcAft>
                          <a:spcPts val="750"/>
                        </a:spcAft>
                      </a:pPr>
                      <a:r>
                        <a:rPr lang="en-GB" sz="1600" dirty="0">
                          <a:latin typeface="Times New Roman" panose="02020603050405020304" pitchFamily="18" charset="0"/>
                          <a:cs typeface="Times New Roman" panose="02020603050405020304" pitchFamily="18" charset="0"/>
                        </a:rPr>
                        <a:t>It is the probability that a system, at a given point in time, would remain operational under normal circumstances.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3738850"/>
                  </a:ext>
                </a:extLst>
              </a:tr>
              <a:tr h="490989">
                <a:tc>
                  <a:txBody>
                    <a:bodyPr/>
                    <a:lstStyle/>
                    <a:p>
                      <a:pPr algn="ctr" rtl="0" fontAlgn="base">
                        <a:spcAft>
                          <a:spcPts val="750"/>
                        </a:spcAft>
                      </a:pPr>
                      <a:r>
                        <a:rPr lang="en-GB" sz="2000" b="1" dirty="0">
                          <a:solidFill>
                            <a:srgbClr val="00B0F0"/>
                          </a:solidFill>
                          <a:latin typeface="Times New Roman" panose="02020603050405020304" pitchFamily="18" charset="0"/>
                          <a:cs typeface="Times New Roman" panose="02020603050405020304" pitchFamily="18" charset="0"/>
                        </a:rPr>
                        <a:t>Measurement</a:t>
                      </a:r>
                    </a:p>
                  </a:txBody>
                  <a:tcPr marL="38100" marR="38100" marT="58931" marB="589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spcAft>
                          <a:spcPts val="750"/>
                        </a:spcAft>
                      </a:pPr>
                      <a:r>
                        <a:rPr lang="en-GB" sz="1600" dirty="0">
                          <a:latin typeface="Times New Roman" panose="02020603050405020304" pitchFamily="18" charset="0"/>
                          <a:cs typeface="Times New Roman" panose="02020603050405020304" pitchFamily="18" charset="0"/>
                        </a:rPr>
                        <a:t>Reliability can be measured using metrics such as Mean Time Between Failures (MTBF) or Mean Time to Repair(MTTR).</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spcAft>
                          <a:spcPts val="750"/>
                        </a:spcAft>
                      </a:pPr>
                      <a:r>
                        <a:rPr lang="en-GB" sz="1600" dirty="0">
                          <a:latin typeface="Times New Roman" panose="02020603050405020304" pitchFamily="18" charset="0"/>
                          <a:cs typeface="Times New Roman" panose="02020603050405020304" pitchFamily="18" charset="0"/>
                        </a:rPr>
                        <a:t>Availability is usually measured as a percentage and is calculated as the ratio of the system’s uptime to the total time (uptime + downtime) within a given time frame.</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8100768"/>
                  </a:ext>
                </a:extLst>
              </a:tr>
              <a:tr h="495980">
                <a:tc>
                  <a:txBody>
                    <a:bodyPr/>
                    <a:lstStyle/>
                    <a:p>
                      <a:pPr algn="ctr" rtl="0" fontAlgn="base">
                        <a:spcAft>
                          <a:spcPts val="750"/>
                        </a:spcAft>
                      </a:pPr>
                      <a:r>
                        <a:rPr lang="en-GB" sz="2000" b="1" dirty="0">
                          <a:solidFill>
                            <a:srgbClr val="00B0F0"/>
                          </a:solidFill>
                          <a:latin typeface="Times New Roman" panose="02020603050405020304" pitchFamily="18" charset="0"/>
                          <a:cs typeface="Times New Roman" panose="02020603050405020304" pitchFamily="18" charset="0"/>
                        </a:rPr>
                        <a:t>Focus</a:t>
                      </a:r>
                    </a:p>
                  </a:txBody>
                  <a:tcPr marL="38100" marR="38100" marT="58931" marB="589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spcAft>
                          <a:spcPts val="750"/>
                        </a:spcAft>
                      </a:pPr>
                      <a:r>
                        <a:rPr lang="en-GB" sz="1600">
                          <a:latin typeface="Times New Roman" panose="02020603050405020304" pitchFamily="18" charset="0"/>
                          <a:cs typeface="Times New Roman" panose="02020603050405020304" pitchFamily="18" charset="0"/>
                        </a:rPr>
                        <a:t>It refers to a failure-free operation during an interval.</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spcAft>
                          <a:spcPts val="750"/>
                        </a:spcAft>
                      </a:pPr>
                      <a:r>
                        <a:rPr lang="en-GB" sz="1600" dirty="0">
                          <a:latin typeface="Times New Roman" panose="02020603050405020304" pitchFamily="18" charset="0"/>
                          <a:cs typeface="Times New Roman" panose="02020603050405020304" pitchFamily="18" charset="0"/>
                        </a:rPr>
                        <a:t>It refers to failure-free operation under normal circumstances at a specific instant of time.</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6661835"/>
                  </a:ext>
                </a:extLst>
              </a:tr>
              <a:tr h="581572">
                <a:tc>
                  <a:txBody>
                    <a:bodyPr/>
                    <a:lstStyle/>
                    <a:p>
                      <a:pPr algn="ctr" rtl="0" fontAlgn="base">
                        <a:spcAft>
                          <a:spcPts val="750"/>
                        </a:spcAft>
                      </a:pPr>
                      <a:r>
                        <a:rPr lang="en-GB" sz="2000" b="1" dirty="0">
                          <a:solidFill>
                            <a:srgbClr val="00B0F0"/>
                          </a:solidFill>
                          <a:latin typeface="Times New Roman" panose="02020603050405020304" pitchFamily="18" charset="0"/>
                          <a:cs typeface="Times New Roman" panose="02020603050405020304" pitchFamily="18" charset="0"/>
                        </a:rPr>
                        <a:t>Time Frame</a:t>
                      </a:r>
                    </a:p>
                  </a:txBody>
                  <a:tcPr marL="38100" marR="38100" marT="58931" marB="589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spcAft>
                          <a:spcPts val="750"/>
                        </a:spcAft>
                      </a:pPr>
                      <a:r>
                        <a:rPr lang="en-GB" sz="1600">
                          <a:latin typeface="Times New Roman" panose="02020603050405020304" pitchFamily="18" charset="0"/>
                          <a:cs typeface="Times New Roman" panose="02020603050405020304" pitchFamily="18" charset="0"/>
                        </a:rPr>
                        <a:t>It is a long-term measure that looks at the overall performance of a system over its operational lifespan</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spcAft>
                          <a:spcPts val="750"/>
                        </a:spcAft>
                      </a:pPr>
                      <a:r>
                        <a:rPr lang="en-GB" sz="1600" dirty="0">
                          <a:latin typeface="Times New Roman" panose="02020603050405020304" pitchFamily="18" charset="0"/>
                          <a:cs typeface="Times New Roman" panose="02020603050405020304" pitchFamily="18" charset="0"/>
                        </a:rPr>
                        <a:t>It is a short-term measure that assesses the system’s current state and its ability to be available and operational at any given moment.</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5456665"/>
                  </a:ext>
                </a:extLst>
              </a:tr>
              <a:tr h="327631">
                <a:tc>
                  <a:txBody>
                    <a:bodyPr/>
                    <a:lstStyle/>
                    <a:p>
                      <a:pPr algn="ctr" fontAlgn="base"/>
                      <a:r>
                        <a:rPr lang="en-GB" sz="2000" b="1" dirty="0">
                          <a:solidFill>
                            <a:srgbClr val="00B0F0"/>
                          </a:solidFill>
                          <a:latin typeface="Times New Roman" panose="02020603050405020304" pitchFamily="18" charset="0"/>
                          <a:cs typeface="Times New Roman" panose="02020603050405020304" pitchFamily="18" charset="0"/>
                        </a:rPr>
                        <a:t>Factors</a:t>
                      </a:r>
                    </a:p>
                  </a:txBody>
                  <a:tcPr marL="38100" marR="38100" marT="58931" marB="589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GB" sz="1600">
                          <a:latin typeface="Times New Roman" panose="02020603050405020304" pitchFamily="18" charset="0"/>
                          <a:cs typeface="Times New Roman" panose="02020603050405020304" pitchFamily="18" charset="0"/>
                        </a:rPr>
                        <a:t>Maintenance, design quality, and component lifespan.</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GB" sz="1600" dirty="0">
                          <a:latin typeface="Times New Roman" panose="02020603050405020304" pitchFamily="18" charset="0"/>
                          <a:cs typeface="Times New Roman" panose="02020603050405020304" pitchFamily="18" charset="0"/>
                        </a:rPr>
                        <a:t>Downtime, maintenance schedules, and fault tolerance strategies.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949882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2700"/>
            <a:ext cx="12192000" cy="405765"/>
          </a:xfrm>
        </p:spPr>
        <p:txBody>
          <a:bodyPr>
            <a:noAutofit/>
            <a:scene3d>
              <a:camera prst="orthographicFront"/>
              <a:lightRig rig="threePt" dir="t"/>
            </a:scene3d>
          </a:bodyPr>
          <a:lstStyle/>
          <a:p>
            <a:r>
              <a:rPr 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Measures of Reliability and Availability</a:t>
            </a:r>
          </a:p>
        </p:txBody>
      </p:sp>
      <p:sp>
        <p:nvSpPr>
          <p:cNvPr id="3" name="Text Box 2"/>
          <p:cNvSpPr txBox="1"/>
          <p:nvPr/>
        </p:nvSpPr>
        <p:spPr>
          <a:xfrm>
            <a:off x="0" y="613410"/>
            <a:ext cx="12192000" cy="3138170"/>
          </a:xfrm>
          <a:prstGeom prst="rect">
            <a:avLst/>
          </a:prstGeom>
          <a:noFill/>
        </p:spPr>
        <p:txBody>
          <a:bodyPr wrap="square" rtlCol="0" anchor="t">
            <a:spAutoFit/>
          </a:bodyPr>
          <a:lstStyle/>
          <a:p>
            <a:r>
              <a:rPr lang="en-US" b="1" dirty="0">
                <a:latin typeface="Times New Roman" panose="02020603050405020304" pitchFamily="18" charset="0"/>
                <a:cs typeface="Times New Roman" panose="02020603050405020304" pitchFamily="18" charset="0"/>
              </a:rPr>
              <a:t>Two commonly</a:t>
            </a:r>
            <a:r>
              <a:rPr lang="en-US" dirty="0">
                <a:latin typeface="Times New Roman" panose="02020603050405020304" pitchFamily="18" charset="0"/>
                <a:cs typeface="Times New Roman" panose="02020603050405020304" pitchFamily="18" charset="0"/>
              </a:rPr>
              <a:t> used measures of reliability in software engineering are:</a:t>
            </a:r>
          </a:p>
          <a:p>
            <a:endParaRPr lang="en-US" dirty="0">
              <a:latin typeface="Times New Roman" panose="02020603050405020304" pitchFamily="18" charset="0"/>
              <a:cs typeface="Times New Roman" panose="02020603050405020304" pitchFamily="18" charset="0"/>
            </a:endParaRPr>
          </a:p>
          <a:p>
            <a:r>
              <a:rPr lang="en-US" b="1" dirty="0">
                <a:solidFill>
                  <a:srgbClr val="FF0000"/>
                </a:solidFill>
                <a:latin typeface="Times New Roman" panose="02020603050405020304" pitchFamily="18" charset="0"/>
                <a:cs typeface="Times New Roman" panose="02020603050405020304" pitchFamily="18" charset="0"/>
              </a:rPr>
              <a:t>Mean Time Between Failures (MTBF):</a:t>
            </a:r>
            <a:endParaRPr lang="en-US" dirty="0">
              <a:solidFill>
                <a:srgbClr val="FF0000"/>
              </a:solidFill>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MTBF represents the average time elapsed between two consecutive failures in a system.</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It's calculated by </a:t>
            </a:r>
          </a:p>
          <a:p>
            <a:pPr indent="0">
              <a:buFont typeface="Wingdings" panose="05000000000000000000" charse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MTBF:=(total operational time) / (number of failures)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solidFill>
                  <a:srgbClr val="FF0000"/>
                </a:solidFill>
                <a:latin typeface="Times New Roman" panose="02020603050405020304" pitchFamily="18" charset="0"/>
                <a:cs typeface="Times New Roman" panose="02020603050405020304" pitchFamily="18" charset="0"/>
              </a:rPr>
              <a:t>Mean Time To Failure (MTTF):</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MTTF represents the average time until the first failure occurs in a system.</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It's calculated by </a:t>
            </a:r>
          </a:p>
          <a:p>
            <a:pPr indent="0" algn="ctr">
              <a:buFont typeface="Wingdings" panose="05000000000000000000" charset="0"/>
              <a:buNone/>
            </a:pPr>
            <a:r>
              <a:rPr lang="en-US" b="1" dirty="0">
                <a:latin typeface="Times New Roman" panose="02020603050405020304" pitchFamily="18" charset="0"/>
                <a:cs typeface="Times New Roman" panose="02020603050405020304" pitchFamily="18" charset="0"/>
              </a:rPr>
              <a:t>MTTF:= (total operational time) /(number of failures)</a:t>
            </a:r>
          </a:p>
        </p:txBody>
      </p:sp>
      <p:sp>
        <p:nvSpPr>
          <p:cNvPr id="5" name="Text Box 4"/>
          <p:cNvSpPr txBox="1"/>
          <p:nvPr/>
        </p:nvSpPr>
        <p:spPr>
          <a:xfrm>
            <a:off x="266065" y="4602480"/>
            <a:ext cx="11659870" cy="368300"/>
          </a:xfrm>
          <a:prstGeom prst="rect">
            <a:avLst/>
          </a:prstGeom>
          <a:noFill/>
        </p:spPr>
        <p:txBody>
          <a:bodyPr wrap="square" rtlCol="0" anchor="t">
            <a:spAutoFit/>
          </a:bodyPr>
          <a:lstStyle/>
          <a:p>
            <a:pPr algn="ctr"/>
            <a:r>
              <a:rPr lang="en-US" b="1">
                <a:solidFill>
                  <a:srgbClr val="FF0000"/>
                </a:solidFill>
              </a:rPr>
              <a:t>Availability= Uptime(MTBF)/Total Time(MTBF+MTTR)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2700"/>
            <a:ext cx="12192000" cy="405765"/>
          </a:xfrm>
        </p:spPr>
        <p:txBody>
          <a:bodyPr>
            <a:noAutofit/>
            <a:scene3d>
              <a:camera prst="orthographicFront"/>
              <a:lightRig rig="threePt" dir="t"/>
            </a:scene3d>
          </a:bodyPr>
          <a:lstStyle/>
          <a:p>
            <a:r>
              <a:rPr lang="en-US" alt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Software</a:t>
            </a:r>
            <a:r>
              <a:rPr 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 Reliability </a:t>
            </a:r>
            <a:r>
              <a:rPr lang="en-US" alt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Measurement Techniques</a:t>
            </a:r>
          </a:p>
        </p:txBody>
      </p:sp>
      <p:pic>
        <p:nvPicPr>
          <p:cNvPr id="4" name="Picture 3"/>
          <p:cNvPicPr>
            <a:picLocks noChangeAspect="1"/>
          </p:cNvPicPr>
          <p:nvPr/>
        </p:nvPicPr>
        <p:blipFill>
          <a:blip r:embed="rId2"/>
          <a:stretch>
            <a:fillRect/>
          </a:stretch>
        </p:blipFill>
        <p:spPr>
          <a:xfrm>
            <a:off x="2811145" y="749300"/>
            <a:ext cx="7192010" cy="53587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2700"/>
            <a:ext cx="12192000" cy="405765"/>
          </a:xfrm>
        </p:spPr>
        <p:txBody>
          <a:bodyPr>
            <a:noAutofit/>
            <a:scene3d>
              <a:camera prst="orthographicFront"/>
              <a:lightRig rig="threePt" dir="t"/>
            </a:scene3d>
          </a:bodyPr>
          <a:lstStyle/>
          <a:p>
            <a:r>
              <a:rPr lang="en-US" alt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Software</a:t>
            </a:r>
            <a:r>
              <a:rPr 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 Reliability </a:t>
            </a:r>
            <a:r>
              <a:rPr lang="en-US" alt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Measurement Techniques</a:t>
            </a:r>
          </a:p>
        </p:txBody>
      </p:sp>
      <p:sp>
        <p:nvSpPr>
          <p:cNvPr id="3" name="Text Box 2"/>
          <p:cNvSpPr txBox="1"/>
          <p:nvPr/>
        </p:nvSpPr>
        <p:spPr>
          <a:xfrm>
            <a:off x="0" y="552450"/>
            <a:ext cx="12192000" cy="922020"/>
          </a:xfrm>
          <a:prstGeom prst="rect">
            <a:avLst/>
          </a:prstGeom>
          <a:noFill/>
        </p:spPr>
        <p:txBody>
          <a:bodyPr wrap="square" rtlCol="0" anchor="t">
            <a:spAutoFit/>
          </a:bodyPr>
          <a:lstStyle/>
          <a:p>
            <a:r>
              <a:rPr lang="en-US" b="1" dirty="0">
                <a:latin typeface="Times New Roman" panose="02020603050405020304" pitchFamily="18" charset="0"/>
                <a:cs typeface="Times New Roman" panose="02020603050405020304" pitchFamily="18" charset="0"/>
              </a:rPr>
              <a:t>Product Metrics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metrics help in the assessment if the product is right sufficient through records on attributes like usability, reliability, maintainability &amp; portability.</a:t>
            </a:r>
          </a:p>
        </p:txBody>
      </p:sp>
      <p:sp>
        <p:nvSpPr>
          <p:cNvPr id="5" name="Text Box 4"/>
          <p:cNvSpPr txBox="1"/>
          <p:nvPr/>
        </p:nvSpPr>
        <p:spPr>
          <a:xfrm>
            <a:off x="0" y="1608455"/>
            <a:ext cx="11966575" cy="2584450"/>
          </a:xfrm>
          <a:prstGeom prst="rect">
            <a:avLst/>
          </a:prstGeom>
          <a:noFill/>
        </p:spPr>
        <p:txBody>
          <a:bodyPr wrap="square" rtlCol="0" anchor="t">
            <a:spAutoFit/>
          </a:bodyPr>
          <a:lstStyle/>
          <a:p>
            <a:r>
              <a:rPr lang="en-US" b="1" dirty="0">
                <a:latin typeface="Times New Roman" panose="02020603050405020304" pitchFamily="18" charset="0"/>
                <a:cs typeface="Times New Roman" panose="02020603050405020304" pitchFamily="18" charset="0"/>
              </a:rPr>
              <a:t>Project Management Metrics:</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Project metrics define project characteristics and execution.</a:t>
            </a:r>
          </a:p>
          <a:p>
            <a:pPr indent="0">
              <a:buFont typeface="Wingdings" panose="05000000000000000000" charset="0"/>
              <a:buNone/>
            </a:pPr>
            <a:r>
              <a:rPr lang="en-US" b="1" dirty="0">
                <a:latin typeface="Times New Roman" panose="02020603050405020304" pitchFamily="18" charset="0"/>
                <a:cs typeface="Times New Roman" panose="02020603050405020304" pitchFamily="18" charset="0"/>
                <a:sym typeface="+mn-ea"/>
              </a:rPr>
              <a:t>These metrics are:</a:t>
            </a:r>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sym typeface="+mn-ea"/>
              </a:rPr>
              <a:t>Number of software developers</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sym typeface="+mn-ea"/>
              </a:rPr>
              <a:t>Staffing pattern over the life-cycle of the software</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sym typeface="+mn-ea"/>
              </a:rPr>
              <a:t>Cost and schedule</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sym typeface="+mn-ea"/>
              </a:rPr>
              <a:t>Productivity</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endParaRPr lang="en-US" dirty="0">
              <a:latin typeface="Times New Roman" panose="02020603050405020304" pitchFamily="18" charset="0"/>
              <a:cs typeface="Times New Roman" panose="02020603050405020304" pitchFamily="18" charset="0"/>
            </a:endParaRPr>
          </a:p>
          <a:p>
            <a:pPr indent="0">
              <a:buFont typeface="Wingdings" panose="05000000000000000000" charset="0"/>
              <a:buNone/>
            </a:pPr>
            <a:endParaRPr lang="en-US" dirty="0">
              <a:latin typeface="Times New Roman" panose="02020603050405020304" pitchFamily="18" charset="0"/>
              <a:cs typeface="Times New Roman" panose="02020603050405020304" pitchFamily="18" charset="0"/>
            </a:endParaRPr>
          </a:p>
        </p:txBody>
      </p:sp>
      <p:sp>
        <p:nvSpPr>
          <p:cNvPr id="7" name="Text Box 6"/>
          <p:cNvSpPr txBox="1"/>
          <p:nvPr/>
        </p:nvSpPr>
        <p:spPr>
          <a:xfrm>
            <a:off x="0" y="3725545"/>
            <a:ext cx="12102465" cy="1476375"/>
          </a:xfrm>
          <a:prstGeom prst="rect">
            <a:avLst/>
          </a:prstGeom>
          <a:noFill/>
        </p:spPr>
        <p:txBody>
          <a:bodyPr wrap="square" rtlCol="0" anchor="t">
            <a:spAutoFit/>
          </a:bodyPr>
          <a:lstStyle/>
          <a:p>
            <a:r>
              <a:rPr lang="en-US" b="1">
                <a:latin typeface="Times New Roman" panose="02020603050405020304" pitchFamily="18" charset="0"/>
                <a:cs typeface="Times New Roman" panose="02020603050405020304" pitchFamily="18" charset="0"/>
              </a:rPr>
              <a:t>Process Metrics</a:t>
            </a:r>
          </a:p>
          <a:p>
            <a:pPr marL="285750" indent="-285750">
              <a:buFont typeface="Wingdings" panose="05000000000000000000" charset="0"/>
              <a:buChar char=""/>
            </a:pPr>
            <a:r>
              <a:rPr lang="en-US">
                <a:latin typeface="Times New Roman" panose="02020603050405020304" pitchFamily="18" charset="0"/>
                <a:cs typeface="Times New Roman" panose="02020603050405020304" pitchFamily="18" charset="0"/>
              </a:rPr>
              <a:t>Process metrics quantify useful attributes of the software development process &amp; its environment</a:t>
            </a:r>
          </a:p>
          <a:p>
            <a:pPr indent="0">
              <a:buFont typeface="Wingdings" panose="05000000000000000000" charset="0"/>
              <a:buNone/>
            </a:pPr>
            <a:r>
              <a:rPr lang="en-US" b="1">
                <a:latin typeface="Times New Roman" panose="02020603050405020304" pitchFamily="18" charset="0"/>
                <a:cs typeface="Times New Roman" panose="02020603050405020304" pitchFamily="18" charset="0"/>
              </a:rPr>
              <a:t>Examples are:</a:t>
            </a:r>
          </a:p>
          <a:p>
            <a:pPr marL="285750" indent="-285750">
              <a:buFont typeface="Wingdings" panose="05000000000000000000" charset="0"/>
              <a:buChar char=""/>
            </a:pPr>
            <a:r>
              <a:rPr lang="en-US">
                <a:latin typeface="Times New Roman" panose="02020603050405020304" pitchFamily="18" charset="0"/>
                <a:cs typeface="Times New Roman" panose="02020603050405020304" pitchFamily="18" charset="0"/>
              </a:rPr>
              <a:t>The effort required in the process</a:t>
            </a:r>
          </a:p>
          <a:p>
            <a:pPr marL="285750" indent="-285750">
              <a:buFont typeface="Wingdings" panose="05000000000000000000" charset="0"/>
              <a:buChar char=""/>
            </a:pPr>
            <a:r>
              <a:rPr lang="en-US">
                <a:latin typeface="Times New Roman" panose="02020603050405020304" pitchFamily="18" charset="0"/>
                <a:cs typeface="Times New Roman" panose="02020603050405020304" pitchFamily="18" charset="0"/>
              </a:rPr>
              <a:t>Time to produce the product. </a:t>
            </a:r>
          </a:p>
        </p:txBody>
      </p:sp>
      <p:sp>
        <p:nvSpPr>
          <p:cNvPr id="8" name="Text Box 7"/>
          <p:cNvSpPr txBox="1"/>
          <p:nvPr/>
        </p:nvSpPr>
        <p:spPr>
          <a:xfrm>
            <a:off x="0" y="5382895"/>
            <a:ext cx="12192000" cy="1198880"/>
          </a:xfrm>
          <a:prstGeom prst="rect">
            <a:avLst/>
          </a:prstGeom>
          <a:noFill/>
        </p:spPr>
        <p:txBody>
          <a:bodyPr wrap="square" rtlCol="0" anchor="t">
            <a:spAutoFit/>
          </a:bodyPr>
          <a:lstStyle/>
          <a:p>
            <a:r>
              <a:rPr lang="en-US" b="1" dirty="0">
                <a:latin typeface="Times New Roman" panose="02020603050405020304" pitchFamily="18" charset="0"/>
                <a:cs typeface="Times New Roman" panose="02020603050405020304" pitchFamily="18" charset="0"/>
              </a:rPr>
              <a:t>Fault and Failure Metrics</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A fault is a defect in a program which appears when the programmer makes an error and causes failure when executed under particular conditions.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These metrics are used to determine the failure-free execution software.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2700"/>
            <a:ext cx="12192000" cy="405765"/>
          </a:xfrm>
        </p:spPr>
        <p:txBody>
          <a:bodyPr>
            <a:noAutofit/>
            <a:scene3d>
              <a:camera prst="orthographicFront"/>
              <a:lightRig rig="threePt" dir="t"/>
            </a:scene3d>
          </a:bodyPr>
          <a:lstStyle/>
          <a:p>
            <a:r>
              <a:rPr 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 Reliability </a:t>
            </a:r>
            <a:r>
              <a:rPr lang="en-US" alt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Metrices</a:t>
            </a:r>
          </a:p>
        </p:txBody>
      </p:sp>
      <p:pic>
        <p:nvPicPr>
          <p:cNvPr id="4" name="Picture 3"/>
          <p:cNvPicPr>
            <a:picLocks noChangeAspect="1"/>
          </p:cNvPicPr>
          <p:nvPr/>
        </p:nvPicPr>
        <p:blipFill>
          <a:blip r:embed="rId2"/>
          <a:stretch>
            <a:fillRect/>
          </a:stretch>
        </p:blipFill>
        <p:spPr>
          <a:xfrm>
            <a:off x="2166620" y="681355"/>
            <a:ext cx="8650605" cy="58013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2700"/>
            <a:ext cx="12192000" cy="405765"/>
          </a:xfrm>
        </p:spPr>
        <p:txBody>
          <a:bodyPr>
            <a:noAutofit/>
            <a:scene3d>
              <a:camera prst="orthographicFront"/>
              <a:lightRig rig="threePt" dir="t"/>
            </a:scene3d>
          </a:bodyPr>
          <a:lstStyle/>
          <a:p>
            <a:r>
              <a:rPr 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 Reliability </a:t>
            </a:r>
            <a:r>
              <a:rPr lang="en-US" altLang="en-IN" sz="2400" b="1" dirty="0">
                <a:solidFill>
                  <a:schemeClr val="accent1"/>
                </a:solidFill>
                <a:effectLst>
                  <a:outerShdw blurRad="38100" dist="25400" dir="5400000" algn="ctr" rotWithShape="0">
                    <a:srgbClr val="6E747A">
                      <a:alpha val="43000"/>
                      <a:alpha val="43000"/>
                    </a:srgbClr>
                  </a:outerShdw>
                </a:effectLst>
                <a:highlight>
                  <a:srgbClr val="FFFFFF"/>
                </a:highlight>
                <a:latin typeface="Times New Roman Bold" panose="02020603050405020304" charset="0"/>
                <a:cs typeface="Times New Roman Bold" panose="02020603050405020304" charset="0"/>
                <a:sym typeface="+mn-ea"/>
              </a:rPr>
              <a:t>Metrices</a:t>
            </a:r>
          </a:p>
        </p:txBody>
      </p:sp>
      <p:sp>
        <p:nvSpPr>
          <p:cNvPr id="3" name="Text Box 2"/>
          <p:cNvSpPr txBox="1"/>
          <p:nvPr/>
        </p:nvSpPr>
        <p:spPr>
          <a:xfrm>
            <a:off x="0" y="341630"/>
            <a:ext cx="12192000" cy="922020"/>
          </a:xfrm>
          <a:prstGeom prst="rect">
            <a:avLst/>
          </a:prstGeom>
          <a:noFill/>
        </p:spPr>
        <p:txBody>
          <a:bodyPr wrap="square" rtlCol="0" anchor="t">
            <a:spAutoFit/>
          </a:bodyPr>
          <a:lstStyle/>
          <a:p>
            <a:pPr algn="just"/>
            <a:r>
              <a:rPr lang="en-US" b="1" dirty="0">
                <a:solidFill>
                  <a:srgbClr val="FF0000"/>
                </a:solidFill>
                <a:latin typeface="Times New Roman" panose="02020603050405020304" pitchFamily="18" charset="0"/>
                <a:cs typeface="Times New Roman" panose="02020603050405020304" pitchFamily="18" charset="0"/>
              </a:rPr>
              <a:t>Mean Time to Failure (MTTF)</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MTTF is described as the time interval between the two successive failures. </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An MTTF of 200 mean that one failure can be expected each 200-time units</a:t>
            </a:r>
          </a:p>
        </p:txBody>
      </p:sp>
      <p:sp>
        <p:nvSpPr>
          <p:cNvPr id="5" name="Text Box 4"/>
          <p:cNvSpPr txBox="1"/>
          <p:nvPr/>
        </p:nvSpPr>
        <p:spPr>
          <a:xfrm>
            <a:off x="0" y="1263650"/>
            <a:ext cx="12192000" cy="1753235"/>
          </a:xfrm>
          <a:prstGeom prst="rect">
            <a:avLst/>
          </a:prstGeom>
          <a:noFill/>
        </p:spPr>
        <p:txBody>
          <a:bodyPr wrap="square" rtlCol="0" anchor="t">
            <a:spAutoFit/>
          </a:bodyPr>
          <a:lstStyle/>
          <a:p>
            <a:r>
              <a:rPr lang="en-US" dirty="0">
                <a:latin typeface="Times New Roman" panose="02020603050405020304" pitchFamily="18" charset="0"/>
                <a:cs typeface="Times New Roman" panose="02020603050405020304" pitchFamily="18" charset="0"/>
              </a:rPr>
              <a:t>To measure MTTF, we can evidence the failure data for n failures. </a:t>
            </a:r>
          </a:p>
          <a:p>
            <a:r>
              <a:rPr lang="en-US" b="1" dirty="0">
                <a:latin typeface="Times New Roman" panose="02020603050405020304" pitchFamily="18" charset="0"/>
                <a:cs typeface="Times New Roman" panose="02020603050405020304" pitchFamily="18" charset="0"/>
              </a:rPr>
              <a:t>Let the failures appear at the time instants t1,t2.....tn.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MTTF can be calculated as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332230" y="2354317"/>
            <a:ext cx="3807329" cy="1088653"/>
          </a:xfrm>
          <a:prstGeom prst="rect">
            <a:avLst/>
          </a:prstGeom>
        </p:spPr>
      </p:pic>
      <p:sp>
        <p:nvSpPr>
          <p:cNvPr id="7" name="Text Box 6"/>
          <p:cNvSpPr txBox="1"/>
          <p:nvPr/>
        </p:nvSpPr>
        <p:spPr>
          <a:xfrm>
            <a:off x="0" y="3442970"/>
            <a:ext cx="12191365" cy="2030095"/>
          </a:xfrm>
          <a:prstGeom prst="rect">
            <a:avLst/>
          </a:prstGeom>
          <a:noFill/>
        </p:spPr>
        <p:txBody>
          <a:bodyPr wrap="square" rtlCol="0" anchor="t">
            <a:spAutoFit/>
          </a:bodyPr>
          <a:lstStyle/>
          <a:p>
            <a:pPr algn="just"/>
            <a:r>
              <a:rPr lang="en-US" b="1" dirty="0">
                <a:solidFill>
                  <a:srgbClr val="FF0000"/>
                </a:solidFill>
                <a:latin typeface="Times New Roman" panose="02020603050405020304" pitchFamily="18" charset="0"/>
                <a:cs typeface="Times New Roman" panose="02020603050405020304" pitchFamily="18" charset="0"/>
              </a:rPr>
              <a:t> Mean Time to Repair (MTTR)</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Once failure occurs, some time is required to fix the error.</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MTTR measures the average time it takes to track the errors causing the failure and to fix them.</a:t>
            </a:r>
          </a:p>
          <a:p>
            <a:pPr algn="just"/>
            <a:endParaRPr lang="en-US" dirty="0">
              <a:latin typeface="Times New Roman" panose="02020603050405020304" pitchFamily="18" charset="0"/>
              <a:cs typeface="Times New Roman" panose="02020603050405020304" pitchFamily="18" charset="0"/>
            </a:endParaRPr>
          </a:p>
          <a:p>
            <a:pPr algn="just"/>
            <a:r>
              <a:rPr lang="en-US" b="1" dirty="0">
                <a:solidFill>
                  <a:srgbClr val="FF0000"/>
                </a:solidFill>
                <a:latin typeface="Times New Roman" panose="02020603050405020304" pitchFamily="18" charset="0"/>
                <a:cs typeface="Times New Roman" panose="02020603050405020304" pitchFamily="18" charset="0"/>
              </a:rPr>
              <a:t>Mean Time Between Failure (MTBR)</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We can merge MTTF &amp; MTTR metrics to get the MTBF metric.</a:t>
            </a:r>
          </a:p>
          <a:p>
            <a:pPr algn="just"/>
            <a:r>
              <a:rPr lang="en-US" dirty="0">
                <a:latin typeface="Times New Roman" panose="02020603050405020304" pitchFamily="18" charset="0"/>
                <a:cs typeface="Times New Roman" panose="02020603050405020304" pitchFamily="18" charset="0"/>
              </a:rPr>
              <a:t>                  MTBF = MTTF + MTTR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0" y="0"/>
            <a:ext cx="12192000" cy="1198880"/>
          </a:xfrm>
          <a:prstGeom prst="rect">
            <a:avLst/>
          </a:prstGeom>
          <a:noFill/>
        </p:spPr>
        <p:txBody>
          <a:bodyPr wrap="square" rtlCol="0" anchor="t">
            <a:spAutoFit/>
          </a:bodyPr>
          <a:lstStyle/>
          <a:p>
            <a:r>
              <a:rPr lang="en-US" b="1" dirty="0">
                <a:solidFill>
                  <a:srgbClr val="FF0000"/>
                </a:solidFill>
                <a:latin typeface="Times New Roman" panose="02020603050405020304" pitchFamily="18" charset="0"/>
                <a:cs typeface="Times New Roman" panose="02020603050405020304" pitchFamily="18" charset="0"/>
              </a:rPr>
              <a:t>Rate of occurrence of failure (ROCOF)</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It is the number of failures appearing in a unit time interval.</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A ROCOF of 0.02 mean that two failures are likely to occur in each 100 operational time unit steps.</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 It is also called the failure intensity metric. </a:t>
            </a:r>
          </a:p>
        </p:txBody>
      </p:sp>
      <p:sp>
        <p:nvSpPr>
          <p:cNvPr id="5" name="Text Box 4"/>
          <p:cNvSpPr txBox="1"/>
          <p:nvPr/>
        </p:nvSpPr>
        <p:spPr>
          <a:xfrm>
            <a:off x="0" y="1287145"/>
            <a:ext cx="12091035" cy="1476375"/>
          </a:xfrm>
          <a:prstGeom prst="rect">
            <a:avLst/>
          </a:prstGeom>
          <a:noFill/>
        </p:spPr>
        <p:txBody>
          <a:bodyPr wrap="square" rtlCol="0" anchor="t">
            <a:spAutoFit/>
          </a:bodyPr>
          <a:lstStyle/>
          <a:p>
            <a:r>
              <a:rPr lang="en-US" b="1" dirty="0">
                <a:solidFill>
                  <a:srgbClr val="FF0000"/>
                </a:solidFill>
                <a:latin typeface="Times New Roman" panose="02020603050405020304" pitchFamily="18" charset="0"/>
                <a:cs typeface="Times New Roman" panose="02020603050405020304" pitchFamily="18" charset="0"/>
              </a:rPr>
              <a:t>Probability of Failure on Demand (POFOD)</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POFOD is described as the probability that the system will fail when a service is requested.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It is the number of system deficiency given several systems inputs.</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POFOD is the possibility that the system will fail when a service request is made.</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A POFOD of 0.1 means that one out of ten service requests may fail.</a:t>
            </a:r>
          </a:p>
        </p:txBody>
      </p:sp>
      <p:sp>
        <p:nvSpPr>
          <p:cNvPr id="6" name="Text Box 5"/>
          <p:cNvSpPr txBox="1"/>
          <p:nvPr/>
        </p:nvSpPr>
        <p:spPr>
          <a:xfrm>
            <a:off x="0" y="2806700"/>
            <a:ext cx="11626215" cy="1198880"/>
          </a:xfrm>
          <a:prstGeom prst="rect">
            <a:avLst/>
          </a:prstGeom>
          <a:noFill/>
        </p:spPr>
        <p:txBody>
          <a:bodyPr wrap="square" rtlCol="0" anchor="t">
            <a:spAutoFit/>
          </a:bodyPr>
          <a:lstStyle/>
          <a:p>
            <a:pPr algn="just"/>
            <a:r>
              <a:rPr lang="en-US" b="1" dirty="0">
                <a:solidFill>
                  <a:srgbClr val="FF0000"/>
                </a:solidFill>
                <a:latin typeface="Times New Roman" panose="02020603050405020304" pitchFamily="18" charset="0"/>
                <a:cs typeface="Times New Roman" panose="02020603050405020304" pitchFamily="18" charset="0"/>
              </a:rPr>
              <a:t>Availability (AVAIL)</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Availability is the probability that the system is applicable for use at a given time. </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It takes into account the repair time &amp; the restart time for the system. </a:t>
            </a:r>
          </a:p>
          <a:p>
            <a:pPr marL="285750" indent="-285750" algn="just">
              <a:buFont typeface="Wingdings" panose="05000000000000000000" charset="0"/>
              <a:buChar char=""/>
            </a:pPr>
            <a:r>
              <a:rPr lang="en-US" dirty="0">
                <a:latin typeface="Times New Roman" panose="02020603050405020304" pitchFamily="18" charset="0"/>
                <a:cs typeface="Times New Roman" panose="02020603050405020304" pitchFamily="18" charset="0"/>
              </a:rPr>
              <a:t>If a system is down an average of four hours out of 100 hours of operation, its AVAIL is 96%.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2"/>
            <a:ext cx="9144000" cy="744461"/>
          </a:xfrm>
        </p:spPr>
        <p:txBody>
          <a:bodyPr>
            <a:normAutofit/>
          </a:bodyPr>
          <a:lstStyle/>
          <a:p>
            <a:r>
              <a:rPr lang="en-GB" sz="4400" b="1" dirty="0">
                <a:solidFill>
                  <a:srgbClr val="00B0F0"/>
                </a:solidFill>
                <a:latin typeface="Times New Roman" panose="02020603050405020304" pitchFamily="18" charset="0"/>
                <a:cs typeface="Times New Roman" panose="02020603050405020304" pitchFamily="18" charset="0"/>
              </a:rPr>
              <a:t>Software Quality Management</a:t>
            </a:r>
            <a:endParaRPr lang="en-IN" sz="4400" b="1" dirty="0">
              <a:solidFill>
                <a:srgbClr val="00B0F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62249A9-B8C9-3790-1991-56E36CC12A89}"/>
              </a:ext>
            </a:extLst>
          </p:cNvPr>
          <p:cNvSpPr txBox="1"/>
          <p:nvPr/>
        </p:nvSpPr>
        <p:spPr>
          <a:xfrm>
            <a:off x="-1772" y="961088"/>
            <a:ext cx="12193772" cy="369332"/>
          </a:xfrm>
          <a:prstGeom prst="rect">
            <a:avLst/>
          </a:prstGeom>
          <a:noFill/>
        </p:spPr>
        <p:txBody>
          <a:bodyPr wrap="square">
            <a:spAutoFit/>
          </a:bodyPr>
          <a:lstStyle/>
          <a:p>
            <a:pPr marL="285750" indent="-285750">
              <a:buFont typeface="Wingdings" pitchFamily="2" charset="2"/>
              <a:buChar char="Ø"/>
            </a:pPr>
            <a:r>
              <a:rPr lang="en-GB" b="0" i="0" u="none" strike="noStrike" dirty="0">
                <a:solidFill>
                  <a:srgbClr val="000000"/>
                </a:solidFill>
                <a:effectLst/>
                <a:latin typeface="Times New Roman" panose="02020603050405020304" pitchFamily="18" charset="0"/>
                <a:cs typeface="Times New Roman" panose="02020603050405020304" pitchFamily="18" charset="0"/>
              </a:rPr>
              <a:t>It ensures that the required level of quality is achieved by submitting improvements to the product development process.</a:t>
            </a: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4AE0B59-B161-BFA1-402D-BFBBCA5DC8ED}"/>
              </a:ext>
            </a:extLst>
          </p:cNvPr>
          <p:cNvSpPr txBox="1"/>
          <p:nvPr/>
        </p:nvSpPr>
        <p:spPr>
          <a:xfrm>
            <a:off x="0" y="1547229"/>
            <a:ext cx="12192000" cy="1218282"/>
          </a:xfrm>
          <a:prstGeom prst="rect">
            <a:avLst/>
          </a:prstGeom>
          <a:noFill/>
        </p:spPr>
        <p:txBody>
          <a:bodyPr wrap="square">
            <a:spAutoFit/>
          </a:bodyPr>
          <a:lstStyle/>
          <a:p>
            <a:pPr algn="ctr">
              <a:lnSpc>
                <a:spcPts val="2250"/>
              </a:lnSpc>
            </a:pPr>
            <a:r>
              <a:rPr lang="en-GB" sz="2800" b="1" i="0" u="none" strike="noStrike" dirty="0">
                <a:solidFill>
                  <a:srgbClr val="00B0F0"/>
                </a:solidFill>
                <a:effectLst/>
                <a:latin typeface="Times New Roman" panose="02020603050405020304" pitchFamily="18" charset="0"/>
                <a:cs typeface="Times New Roman" panose="02020603050405020304" pitchFamily="18" charset="0"/>
              </a:rPr>
              <a:t>Activities of Software Quality Management</a:t>
            </a:r>
            <a:r>
              <a:rPr lang="en-GB" sz="2400" b="1" i="0" u="none" strike="noStrike" dirty="0">
                <a:solidFill>
                  <a:srgbClr val="00B0F0"/>
                </a:solidFill>
                <a:effectLst/>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GB" i="0" u="none" strike="noStrike" dirty="0">
                <a:solidFill>
                  <a:srgbClr val="000000"/>
                </a:solidFill>
                <a:effectLst/>
                <a:latin typeface="Times New Roman" panose="02020603050405020304" pitchFamily="18" charset="0"/>
                <a:cs typeface="Times New Roman" panose="02020603050405020304" pitchFamily="18" charset="0"/>
              </a:rPr>
              <a:t>Quality Assurance - </a:t>
            </a:r>
          </a:p>
          <a:p>
            <a:pPr algn="just">
              <a:buFont typeface="Arial" panose="020B0604020202020204" pitchFamily="34" charset="0"/>
              <a:buChar char="•"/>
            </a:pPr>
            <a:r>
              <a:rPr lang="en-GB" i="0" u="none" strike="noStrike" dirty="0">
                <a:solidFill>
                  <a:srgbClr val="000000"/>
                </a:solidFill>
                <a:effectLst/>
                <a:latin typeface="Times New Roman" panose="02020603050405020304" pitchFamily="18" charset="0"/>
                <a:cs typeface="Times New Roman" panose="02020603050405020304" pitchFamily="18" charset="0"/>
              </a:rPr>
              <a:t>Quality Planning - </a:t>
            </a:r>
          </a:p>
          <a:p>
            <a:pPr algn="just">
              <a:buFont typeface="Arial" panose="020B0604020202020204" pitchFamily="34" charset="0"/>
              <a:buChar char="•"/>
            </a:pPr>
            <a:r>
              <a:rPr lang="en-GB" i="0" u="none" strike="noStrike" dirty="0">
                <a:solidFill>
                  <a:srgbClr val="000000"/>
                </a:solidFill>
                <a:effectLst/>
                <a:latin typeface="Times New Roman" panose="02020603050405020304" pitchFamily="18" charset="0"/>
                <a:cs typeface="Times New Roman" panose="02020603050405020304" pitchFamily="18" charset="0"/>
              </a:rPr>
              <a:t>Quality Control - </a:t>
            </a:r>
          </a:p>
        </p:txBody>
      </p:sp>
      <p:sp>
        <p:nvSpPr>
          <p:cNvPr id="9" name="TextBox 8">
            <a:extLst>
              <a:ext uri="{FF2B5EF4-FFF2-40B4-BE49-F238E27FC236}">
                <a16:creationId xmlns:a16="http://schemas.microsoft.com/office/drawing/2014/main" id="{6FBE4672-C24B-D704-4BD6-79A16E850A9F}"/>
              </a:ext>
            </a:extLst>
          </p:cNvPr>
          <p:cNvSpPr txBox="1"/>
          <p:nvPr/>
        </p:nvSpPr>
        <p:spPr>
          <a:xfrm>
            <a:off x="0" y="2982320"/>
            <a:ext cx="10668000" cy="1908215"/>
          </a:xfrm>
          <a:prstGeom prst="rect">
            <a:avLst/>
          </a:prstGeom>
          <a:noFill/>
        </p:spPr>
        <p:txBody>
          <a:bodyPr wrap="square">
            <a:spAutoFit/>
          </a:bodyPr>
          <a:lstStyle/>
          <a:p>
            <a:pPr algn="ctr"/>
            <a:r>
              <a:rPr lang="en-GB" sz="2800" b="1" i="0" u="none" strike="noStrike" dirty="0">
                <a:solidFill>
                  <a:srgbClr val="00B0F0"/>
                </a:solidFill>
                <a:effectLst/>
                <a:latin typeface="Times New Roman" panose="02020603050405020304" pitchFamily="18" charset="0"/>
                <a:cs typeface="Times New Roman" panose="02020603050405020304" pitchFamily="18" charset="0"/>
              </a:rPr>
              <a:t>Benefits of SQM</a:t>
            </a:r>
            <a:r>
              <a:rPr lang="en-GB" sz="2400" b="1" i="0" u="none" strike="noStrike" dirty="0">
                <a:solidFill>
                  <a:srgbClr val="00B0F0"/>
                </a:solidFill>
                <a:effectLst/>
                <a:latin typeface="Times New Roman" panose="02020603050405020304" pitchFamily="18" charset="0"/>
                <a:cs typeface="Times New Roman" panose="02020603050405020304" pitchFamily="18" charset="0"/>
              </a:rPr>
              <a:t>:</a:t>
            </a:r>
          </a:p>
          <a:p>
            <a:pPr algn="l">
              <a:buFont typeface="+mj-lt"/>
              <a:buAutoNum type="arabicPeriod"/>
            </a:pPr>
            <a:r>
              <a:rPr lang="en-GB" i="0" u="none" strike="noStrike" dirty="0">
                <a:solidFill>
                  <a:srgbClr val="000000"/>
                </a:solidFill>
                <a:effectLst/>
                <a:latin typeface="Times New Roman" panose="02020603050405020304" pitchFamily="18" charset="0"/>
                <a:cs typeface="Times New Roman" panose="02020603050405020304" pitchFamily="18" charset="0"/>
              </a:rPr>
              <a:t>Increased Reliability: </a:t>
            </a:r>
          </a:p>
          <a:p>
            <a:pPr algn="l">
              <a:buFont typeface="+mj-lt"/>
              <a:buAutoNum type="arabicPeriod"/>
            </a:pPr>
            <a:r>
              <a:rPr lang="en-GB" i="0" u="none" strike="noStrike" dirty="0">
                <a:solidFill>
                  <a:srgbClr val="000000"/>
                </a:solidFill>
                <a:effectLst/>
                <a:latin typeface="Times New Roman" panose="02020603050405020304" pitchFamily="18" charset="0"/>
                <a:cs typeface="Times New Roman" panose="02020603050405020304" pitchFamily="18" charset="0"/>
              </a:rPr>
              <a:t>Improved Customer Satisfaction: </a:t>
            </a:r>
          </a:p>
          <a:p>
            <a:pPr algn="l">
              <a:buFont typeface="+mj-lt"/>
              <a:buAutoNum type="arabicPeriod"/>
            </a:pPr>
            <a:r>
              <a:rPr lang="en-GB" i="0" u="none" strike="noStrike" dirty="0">
                <a:solidFill>
                  <a:srgbClr val="000000"/>
                </a:solidFill>
                <a:effectLst/>
                <a:latin typeface="Times New Roman" panose="02020603050405020304" pitchFamily="18" charset="0"/>
                <a:cs typeface="Times New Roman" panose="02020603050405020304" pitchFamily="18" charset="0"/>
              </a:rPr>
              <a:t>Reduced Costs: </a:t>
            </a:r>
          </a:p>
          <a:p>
            <a:pPr algn="l">
              <a:buFont typeface="+mj-lt"/>
              <a:buAutoNum type="arabicPeriod"/>
            </a:pPr>
            <a:r>
              <a:rPr lang="en-GB" i="0" u="none" strike="noStrike" dirty="0">
                <a:solidFill>
                  <a:srgbClr val="000000"/>
                </a:solidFill>
                <a:effectLst/>
                <a:latin typeface="Times New Roman" panose="02020603050405020304" pitchFamily="18" charset="0"/>
                <a:cs typeface="Times New Roman" panose="02020603050405020304" pitchFamily="18" charset="0"/>
              </a:rPr>
              <a:t>Enhanced Productivity:</a:t>
            </a:r>
          </a:p>
          <a:p>
            <a:pPr algn="l">
              <a:buFont typeface="+mj-lt"/>
              <a:buAutoNum type="arabicPeriod"/>
            </a:pPr>
            <a:r>
              <a:rPr lang="en-GB" i="0" u="none" strike="noStrike" dirty="0">
                <a:solidFill>
                  <a:srgbClr val="000000"/>
                </a:solidFill>
                <a:effectLst/>
                <a:latin typeface="Times New Roman" panose="02020603050405020304" pitchFamily="18" charset="0"/>
                <a:cs typeface="Times New Roman" panose="02020603050405020304" pitchFamily="18" charset="0"/>
              </a:rPr>
              <a:t>Compliance: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C287-D090-A331-461D-86A27239B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17A4E-E752-A10B-ACA0-62AE89352019}"/>
              </a:ext>
            </a:extLst>
          </p:cNvPr>
          <p:cNvSpPr>
            <a:spLocks noGrp="1"/>
          </p:cNvSpPr>
          <p:nvPr>
            <p:ph type="ctrTitle"/>
          </p:nvPr>
        </p:nvSpPr>
        <p:spPr>
          <a:xfrm>
            <a:off x="1524000" y="-182"/>
            <a:ext cx="9144000" cy="744461"/>
          </a:xfrm>
        </p:spPr>
        <p:txBody>
          <a:bodyPr>
            <a:normAutofit/>
          </a:bodyPr>
          <a:lstStyle/>
          <a:p>
            <a:r>
              <a:rPr lang="en-GB" sz="4400" b="1" dirty="0">
                <a:solidFill>
                  <a:srgbClr val="00B0F0"/>
                </a:solidFill>
                <a:latin typeface="Times New Roman" panose="02020603050405020304" pitchFamily="18" charset="0"/>
                <a:cs typeface="Times New Roman" panose="02020603050405020304" pitchFamily="18" charset="0"/>
              </a:rPr>
              <a:t>Software Quality Planning</a:t>
            </a:r>
            <a:endParaRPr lang="en-IN" sz="4400" b="1" dirty="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ADAEB36-17F9-C496-A0CA-2CB2EA23047A}"/>
              </a:ext>
            </a:extLst>
          </p:cNvPr>
          <p:cNvSpPr txBox="1"/>
          <p:nvPr/>
        </p:nvSpPr>
        <p:spPr>
          <a:xfrm>
            <a:off x="0" y="744279"/>
            <a:ext cx="12192000" cy="4708981"/>
          </a:xfrm>
          <a:prstGeom prst="rect">
            <a:avLst/>
          </a:prstGeom>
          <a:noFill/>
        </p:spPr>
        <p:txBody>
          <a:bodyPr wrap="square">
            <a:spAutoFit/>
          </a:bodyPr>
          <a:lstStyle/>
          <a:p>
            <a:pPr marL="285750" indent="-285750" algn="just">
              <a:buFont typeface="Wingdings" pitchFamily="2" charset="2"/>
              <a:buChar char="Ø"/>
            </a:pPr>
            <a:r>
              <a:rPr lang="en-GB" dirty="0">
                <a:latin typeface="Times New Roman" panose="02020603050405020304" pitchFamily="18" charset="0"/>
                <a:cs typeface="Times New Roman" panose="02020603050405020304" pitchFamily="18" charset="0"/>
              </a:rPr>
              <a:t>It is a foundational step in (SQM) that establishes the framework for achieving quality objectives in a software project. </a:t>
            </a:r>
          </a:p>
          <a:p>
            <a:pPr algn="ctr"/>
            <a:r>
              <a:rPr lang="en-GB" sz="2400" b="1" dirty="0">
                <a:solidFill>
                  <a:srgbClr val="00B0F0"/>
                </a:solidFill>
                <a:latin typeface="Times New Roman" panose="02020603050405020304" pitchFamily="18" charset="0"/>
                <a:cs typeface="Times New Roman" panose="02020603050405020304" pitchFamily="18" charset="0"/>
              </a:rPr>
              <a:t>Objectives of Software Quality Planning:</a:t>
            </a:r>
          </a:p>
          <a:p>
            <a:pPr algn="just">
              <a:buFont typeface="+mj-lt"/>
              <a:buAutoNum type="arabicPeriod"/>
            </a:pPr>
            <a:r>
              <a:rPr lang="en-GB" dirty="0">
                <a:latin typeface="Times New Roman" panose="02020603050405020304" pitchFamily="18" charset="0"/>
                <a:cs typeface="Times New Roman" panose="02020603050405020304" pitchFamily="18" charset="0"/>
              </a:rPr>
              <a:t>Define Quality Goals:</a:t>
            </a:r>
          </a:p>
          <a:p>
            <a:pPr algn="just">
              <a:buFont typeface="+mj-lt"/>
              <a:buAutoNum type="arabicPeriod"/>
            </a:pPr>
            <a:r>
              <a:rPr lang="en-GB" dirty="0">
                <a:latin typeface="Times New Roman" panose="02020603050405020304" pitchFamily="18" charset="0"/>
                <a:cs typeface="Times New Roman" panose="02020603050405020304" pitchFamily="18" charset="0"/>
              </a:rPr>
              <a:t>Align with Stakeholder Needs:</a:t>
            </a:r>
          </a:p>
          <a:p>
            <a:pPr algn="just">
              <a:buFont typeface="+mj-lt"/>
              <a:buAutoNum type="arabicPeriod"/>
            </a:pPr>
            <a:r>
              <a:rPr lang="en-GB" dirty="0">
                <a:latin typeface="Times New Roman" panose="02020603050405020304" pitchFamily="18" charset="0"/>
                <a:cs typeface="Times New Roman" panose="02020603050405020304" pitchFamily="18" charset="0"/>
              </a:rPr>
              <a:t>Select Quality Standards and Processes:</a:t>
            </a:r>
          </a:p>
          <a:p>
            <a:pPr algn="just">
              <a:buFont typeface="+mj-lt"/>
              <a:buAutoNum type="arabicPeriod"/>
            </a:pPr>
            <a:r>
              <a:rPr lang="en-GB" dirty="0">
                <a:latin typeface="Times New Roman" panose="02020603050405020304" pitchFamily="18" charset="0"/>
                <a:cs typeface="Times New Roman" panose="02020603050405020304" pitchFamily="18" charset="0"/>
              </a:rPr>
              <a:t>Mitigate Risks:</a:t>
            </a:r>
          </a:p>
          <a:p>
            <a:pPr algn="just">
              <a:buFont typeface="+mj-lt"/>
              <a:buAutoNum type="arabicPeriod"/>
            </a:pPr>
            <a:r>
              <a:rPr lang="en-GB" dirty="0">
                <a:latin typeface="Times New Roman" panose="02020603050405020304" pitchFamily="18" charset="0"/>
                <a:cs typeface="Times New Roman" panose="02020603050405020304" pitchFamily="18" charset="0"/>
              </a:rPr>
              <a:t>Resource Allocation:</a:t>
            </a:r>
          </a:p>
          <a:p>
            <a:pPr algn="just"/>
            <a:endParaRPr lang="en-GB" dirty="0">
              <a:latin typeface="Times New Roman" panose="02020603050405020304" pitchFamily="18" charset="0"/>
              <a:cs typeface="Times New Roman" panose="02020603050405020304" pitchFamily="18" charset="0"/>
            </a:endParaRPr>
          </a:p>
          <a:p>
            <a:pPr algn="ctr"/>
            <a:r>
              <a:rPr lang="en-GB" sz="2400" b="1" dirty="0">
                <a:solidFill>
                  <a:srgbClr val="00B0F0"/>
                </a:solidFill>
                <a:latin typeface="Times New Roman" panose="02020603050405020304" pitchFamily="18" charset="0"/>
                <a:cs typeface="Times New Roman" panose="02020603050405020304" pitchFamily="18" charset="0"/>
              </a:rPr>
              <a:t>Elements of Software Quality Planning:</a:t>
            </a:r>
          </a:p>
          <a:p>
            <a:pPr algn="just">
              <a:buFont typeface="+mj-lt"/>
              <a:buAutoNum type="arabicPeriod"/>
            </a:pPr>
            <a:r>
              <a:rPr lang="en-GB" dirty="0">
                <a:latin typeface="Times New Roman" panose="02020603050405020304" pitchFamily="18" charset="0"/>
                <a:cs typeface="Times New Roman" panose="02020603050405020304" pitchFamily="18" charset="0"/>
              </a:rPr>
              <a:t>Requirement Analysis:</a:t>
            </a:r>
          </a:p>
          <a:p>
            <a:pPr algn="just">
              <a:buFont typeface="+mj-lt"/>
              <a:buAutoNum type="arabicPeriod"/>
            </a:pPr>
            <a:r>
              <a:rPr lang="en-GB" dirty="0">
                <a:latin typeface="Times New Roman" panose="02020603050405020304" pitchFamily="18" charset="0"/>
                <a:cs typeface="Times New Roman" panose="02020603050405020304" pitchFamily="18" charset="0"/>
              </a:rPr>
              <a:t>Quality Standards and Metrics:</a:t>
            </a:r>
          </a:p>
          <a:p>
            <a:pPr algn="just">
              <a:buFont typeface="+mj-lt"/>
              <a:buAutoNum type="arabicPeriod"/>
            </a:pPr>
            <a:r>
              <a:rPr lang="en-GB" dirty="0">
                <a:latin typeface="Times New Roman" panose="02020603050405020304" pitchFamily="18" charset="0"/>
                <a:cs typeface="Times New Roman" panose="02020603050405020304" pitchFamily="18" charset="0"/>
              </a:rPr>
              <a:t>Quality Management Plan:</a:t>
            </a:r>
          </a:p>
          <a:p>
            <a:pPr algn="just">
              <a:buFont typeface="+mj-lt"/>
              <a:buAutoNum type="arabicPeriod"/>
            </a:pPr>
            <a:r>
              <a:rPr lang="en-GB" dirty="0">
                <a:latin typeface="Times New Roman" panose="02020603050405020304" pitchFamily="18" charset="0"/>
                <a:cs typeface="Times New Roman" panose="02020603050405020304" pitchFamily="18" charset="0"/>
              </a:rPr>
              <a:t>Risk Assessment:</a:t>
            </a:r>
          </a:p>
          <a:p>
            <a:pPr algn="just">
              <a:buFont typeface="+mj-lt"/>
              <a:buAutoNum type="arabicPeriod"/>
            </a:pPr>
            <a:r>
              <a:rPr lang="en-GB" dirty="0">
                <a:latin typeface="Times New Roman" panose="02020603050405020304" pitchFamily="18" charset="0"/>
                <a:cs typeface="Times New Roman" panose="02020603050405020304" pitchFamily="18" charset="0"/>
              </a:rPr>
              <a:t>Testing Strategy:</a:t>
            </a:r>
          </a:p>
          <a:p>
            <a:pPr algn="just">
              <a:buFont typeface="+mj-lt"/>
              <a:buAutoNum type="arabicPeriod"/>
            </a:pPr>
            <a:r>
              <a:rPr lang="en-GB" dirty="0">
                <a:latin typeface="Times New Roman" panose="02020603050405020304" pitchFamily="18" charset="0"/>
                <a:cs typeface="Times New Roman" panose="02020603050405020304" pitchFamily="18" charset="0"/>
              </a:rPr>
              <a:t>Process Definition:</a:t>
            </a:r>
          </a:p>
          <a:p>
            <a:pPr algn="just">
              <a:buFont typeface="+mj-lt"/>
              <a:buAutoNum type="arabicPeriod"/>
            </a:pPr>
            <a:r>
              <a:rPr lang="en-GB" dirty="0">
                <a:latin typeface="Times New Roman" panose="02020603050405020304" pitchFamily="18" charset="0"/>
                <a:cs typeface="Times New Roman" panose="02020603050405020304" pitchFamily="18" charset="0"/>
              </a:rPr>
              <a:t>Training and Resource Planning:</a:t>
            </a:r>
          </a:p>
        </p:txBody>
      </p:sp>
    </p:spTree>
    <p:extLst>
      <p:ext uri="{BB962C8B-B14F-4D97-AF65-F5344CB8AC3E}">
        <p14:creationId xmlns:p14="http://schemas.microsoft.com/office/powerpoint/2010/main" val="4064301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AAA77-1BD2-1124-5904-DB6F0CA69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914F0-768E-E216-B079-489EB63007E4}"/>
              </a:ext>
            </a:extLst>
          </p:cNvPr>
          <p:cNvSpPr>
            <a:spLocks noGrp="1"/>
          </p:cNvSpPr>
          <p:nvPr>
            <p:ph type="ctrTitle"/>
          </p:nvPr>
        </p:nvSpPr>
        <p:spPr>
          <a:xfrm>
            <a:off x="1524000" y="-182"/>
            <a:ext cx="9144000" cy="744461"/>
          </a:xfrm>
        </p:spPr>
        <p:txBody>
          <a:bodyPr>
            <a:normAutofit/>
          </a:bodyPr>
          <a:lstStyle/>
          <a:p>
            <a:r>
              <a:rPr lang="en-GB" sz="4400" b="1" dirty="0">
                <a:solidFill>
                  <a:srgbClr val="00B0F0"/>
                </a:solidFill>
                <a:latin typeface="Times New Roman" panose="02020603050405020304" pitchFamily="18" charset="0"/>
                <a:cs typeface="Times New Roman" panose="02020603050405020304" pitchFamily="18" charset="0"/>
              </a:rPr>
              <a:t>Software Quality Planning</a:t>
            </a:r>
            <a:endParaRPr lang="en-IN" sz="4400" b="1" dirty="0">
              <a:solidFill>
                <a:srgbClr val="00B0F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99F3461-F1F7-A2FC-2E0C-10327594C4D9}"/>
              </a:ext>
            </a:extLst>
          </p:cNvPr>
          <p:cNvSpPr txBox="1"/>
          <p:nvPr/>
        </p:nvSpPr>
        <p:spPr>
          <a:xfrm>
            <a:off x="0" y="744279"/>
            <a:ext cx="12192000" cy="3262432"/>
          </a:xfrm>
          <a:prstGeom prst="rect">
            <a:avLst/>
          </a:prstGeom>
          <a:noFill/>
        </p:spPr>
        <p:txBody>
          <a:bodyPr wrap="square">
            <a:spAutoFit/>
          </a:bodyPr>
          <a:lstStyle/>
          <a:p>
            <a:pPr algn="ctr"/>
            <a:r>
              <a:rPr lang="en-GB" sz="2400" b="1" dirty="0">
                <a:solidFill>
                  <a:srgbClr val="00B0F0"/>
                </a:solidFill>
                <a:latin typeface="Times New Roman" panose="02020603050405020304" pitchFamily="18" charset="0"/>
                <a:cs typeface="Times New Roman" panose="02020603050405020304" pitchFamily="18" charset="0"/>
              </a:rPr>
              <a:t>Steps in Software Quality Planning:</a:t>
            </a:r>
          </a:p>
          <a:p>
            <a:pPr algn="just">
              <a:buFont typeface="+mj-lt"/>
              <a:buAutoNum type="arabicPeriod"/>
            </a:pPr>
            <a:r>
              <a:rPr lang="en-GB" dirty="0">
                <a:latin typeface="Times New Roman" panose="02020603050405020304" pitchFamily="18" charset="0"/>
                <a:cs typeface="Times New Roman" panose="02020603050405020304" pitchFamily="18" charset="0"/>
              </a:rPr>
              <a:t>Understand the Project Scope:</a:t>
            </a:r>
          </a:p>
          <a:p>
            <a:pPr algn="just">
              <a:buFont typeface="+mj-lt"/>
              <a:buAutoNum type="arabicPeriod"/>
            </a:pPr>
            <a:r>
              <a:rPr lang="en-GB" dirty="0">
                <a:latin typeface="Times New Roman" panose="02020603050405020304" pitchFamily="18" charset="0"/>
                <a:cs typeface="Times New Roman" panose="02020603050405020304" pitchFamily="18" charset="0"/>
              </a:rPr>
              <a:t>Develop the Quality Management Plan:</a:t>
            </a:r>
          </a:p>
          <a:p>
            <a:pPr algn="just">
              <a:buFont typeface="+mj-lt"/>
              <a:buAutoNum type="arabicPeriod"/>
            </a:pPr>
            <a:r>
              <a:rPr lang="en-GB" dirty="0">
                <a:latin typeface="Times New Roman" panose="02020603050405020304" pitchFamily="18" charset="0"/>
                <a:cs typeface="Times New Roman" panose="02020603050405020304" pitchFamily="18" charset="0"/>
              </a:rPr>
              <a:t>Define Roles and Responsibilities:</a:t>
            </a:r>
          </a:p>
          <a:p>
            <a:pPr algn="just">
              <a:buFont typeface="+mj-lt"/>
              <a:buAutoNum type="arabicPeriod"/>
            </a:pPr>
            <a:r>
              <a:rPr lang="en-GB" dirty="0">
                <a:latin typeface="Times New Roman" panose="02020603050405020304" pitchFamily="18" charset="0"/>
                <a:cs typeface="Times New Roman" panose="02020603050405020304" pitchFamily="18" charset="0"/>
              </a:rPr>
              <a:t>Set up Monitoring Mechanisms:</a:t>
            </a:r>
          </a:p>
          <a:p>
            <a:pPr algn="just">
              <a:buFont typeface="+mj-lt"/>
              <a:buAutoNum type="arabicPeriod"/>
            </a:pPr>
            <a:r>
              <a:rPr lang="en-GB" dirty="0">
                <a:latin typeface="Times New Roman" panose="02020603050405020304" pitchFamily="18" charset="0"/>
                <a:cs typeface="Times New Roman" panose="02020603050405020304" pitchFamily="18" charset="0"/>
              </a:rPr>
              <a:t>Iterate and Refine:</a:t>
            </a:r>
          </a:p>
          <a:p>
            <a:pPr algn="ctr"/>
            <a:r>
              <a:rPr lang="en-GB" sz="2000" b="1" dirty="0">
                <a:solidFill>
                  <a:srgbClr val="00B0F0"/>
                </a:solidFill>
                <a:latin typeface="Times New Roman" panose="02020603050405020304" pitchFamily="18" charset="0"/>
                <a:cs typeface="Times New Roman" panose="02020603050405020304" pitchFamily="18" charset="0"/>
              </a:rPr>
              <a:t>Tools for Software Quality Planning:</a:t>
            </a:r>
          </a:p>
          <a:p>
            <a:pPr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Project Management Tools: JIRA, Trello, Asana</a:t>
            </a:r>
          </a:p>
          <a:p>
            <a:pPr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Requirements Management: IBM DOORS, Jama Connect</a:t>
            </a:r>
          </a:p>
          <a:p>
            <a:pPr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Testing Frameworks: Selenium, JUnit, TestNG</a:t>
            </a:r>
          </a:p>
          <a:p>
            <a:pPr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Metrics and Reporting: SonarQube, Google Data Studio</a:t>
            </a:r>
          </a:p>
        </p:txBody>
      </p:sp>
      <p:sp>
        <p:nvSpPr>
          <p:cNvPr id="7" name="TextBox 6">
            <a:extLst>
              <a:ext uri="{FF2B5EF4-FFF2-40B4-BE49-F238E27FC236}">
                <a16:creationId xmlns:a16="http://schemas.microsoft.com/office/drawing/2014/main" id="{B42C9F75-D0AF-D795-F9D2-E4D03CB9A69F}"/>
              </a:ext>
            </a:extLst>
          </p:cNvPr>
          <p:cNvSpPr txBox="1"/>
          <p:nvPr/>
        </p:nvSpPr>
        <p:spPr>
          <a:xfrm>
            <a:off x="0" y="4006711"/>
            <a:ext cx="12067953" cy="2677656"/>
          </a:xfrm>
          <a:prstGeom prst="rect">
            <a:avLst/>
          </a:prstGeom>
          <a:noFill/>
        </p:spPr>
        <p:txBody>
          <a:bodyPr wrap="square">
            <a:spAutoFit/>
          </a:bodyPr>
          <a:lstStyle/>
          <a:p>
            <a:pPr algn="ctr"/>
            <a:r>
              <a:rPr lang="en-GB" sz="2400" b="1" dirty="0">
                <a:solidFill>
                  <a:srgbClr val="00B0F0"/>
                </a:solidFill>
                <a:latin typeface="Times New Roman" panose="02020603050405020304" pitchFamily="18" charset="0"/>
                <a:cs typeface="Times New Roman" panose="02020603050405020304" pitchFamily="18" charset="0"/>
              </a:rPr>
              <a:t>Benefits </a:t>
            </a:r>
          </a:p>
          <a:p>
            <a:pPr algn="just"/>
            <a:r>
              <a:rPr lang="en-GB" dirty="0">
                <a:latin typeface="Times New Roman" panose="02020603050405020304" pitchFamily="18" charset="0"/>
                <a:cs typeface="Times New Roman" panose="02020603050405020304" pitchFamily="18" charset="0"/>
              </a:rPr>
              <a:t>1. Improved Quality of Deliverables</a:t>
            </a:r>
          </a:p>
          <a:p>
            <a:pPr algn="just"/>
            <a:r>
              <a:rPr lang="en-GB" dirty="0">
                <a:latin typeface="Times New Roman" panose="02020603050405020304" pitchFamily="18" charset="0"/>
                <a:cs typeface="Times New Roman" panose="02020603050405020304" pitchFamily="18" charset="0"/>
              </a:rPr>
              <a:t>2. Alignment with Customer Expectations</a:t>
            </a:r>
          </a:p>
          <a:p>
            <a:pPr algn="just"/>
            <a:r>
              <a:rPr lang="en-GB" dirty="0">
                <a:latin typeface="Times New Roman" panose="02020603050405020304" pitchFamily="18" charset="0"/>
                <a:cs typeface="Times New Roman" panose="02020603050405020304" pitchFamily="18" charset="0"/>
              </a:rPr>
              <a:t>3. Early Risk Identification and Mitigation</a:t>
            </a:r>
          </a:p>
          <a:p>
            <a:pPr algn="just"/>
            <a:r>
              <a:rPr lang="en-GB" dirty="0">
                <a:latin typeface="Times New Roman" panose="02020603050405020304" pitchFamily="18" charset="0"/>
                <a:cs typeface="Times New Roman" panose="02020603050405020304" pitchFamily="18" charset="0"/>
              </a:rPr>
              <a:t>4. Cost Efficiency</a:t>
            </a:r>
          </a:p>
          <a:p>
            <a:pPr algn="just"/>
            <a:r>
              <a:rPr lang="en-GB" dirty="0">
                <a:latin typeface="Times New Roman" panose="02020603050405020304" pitchFamily="18" charset="0"/>
                <a:cs typeface="Times New Roman" panose="02020603050405020304" pitchFamily="18" charset="0"/>
              </a:rPr>
              <a:t>5. Enhanced Collaboration and Accountability</a:t>
            </a:r>
          </a:p>
          <a:p>
            <a:pPr algn="just"/>
            <a:r>
              <a:rPr lang="en-GB" dirty="0">
                <a:latin typeface="Times New Roman" panose="02020603050405020304" pitchFamily="18" charset="0"/>
                <a:cs typeface="Times New Roman" panose="02020603050405020304" pitchFamily="18" charset="0"/>
              </a:rPr>
              <a:t>6. Process Standardization</a:t>
            </a:r>
          </a:p>
          <a:p>
            <a:pPr algn="just"/>
            <a:r>
              <a:rPr lang="en-GB" dirty="0">
                <a:latin typeface="Times New Roman" panose="02020603050405020304" pitchFamily="18" charset="0"/>
                <a:cs typeface="Times New Roman" panose="02020603050405020304" pitchFamily="18" charset="0"/>
              </a:rPr>
              <a:t>7. Timely Delivery</a:t>
            </a:r>
          </a:p>
          <a:p>
            <a:pPr algn="just"/>
            <a:r>
              <a:rPr lang="en-GB" dirty="0">
                <a:latin typeface="Times New Roman" panose="02020603050405020304" pitchFamily="18" charset="0"/>
                <a:cs typeface="Times New Roman" panose="02020603050405020304" pitchFamily="18" charset="0"/>
              </a:rPr>
              <a:t>8. Better Decision-Making</a:t>
            </a:r>
          </a:p>
        </p:txBody>
      </p:sp>
    </p:spTree>
    <p:extLst>
      <p:ext uri="{BB962C8B-B14F-4D97-AF65-F5344CB8AC3E}">
        <p14:creationId xmlns:p14="http://schemas.microsoft.com/office/powerpoint/2010/main" val="1970935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0" y="931132"/>
            <a:ext cx="12079605" cy="4523105"/>
          </a:xfrm>
          <a:prstGeom prst="rect">
            <a:avLst/>
          </a:prstGeom>
          <a:noFill/>
        </p:spPr>
        <p:txBody>
          <a:bodyPr wrap="square" rtlCol="0" anchor="t">
            <a:spAutoFit/>
          </a:bodyPr>
          <a:lstStyle/>
          <a:p>
            <a:pPr marL="285750" indent="-285750" algn="just">
              <a:buFont typeface="Wingdings" panose="05000000000000000000" charset="0"/>
              <a:buChar char=""/>
            </a:pPr>
            <a:r>
              <a:rPr lang="en-US" b="1" dirty="0">
                <a:latin typeface="Times New Roman" panose="02020603050405020304" pitchFamily="18" charset="0"/>
                <a:cs typeface="Times New Roman" panose="02020603050405020304" pitchFamily="18" charset="0"/>
              </a:rPr>
              <a:t>ISO/IEC 25000 (</a:t>
            </a:r>
            <a:r>
              <a:rPr lang="en-US" b="1" dirty="0" err="1">
                <a:latin typeface="Times New Roman" panose="02020603050405020304" pitchFamily="18" charset="0"/>
                <a:cs typeface="Times New Roman" panose="02020603050405020304" pitchFamily="18" charset="0"/>
              </a:rPr>
              <a:t>SQuaRE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 International Organization for Standardization (ISO) and the International Electrotechnical Commission (IEC) developed the ISO/IEC 25000 series, also known as the Software Product Quality Requirements and Evaluation (</a:t>
            </a:r>
            <a:r>
              <a:rPr lang="en-US" dirty="0" err="1">
                <a:latin typeface="Times New Roman" panose="02020603050405020304" pitchFamily="18" charset="0"/>
                <a:cs typeface="Times New Roman" panose="02020603050405020304" pitchFamily="18" charset="0"/>
              </a:rPr>
              <a:t>SQuaRE</a:t>
            </a:r>
            <a:r>
              <a:rPr lang="en-US" dirty="0">
                <a:latin typeface="Times New Roman" panose="02020603050405020304" pitchFamily="18" charset="0"/>
                <a:cs typeface="Times New Roman" panose="02020603050405020304" pitchFamily="18" charset="0"/>
              </a:rPr>
              <a:t>) standards. </a:t>
            </a:r>
          </a:p>
          <a:p>
            <a:pPr marL="285750" indent="-285750" algn="just">
              <a:buFont typeface="Wingdings" panose="05000000000000000000" charset="0"/>
              <a:buChar char=""/>
            </a:pPr>
            <a:r>
              <a:rPr lang="en-US" b="1" dirty="0">
                <a:latin typeface="Times New Roman" panose="02020603050405020304" pitchFamily="18" charset="0"/>
                <a:cs typeface="Times New Roman" panose="02020603050405020304" pitchFamily="18" charset="0"/>
              </a:rPr>
              <a:t>ISO/IEC 9126: </a:t>
            </a:r>
            <a:r>
              <a:rPr lang="en-US" dirty="0">
                <a:latin typeface="Times New Roman" panose="02020603050405020304" pitchFamily="18" charset="0"/>
                <a:cs typeface="Times New Roman" panose="02020603050405020304" pitchFamily="18" charset="0"/>
              </a:rPr>
              <a:t>This standard, which has been superseded by ISO/IEC 25010, focused on software quality characteristics and metrics. </a:t>
            </a:r>
          </a:p>
          <a:p>
            <a:pPr marL="285750" indent="-285750" algn="just">
              <a:buFont typeface="Wingdings" panose="05000000000000000000" charset="0"/>
              <a:buChar char=""/>
            </a:pPr>
            <a:r>
              <a:rPr lang="en-US" b="1" dirty="0">
                <a:latin typeface="Times New Roman" panose="02020603050405020304" pitchFamily="18" charset="0"/>
                <a:cs typeface="Times New Roman" panose="02020603050405020304" pitchFamily="18" charset="0"/>
              </a:rPr>
              <a:t>ISO/IEC 12207: </a:t>
            </a:r>
            <a:r>
              <a:rPr lang="en-US" dirty="0">
                <a:latin typeface="Times New Roman" panose="02020603050405020304" pitchFamily="18" charset="0"/>
                <a:cs typeface="Times New Roman" panose="02020603050405020304" pitchFamily="18" charset="0"/>
              </a:rPr>
              <a:t>The ISO/IEC 12207 standard outlines the Software Life Cycle Processes, providing guidelines for the development, maintenance, and management of software products.</a:t>
            </a:r>
          </a:p>
          <a:p>
            <a:pPr marL="285750" indent="-285750" algn="just">
              <a:buFont typeface="Wingdings" panose="05000000000000000000" charset="0"/>
              <a:buChar char=""/>
            </a:pPr>
            <a:r>
              <a:rPr lang="en-US" b="1" dirty="0">
                <a:latin typeface="Times New Roman" panose="02020603050405020304" pitchFamily="18" charset="0"/>
                <a:cs typeface="Times New Roman" panose="02020603050405020304" pitchFamily="18" charset="0"/>
              </a:rPr>
              <a:t>CMMI (Capability Maturity Model Integration):</a:t>
            </a:r>
            <a:r>
              <a:rPr lang="en-US" dirty="0">
                <a:latin typeface="Times New Roman" panose="02020603050405020304" pitchFamily="18" charset="0"/>
                <a:cs typeface="Times New Roman" panose="02020603050405020304" pitchFamily="18" charset="0"/>
              </a:rPr>
              <a:t> Developed by the Software Engineering Institute (SEI) at Carnegie Mellon University, CMMI is a process improvement framework that helps organizations optimize their software development processes. </a:t>
            </a:r>
          </a:p>
          <a:p>
            <a:pPr marL="285750" indent="-285750" algn="just">
              <a:buFont typeface="Wingdings" panose="05000000000000000000" charset="0"/>
              <a:buChar char=""/>
            </a:pPr>
            <a:r>
              <a:rPr lang="en-US" b="1" dirty="0">
                <a:latin typeface="Times New Roman" panose="02020603050405020304" pitchFamily="18" charset="0"/>
                <a:cs typeface="Times New Roman" panose="02020603050405020304" pitchFamily="18" charset="0"/>
              </a:rPr>
              <a:t>IEEE 730:</a:t>
            </a:r>
            <a:r>
              <a:rPr lang="en-US" dirty="0">
                <a:latin typeface="Times New Roman" panose="02020603050405020304" pitchFamily="18" charset="0"/>
                <a:cs typeface="Times New Roman" panose="02020603050405020304" pitchFamily="18" charset="0"/>
              </a:rPr>
              <a:t> This standard, titled "IEEE Standard for Software Quality Assurance Plans," provides guidelines for developing and documenting software quality assurance plans.</a:t>
            </a:r>
          </a:p>
          <a:p>
            <a:pPr marL="285750" indent="-285750" algn="just">
              <a:buFont typeface="Wingdings" panose="05000000000000000000" charset="0"/>
              <a:buChar char=""/>
            </a:pPr>
            <a:r>
              <a:rPr lang="en-US" b="1" dirty="0">
                <a:latin typeface="Times New Roman" panose="02020603050405020304" pitchFamily="18" charset="0"/>
                <a:cs typeface="Times New Roman" panose="02020603050405020304" pitchFamily="18" charset="0"/>
              </a:rPr>
              <a:t>IEEE 1061: </a:t>
            </a:r>
            <a:r>
              <a:rPr lang="en-US" dirty="0">
                <a:latin typeface="Times New Roman" panose="02020603050405020304" pitchFamily="18" charset="0"/>
                <a:cs typeface="Times New Roman" panose="02020603050405020304" pitchFamily="18" charset="0"/>
              </a:rPr>
              <a:t>The "IEEE Standard for Software Quality Metrics Methodology" establishes a framework for defining and applying software quality metrics. </a:t>
            </a:r>
          </a:p>
          <a:p>
            <a:pPr marL="285750" indent="-285750" algn="just">
              <a:buFont typeface="Wingdings" panose="05000000000000000000" charset="0"/>
              <a:buChar char=""/>
            </a:pPr>
            <a:r>
              <a:rPr lang="en-US" b="1" dirty="0">
                <a:latin typeface="Times New Roman" panose="02020603050405020304" pitchFamily="18" charset="0"/>
                <a:cs typeface="Times New Roman" panose="02020603050405020304" pitchFamily="18" charset="0"/>
              </a:rPr>
              <a:t>ISO/IEC 9000 series: </a:t>
            </a:r>
            <a:r>
              <a:rPr lang="en-US" dirty="0">
                <a:latin typeface="Times New Roman" panose="02020603050405020304" pitchFamily="18" charset="0"/>
                <a:cs typeface="Times New Roman" panose="02020603050405020304" pitchFamily="18" charset="0"/>
              </a:rPr>
              <a:t>While not specifically focused on software, the ISO 9000 series provides general quality management principles and guidelines that can be applied to software development processes. </a:t>
            </a:r>
          </a:p>
        </p:txBody>
      </p:sp>
      <p:sp>
        <p:nvSpPr>
          <p:cNvPr id="5" name="Text Box 4"/>
          <p:cNvSpPr txBox="1"/>
          <p:nvPr/>
        </p:nvSpPr>
        <p:spPr>
          <a:xfrm>
            <a:off x="2380614" y="635"/>
            <a:ext cx="6638292" cy="523220"/>
          </a:xfrm>
          <a:prstGeom prst="rect">
            <a:avLst/>
          </a:prstGeom>
          <a:noFill/>
        </p:spPr>
        <p:txBody>
          <a:bodyPr wrap="none" rtlCol="0" anchor="t">
            <a:spAutoFit/>
            <a:scene3d>
              <a:camera prst="orthographicFront"/>
              <a:lightRig rig="threePt" dir="t"/>
            </a:scene3d>
          </a:bodyPr>
          <a:lstStyle/>
          <a:p>
            <a:pPr algn="dist">
              <a:lnSpc>
                <a:spcPct val="100000"/>
              </a:lnSpc>
            </a:pPr>
            <a:r>
              <a:rPr lang="en-US" sz="2800" b="1" dirty="0">
                <a:solidFill>
                  <a:srgbClr val="00B0F0"/>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sym typeface="+mn-ea"/>
              </a:rPr>
              <a:t>Software Quality Standards: ISO and SEI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533975" y="635"/>
            <a:ext cx="4331570" cy="523220"/>
          </a:xfrm>
          <a:prstGeom prst="rect">
            <a:avLst/>
          </a:prstGeom>
          <a:noFill/>
        </p:spPr>
        <p:txBody>
          <a:bodyPr wrap="none" rtlCol="0" anchor="t">
            <a:spAutoFit/>
            <a:scene3d>
              <a:camera prst="orthographicFront"/>
              <a:lightRig rig="threePt" dir="t"/>
            </a:scene3d>
          </a:bodyPr>
          <a:lstStyle/>
          <a:p>
            <a:pPr algn="dist">
              <a:lnSpc>
                <a:spcPct val="100000"/>
              </a:lnSpc>
            </a:pPr>
            <a:r>
              <a:rPr lang="en-US" sz="2800" b="1"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sym typeface="+mn-ea"/>
              </a:rPr>
              <a:t>Software quality standards</a:t>
            </a:r>
          </a:p>
        </p:txBody>
      </p:sp>
      <p:sp>
        <p:nvSpPr>
          <p:cNvPr id="4" name="Text Box 3"/>
          <p:cNvSpPr txBox="1"/>
          <p:nvPr/>
        </p:nvSpPr>
        <p:spPr>
          <a:xfrm>
            <a:off x="0" y="594360"/>
            <a:ext cx="7389495" cy="398780"/>
          </a:xfrm>
          <a:prstGeom prst="rect">
            <a:avLst/>
          </a:prstGeom>
          <a:noFill/>
        </p:spPr>
        <p:txBody>
          <a:bodyPr wrap="square" rtlCol="0" anchor="t">
            <a:spAutoFit/>
          </a:bodyPr>
          <a:lstStyle/>
          <a:p>
            <a:r>
              <a:rPr lang="en-US" sz="2000" b="1" dirty="0">
                <a:latin typeface="Times New Roman" panose="02020603050405020304" pitchFamily="18" charset="0"/>
                <a:cs typeface="Times New Roman" panose="02020603050405020304" pitchFamily="18" charset="0"/>
              </a:rPr>
              <a:t>ISO Standards in Software Engineering</a:t>
            </a:r>
          </a:p>
        </p:txBody>
      </p:sp>
      <p:sp>
        <p:nvSpPr>
          <p:cNvPr id="6" name="Text Box 5"/>
          <p:cNvSpPr txBox="1"/>
          <p:nvPr/>
        </p:nvSpPr>
        <p:spPr>
          <a:xfrm>
            <a:off x="-635" y="1078885"/>
            <a:ext cx="12192635" cy="5446395"/>
          </a:xfrm>
          <a:prstGeom prst="rect">
            <a:avLst/>
          </a:prstGeom>
          <a:noFill/>
        </p:spPr>
        <p:txBody>
          <a:bodyPr wrap="square" rtlCol="0" anchor="t">
            <a:spAutoFit/>
          </a:bodyPr>
          <a:lstStyle/>
          <a:p>
            <a:pPr algn="ctr"/>
            <a:r>
              <a:rPr lang="en-US" sz="2400" b="1" dirty="0">
                <a:solidFill>
                  <a:srgbClr val="00B0F0"/>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rPr>
              <a:t>Different types of ISO standards </a:t>
            </a:r>
            <a:r>
              <a:rPr lang="en-US" sz="24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ISO 9000: </a:t>
            </a:r>
            <a:r>
              <a:rPr lang="en-US" dirty="0">
                <a:latin typeface="Times New Roman" panose="02020603050405020304" pitchFamily="18" charset="0"/>
                <a:cs typeface="Times New Roman" panose="02020603050405020304" pitchFamily="18" charset="0"/>
              </a:rPr>
              <a:t>2000: contains Quality management systems, fundamentals, and vocabulary. </a:t>
            </a:r>
          </a:p>
          <a:p>
            <a:r>
              <a:rPr lang="en-US" b="1" dirty="0">
                <a:latin typeface="Times New Roman" panose="02020603050405020304" pitchFamily="18" charset="0"/>
                <a:cs typeface="Times New Roman" panose="02020603050405020304" pitchFamily="18" charset="0"/>
              </a:rPr>
              <a:t>ISO 9000-1:</a:t>
            </a:r>
            <a:r>
              <a:rPr lang="en-US" dirty="0">
                <a:latin typeface="Times New Roman" panose="02020603050405020304" pitchFamily="18" charset="0"/>
                <a:cs typeface="Times New Roman" panose="02020603050405020304" pitchFamily="18" charset="0"/>
              </a:rPr>
              <a:t> includes Quality management systems and Quality assurance standards. </a:t>
            </a:r>
          </a:p>
          <a:p>
            <a:r>
              <a:rPr lang="en-US" b="1" dirty="0">
                <a:latin typeface="Times New Roman" panose="02020603050405020304" pitchFamily="18" charset="0"/>
                <a:cs typeface="Times New Roman" panose="02020603050405020304" pitchFamily="18" charset="0"/>
              </a:rPr>
              <a:t>ISO 9000-2</a:t>
            </a:r>
            <a:r>
              <a:rPr lang="en-US" dirty="0">
                <a:latin typeface="Times New Roman" panose="02020603050405020304" pitchFamily="18" charset="0"/>
                <a:cs typeface="Times New Roman" panose="02020603050405020304" pitchFamily="18" charset="0"/>
              </a:rPr>
              <a:t>:includes Quality management systems and Quality assurance standards. </a:t>
            </a:r>
          </a:p>
          <a:p>
            <a:r>
              <a:rPr lang="en-US" b="1" dirty="0">
                <a:latin typeface="Times New Roman" panose="02020603050405020304" pitchFamily="18" charset="0"/>
                <a:cs typeface="Times New Roman" panose="02020603050405020304" pitchFamily="18" charset="0"/>
              </a:rPr>
              <a:t>ISO 9000-3</a:t>
            </a:r>
            <a:r>
              <a:rPr lang="en-US" dirty="0">
                <a:latin typeface="Times New Roman" panose="02020603050405020304" pitchFamily="18" charset="0"/>
                <a:cs typeface="Times New Roman" panose="02020603050405020304" pitchFamily="18" charset="0"/>
              </a:rPr>
              <a:t>:contains Quality management systems, Quality assurance standards and also includes guidelines  </a:t>
            </a:r>
          </a:p>
          <a:p>
            <a:r>
              <a:rPr lang="en-US" b="1" dirty="0">
                <a:latin typeface="Times New Roman" panose="02020603050405020304" pitchFamily="18" charset="0"/>
                <a:cs typeface="Times New Roman" panose="02020603050405020304" pitchFamily="18" charset="0"/>
              </a:rPr>
              <a:t>ISO 9001: </a:t>
            </a:r>
            <a:r>
              <a:rPr lang="en-US" dirty="0">
                <a:latin typeface="Times New Roman" panose="02020603050405020304" pitchFamily="18" charset="0"/>
                <a:cs typeface="Times New Roman" panose="02020603050405020304" pitchFamily="18" charset="0"/>
              </a:rPr>
              <a:t>has Quality systems and a Quality assurance model.  </a:t>
            </a:r>
          </a:p>
          <a:p>
            <a:r>
              <a:rPr lang="en-US" b="1" dirty="0">
                <a:latin typeface="Times New Roman" panose="02020603050405020304" pitchFamily="18" charset="0"/>
                <a:cs typeface="Times New Roman" panose="02020603050405020304" pitchFamily="18" charset="0"/>
              </a:rPr>
              <a:t>ISO 9001: </a:t>
            </a:r>
            <a:r>
              <a:rPr lang="en-US" dirty="0">
                <a:latin typeface="Times New Roman" panose="02020603050405020304" pitchFamily="18" charset="0"/>
                <a:cs typeface="Times New Roman" panose="02020603050405020304" pitchFamily="18" charset="0"/>
              </a:rPr>
              <a:t>includes Quality management systems.</a:t>
            </a:r>
          </a:p>
          <a:p>
            <a:r>
              <a:rPr lang="en-US" b="1" dirty="0">
                <a:latin typeface="Times New Roman" panose="02020603050405020304" pitchFamily="18" charset="0"/>
                <a:cs typeface="Times New Roman" panose="02020603050405020304" pitchFamily="18" charset="0"/>
              </a:rPr>
              <a:t>ISO 9002:</a:t>
            </a:r>
            <a:r>
              <a:rPr lang="en-US" dirty="0">
                <a:latin typeface="Times New Roman" panose="02020603050405020304" pitchFamily="18" charset="0"/>
                <a:cs typeface="Times New Roman" panose="02020603050405020304" pitchFamily="18" charset="0"/>
              </a:rPr>
              <a:t> includes some Quality systems.  </a:t>
            </a:r>
          </a:p>
          <a:p>
            <a:r>
              <a:rPr lang="en-US" b="1" dirty="0">
                <a:latin typeface="Times New Roman" panose="02020603050405020304" pitchFamily="18" charset="0"/>
                <a:cs typeface="Times New Roman" panose="02020603050405020304" pitchFamily="18" charset="0"/>
              </a:rPr>
              <a:t>ISO 9003: </a:t>
            </a:r>
            <a:r>
              <a:rPr lang="en-US" dirty="0">
                <a:latin typeface="Times New Roman" panose="02020603050405020304" pitchFamily="18" charset="0"/>
                <a:cs typeface="Times New Roman" panose="02020603050405020304" pitchFamily="18" charset="0"/>
              </a:rPr>
              <a:t>Includes some Quality systems. </a:t>
            </a:r>
          </a:p>
          <a:p>
            <a:r>
              <a:rPr lang="en-US" b="1" dirty="0">
                <a:latin typeface="Times New Roman" panose="02020603050405020304" pitchFamily="18" charset="0"/>
                <a:cs typeface="Times New Roman" panose="02020603050405020304" pitchFamily="18" charset="0"/>
              </a:rPr>
              <a:t>ISO 9004:</a:t>
            </a:r>
            <a:r>
              <a:rPr lang="en-US" dirty="0">
                <a:latin typeface="Times New Roman" panose="02020603050405020304" pitchFamily="18" charset="0"/>
                <a:cs typeface="Times New Roman" panose="02020603050405020304" pitchFamily="18" charset="0"/>
              </a:rPr>
              <a:t> Include some Quality management systems. </a:t>
            </a:r>
          </a:p>
          <a:p>
            <a:r>
              <a:rPr lang="en-US" b="1" dirty="0">
                <a:latin typeface="Times New Roman" panose="02020603050405020304" pitchFamily="18" charset="0"/>
                <a:cs typeface="Times New Roman" panose="02020603050405020304" pitchFamily="18" charset="0"/>
              </a:rPr>
              <a:t>ISO 9039: </a:t>
            </a:r>
            <a:r>
              <a:rPr lang="en-US" dirty="0">
                <a:latin typeface="Times New Roman" panose="02020603050405020304" pitchFamily="18" charset="0"/>
                <a:cs typeface="Times New Roman" panose="02020603050405020304" pitchFamily="18" charset="0"/>
              </a:rPr>
              <a:t>include some Optics and Optical Instruments.  </a:t>
            </a:r>
          </a:p>
          <a:p>
            <a:r>
              <a:rPr lang="en-US" b="1" dirty="0">
                <a:latin typeface="Times New Roman" panose="02020603050405020304" pitchFamily="18" charset="0"/>
                <a:cs typeface="Times New Roman" panose="02020603050405020304" pitchFamily="18" charset="0"/>
              </a:rPr>
              <a:t>ISO/IEC 9126-1</a:t>
            </a:r>
            <a:r>
              <a:rPr lang="en-US" dirty="0">
                <a:latin typeface="Times New Roman" panose="02020603050405020304" pitchFamily="18" charset="0"/>
                <a:cs typeface="Times New Roman" panose="02020603050405020304" pitchFamily="18" charset="0"/>
              </a:rPr>
              <a:t>:Includes some software products, quality models.</a:t>
            </a:r>
          </a:p>
          <a:p>
            <a:r>
              <a:rPr lang="en-US" b="1" dirty="0">
                <a:latin typeface="Times New Roman" panose="02020603050405020304" pitchFamily="18" charset="0"/>
                <a:cs typeface="Times New Roman" panose="02020603050405020304" pitchFamily="18" charset="0"/>
              </a:rPr>
              <a:t>ISO/IEC 9040:I</a:t>
            </a:r>
            <a:r>
              <a:rPr lang="en-US" dirty="0">
                <a:latin typeface="Times New Roman" panose="02020603050405020304" pitchFamily="18" charset="0"/>
                <a:cs typeface="Times New Roman" panose="02020603050405020304" pitchFamily="18" charset="0"/>
              </a:rPr>
              <a:t>ncludes open system interconnection and Virtual terminal basic class service.</a:t>
            </a:r>
          </a:p>
          <a:p>
            <a:r>
              <a:rPr lang="en-US" b="1" dirty="0">
                <a:latin typeface="Times New Roman" panose="02020603050405020304" pitchFamily="18" charset="0"/>
                <a:cs typeface="Times New Roman" panose="02020603050405020304" pitchFamily="18" charset="0"/>
              </a:rPr>
              <a:t>ISO/IEC 9041-1:</a:t>
            </a:r>
            <a:r>
              <a:rPr lang="en-US" dirty="0">
                <a:latin typeface="Times New Roman" panose="02020603050405020304" pitchFamily="18" charset="0"/>
                <a:cs typeface="Times New Roman" panose="02020603050405020304" pitchFamily="18" charset="0"/>
              </a:rPr>
              <a:t> Includes open system interconnection, Virtual terminal basic class service protocol</a:t>
            </a:r>
          </a:p>
          <a:p>
            <a:r>
              <a:rPr lang="en-US" b="1" dirty="0">
                <a:latin typeface="Times New Roman" panose="02020603050405020304" pitchFamily="18" charset="0"/>
                <a:cs typeface="Times New Roman" panose="02020603050405020304" pitchFamily="18" charset="0"/>
              </a:rPr>
              <a:t>ISO/IEC 9041-2:</a:t>
            </a:r>
            <a:r>
              <a:rPr lang="en-US" dirty="0">
                <a:latin typeface="Times New Roman" panose="02020603050405020304" pitchFamily="18" charset="0"/>
                <a:cs typeface="Times New Roman" panose="02020603050405020304" pitchFamily="18" charset="0"/>
              </a:rPr>
              <a:t> Include information technology, open system interconnection, Virtual terminal basic class </a:t>
            </a:r>
          </a:p>
          <a:p>
            <a:r>
              <a:rPr lang="en-US" b="1" dirty="0">
                <a:latin typeface="Times New Roman" panose="02020603050405020304" pitchFamily="18" charset="0"/>
                <a:cs typeface="Times New Roman" panose="02020603050405020304" pitchFamily="18" charset="0"/>
              </a:rPr>
              <a:t>ISO/IEC 9075-9:</a:t>
            </a:r>
            <a:r>
              <a:rPr lang="en-US" dirty="0">
                <a:latin typeface="Times New Roman" panose="02020603050405020304" pitchFamily="18" charset="0"/>
                <a:cs typeface="Times New Roman" panose="02020603050405020304" pitchFamily="18" charset="0"/>
              </a:rPr>
              <a:t>  Has information technology, Database languages, and SQL/MED</a:t>
            </a:r>
          </a:p>
          <a:p>
            <a:r>
              <a:rPr lang="en-US" b="1" dirty="0">
                <a:latin typeface="Times New Roman" panose="02020603050405020304" pitchFamily="18" charset="0"/>
                <a:cs typeface="Times New Roman" panose="02020603050405020304" pitchFamily="18" charset="0"/>
              </a:rPr>
              <a:t>ISO/IEC 9075-10: </a:t>
            </a:r>
            <a:r>
              <a:rPr lang="en-US" dirty="0">
                <a:latin typeface="Times New Roman" panose="02020603050405020304" pitchFamily="18" charset="0"/>
                <a:cs typeface="Times New Roman" panose="02020603050405020304" pitchFamily="18" charset="0"/>
              </a:rPr>
              <a:t>Has information technology, Database languages, and SQL/OLB (Object Language Bindings). </a:t>
            </a:r>
          </a:p>
          <a:p>
            <a:r>
              <a:rPr lang="en-US" b="1" dirty="0">
                <a:latin typeface="Times New Roman" panose="02020603050405020304" pitchFamily="18" charset="0"/>
                <a:cs typeface="Times New Roman" panose="02020603050405020304" pitchFamily="18" charset="0"/>
              </a:rPr>
              <a:t>ISO/IEC 9075-13:</a:t>
            </a:r>
            <a:r>
              <a:rPr lang="en-US" dirty="0">
                <a:latin typeface="Times New Roman" panose="02020603050405020304" pitchFamily="18" charset="0"/>
                <a:cs typeface="Times New Roman" panose="02020603050405020304" pitchFamily="18" charset="0"/>
              </a:rPr>
              <a:t> has information technology, Database languages, SQL routines, and Java Programming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64795" y="635"/>
            <a:ext cx="11209020" cy="521970"/>
          </a:xfrm>
          <a:prstGeom prst="rect">
            <a:avLst/>
          </a:prstGeom>
          <a:noFill/>
        </p:spPr>
        <p:txBody>
          <a:bodyPr wrap="square" rtlCol="0" anchor="t">
            <a:spAutoFit/>
            <a:scene3d>
              <a:camera prst="orthographicFront"/>
              <a:lightRig rig="threePt" dir="t"/>
            </a:scene3d>
          </a:bodyPr>
          <a:lstStyle/>
          <a:p>
            <a:pPr algn="dist">
              <a:lnSpc>
                <a:spcPct val="100000"/>
              </a:lnSpc>
            </a:pPr>
            <a:r>
              <a:rPr lang="en-US" sz="2800" b="1"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cs typeface="Times New Roman" panose="02020603050405020304" pitchFamily="18" charset="0"/>
                <a:sym typeface="+mn-ea"/>
              </a:rPr>
              <a:t>SEI [Software Engineering Institute] Software quality standards</a:t>
            </a:r>
          </a:p>
        </p:txBody>
      </p:sp>
      <p:sp>
        <p:nvSpPr>
          <p:cNvPr id="2" name="Text Box 1"/>
          <p:cNvSpPr txBox="1"/>
          <p:nvPr/>
        </p:nvSpPr>
        <p:spPr>
          <a:xfrm>
            <a:off x="-635" y="838291"/>
            <a:ext cx="12192635" cy="5908040"/>
          </a:xfrm>
          <a:prstGeom prst="rect">
            <a:avLst/>
          </a:prstGeom>
          <a:noFill/>
        </p:spPr>
        <p:txBody>
          <a:bodyPr wrap="square" rtlCol="0" anchor="t">
            <a:spAutoFit/>
          </a:bodyPr>
          <a:lstStyle/>
          <a:p>
            <a:pPr indent="0">
              <a:buFont typeface="Wingdings" panose="05000000000000000000" charset="0"/>
              <a:buNone/>
            </a:pPr>
            <a:r>
              <a:rPr lang="en-US" b="1" dirty="0">
                <a:latin typeface="Times New Roman" panose="02020603050405020304" pitchFamily="18" charset="0"/>
                <a:cs typeface="Times New Roman" panose="02020603050405020304" pitchFamily="18" charset="0"/>
              </a:rPr>
              <a:t>1.Capability Maturity Model Integration (CMMI):</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CMMI is one of the most well-known and widely adopted SEI standards. </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It provides a framework for organizations to assess and improve their software development processes.</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Capability Maturity Model (CMM):</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predecessors to CMMI used  for assessing and improving software development processes </a:t>
            </a:r>
          </a:p>
          <a:p>
            <a:pPr indent="0">
              <a:buFont typeface="Wingdings" panose="05000000000000000000" charset="0"/>
              <a:buNone/>
            </a:pPr>
            <a:endParaRPr lang="en-US" dirty="0">
              <a:latin typeface="Times New Roman" panose="02020603050405020304" pitchFamily="18" charset="0"/>
              <a:cs typeface="Times New Roman" panose="02020603050405020304" pitchFamily="18" charset="0"/>
            </a:endParaRPr>
          </a:p>
          <a:p>
            <a:pPr indent="0">
              <a:buFont typeface="Wingdings" panose="05000000000000000000" charset="0"/>
              <a:buNone/>
            </a:pPr>
            <a:r>
              <a:rPr lang="en-US" b="1" dirty="0">
                <a:latin typeface="Times New Roman" panose="02020603050405020304" pitchFamily="18" charset="0"/>
                <a:cs typeface="Times New Roman" panose="02020603050405020304" pitchFamily="18" charset="0"/>
              </a:rPr>
              <a:t>3.Team Software Process (TSP):</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 framework for building high-performance teams and managing the development of software-intensive systems.</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TSP emphasizes disciplined team-based practices and focuses on improving both individual and team performance throughout the software development lifecycle.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 Personal Software Process (PSP):</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(PSP) is a set of software engineering practices designed to help individual developers improve their personal productivity and software quality.</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PSP provides developers with a structured approach to planning, tracking, and managing their work, with an emphasis on defect prevention and measurement.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5. Software Product Line Engineering (SPLE):</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(SPLE) is an approach to software development that emphasizes systematic reuse of software assets across multiple products within a product line.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1754505" y="0"/>
            <a:ext cx="9610090" cy="829945"/>
          </a:xfrm>
          <a:prstGeom prst="rect">
            <a:avLst/>
          </a:prstGeom>
          <a:noFill/>
        </p:spPr>
        <p:txBody>
          <a:bodyPr wrap="square" rtlCol="0" anchor="t">
            <a:spAutoFit/>
            <a:scene3d>
              <a:camera prst="orthographicFront"/>
              <a:lightRig rig="threePt" dir="t"/>
            </a:scene3d>
          </a:bodyPr>
          <a:lstStyle/>
          <a:p>
            <a:pPr algn="dist">
              <a:lnSpc>
                <a:spcPct val="100000"/>
              </a:lnSpc>
            </a:pPr>
            <a:r>
              <a:rPr lang="en-US" sz="4800" b="1">
                <a:solidFill>
                  <a:schemeClr val="accent1"/>
                </a:solidFill>
                <a:effectLst>
                  <a:outerShdw blurRad="38100" dist="25400" dir="5400000" algn="ctr" rotWithShape="0">
                    <a:srgbClr val="6E747A">
                      <a:alpha val="43000"/>
                      <a:alpha val="43000"/>
                    </a:srgbClr>
                  </a:outerShdw>
                </a:effectLst>
                <a:latin typeface="times" charset="0"/>
                <a:cs typeface="times" charset="0"/>
              </a:rPr>
              <a:t>ISO Software Testing Standards</a:t>
            </a:r>
          </a:p>
        </p:txBody>
      </p:sp>
      <p:sp>
        <p:nvSpPr>
          <p:cNvPr id="3" name="Text Box 2"/>
          <p:cNvSpPr txBox="1"/>
          <p:nvPr/>
        </p:nvSpPr>
        <p:spPr>
          <a:xfrm>
            <a:off x="0" y="982345"/>
            <a:ext cx="12001500" cy="3416320"/>
          </a:xfrm>
          <a:prstGeom prst="rect">
            <a:avLst/>
          </a:prstGeom>
          <a:noFill/>
        </p:spPr>
        <p:txBody>
          <a:bodyPr wrap="square" rtlCol="0" anchor="t">
            <a:spAutoFit/>
          </a:bodyPr>
          <a:lstStyle/>
          <a:p>
            <a:pPr indent="0">
              <a:buFont typeface="Wingdings" panose="05000000000000000000" charset="0"/>
              <a:buNone/>
            </a:pPr>
            <a:r>
              <a:rPr lang="en-US" b="1" dirty="0">
                <a:latin typeface="Times New Roman" panose="02020603050405020304" pitchFamily="18" charset="0"/>
                <a:cs typeface="Times New Roman" panose="02020603050405020304" pitchFamily="18" charset="0"/>
              </a:rPr>
              <a:t>1. ISO/IEC/IEEE 29119 - Software Testing:</a:t>
            </a: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comprises a series of documents that define an internationally recognized approach to software testing.</a:t>
            </a:r>
          </a:p>
          <a:p>
            <a:r>
              <a:rPr lang="en-US" b="1" dirty="0">
                <a:latin typeface="Times New Roman" panose="02020603050405020304" pitchFamily="18" charset="0"/>
                <a:cs typeface="Times New Roman" panose="02020603050405020304" pitchFamily="18" charset="0"/>
              </a:rPr>
              <a:t>2. ISO 9000-3 - Software Quality Assurance:</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Although not specific to software testing, ISO 9000-3 provides guidelines for applying ISO 9001 quality management principles to software development and maintenance processes.</a:t>
            </a:r>
          </a:p>
          <a:p>
            <a:r>
              <a:rPr lang="en-US" b="1" dirty="0">
                <a:latin typeface="Times New Roman" panose="02020603050405020304" pitchFamily="18" charset="0"/>
                <a:cs typeface="Times New Roman" panose="02020603050405020304" pitchFamily="18" charset="0"/>
              </a:rPr>
              <a:t>3.ISO/IEC 25000 series - Software Quality Requirements and Evaluation (</a:t>
            </a:r>
            <a:r>
              <a:rPr lang="en-US" b="1" dirty="0" err="1">
                <a:latin typeface="Times New Roman" panose="02020603050405020304" pitchFamily="18" charset="0"/>
                <a:cs typeface="Times New Roman" panose="02020603050405020304" pitchFamily="18" charset="0"/>
              </a:rPr>
              <a:t>SQuaRE</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defines a framework for software product quality requirements and evaluation.</a:t>
            </a:r>
          </a:p>
          <a:p>
            <a:r>
              <a:rPr lang="en-US" b="1" dirty="0">
                <a:latin typeface="Times New Roman" panose="02020603050405020304" pitchFamily="18" charset="0"/>
                <a:cs typeface="Times New Roman" panose="02020603050405020304" pitchFamily="18" charset="0"/>
              </a:rPr>
              <a:t>4.ISO/IEC 25010 - Systems and Software Engineering - Systems and Software Quality Models:</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ISO/IEC 25010 defines a quality model for software products, specifying eight quality characteristics: functionality, reliability, usability, efficiency, maintainability, portability, compatibility, and security.</a:t>
            </a:r>
          </a:p>
          <a:p>
            <a:r>
              <a:rPr lang="en-US" b="1" dirty="0">
                <a:latin typeface="Times New Roman" panose="02020603050405020304" pitchFamily="18" charset="0"/>
                <a:cs typeface="Times New Roman" panose="02020603050405020304" pitchFamily="18" charset="0"/>
              </a:rPr>
              <a:t>5. ISO/IEC 20246 - Test Documentation:</a:t>
            </a: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
            </a:pPr>
            <a:r>
              <a:rPr lang="en-US" dirty="0">
                <a:latin typeface="Times New Roman" panose="02020603050405020304" pitchFamily="18" charset="0"/>
                <a:cs typeface="Times New Roman" panose="02020603050405020304" pitchFamily="18" charset="0"/>
              </a:rPr>
              <a:t>ISO/IEC 20246 provides guidelines for creating test documentation, including test plans, test cases, and test reports.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3A13E-5F77-7B07-FADD-D0AB76A4D045}"/>
            </a:ext>
          </a:extLst>
        </p:cNvPr>
        <p:cNvGrpSpPr/>
        <p:nvPr/>
      </p:nvGrpSpPr>
      <p:grpSpPr>
        <a:xfrm>
          <a:off x="0" y="0"/>
          <a:ext cx="0" cy="0"/>
          <a:chOff x="0" y="0"/>
          <a:chExt cx="0" cy="0"/>
        </a:xfrm>
      </p:grpSpPr>
      <p:sp>
        <p:nvSpPr>
          <p:cNvPr id="5" name="Text Box 4">
            <a:extLst>
              <a:ext uri="{FF2B5EF4-FFF2-40B4-BE49-F238E27FC236}">
                <a16:creationId xmlns:a16="http://schemas.microsoft.com/office/drawing/2014/main" id="{A119BAD0-64B9-6626-4C31-8F365BFF9C43}"/>
              </a:ext>
            </a:extLst>
          </p:cNvPr>
          <p:cNvSpPr txBox="1"/>
          <p:nvPr/>
        </p:nvSpPr>
        <p:spPr>
          <a:xfrm>
            <a:off x="2658138" y="-31065"/>
            <a:ext cx="8727721" cy="584775"/>
          </a:xfrm>
          <a:prstGeom prst="rect">
            <a:avLst/>
          </a:prstGeom>
          <a:noFill/>
        </p:spPr>
        <p:txBody>
          <a:bodyPr wrap="square" rtlCol="0" anchor="t">
            <a:spAutoFit/>
            <a:scene3d>
              <a:camera prst="orthographicFront"/>
              <a:lightRig rig="threePt" dir="t"/>
            </a:scene3d>
          </a:bodyPr>
          <a:lstStyle/>
          <a:p>
            <a:pPr algn="dist">
              <a:lnSpc>
                <a:spcPct val="100000"/>
              </a:lnSpc>
            </a:pPr>
            <a:r>
              <a:rPr lang="en-US" sz="3200" b="1" dirty="0">
                <a:solidFill>
                  <a:srgbClr val="00B0F0"/>
                </a:solidFill>
                <a:latin typeface="Times New Roman" panose="02020603050405020304" pitchFamily="18" charset="0"/>
                <a:cs typeface="Times New Roman" panose="02020603050405020304" pitchFamily="18" charset="0"/>
              </a:rPr>
              <a:t>CMMI </a:t>
            </a:r>
            <a:r>
              <a:rPr lang="en-US" sz="3200" b="1">
                <a:solidFill>
                  <a:srgbClr val="00B0F0"/>
                </a:solidFill>
                <a:latin typeface="Times New Roman" panose="02020603050405020304" pitchFamily="18" charset="0"/>
                <a:cs typeface="Times New Roman" panose="02020603050405020304" pitchFamily="18" charset="0"/>
              </a:rPr>
              <a:t>SOFTWARE Standards</a:t>
            </a:r>
            <a:endParaRPr lang="en-US" sz="3200" b="1" dirty="0">
              <a:solidFill>
                <a:srgbClr val="00B0F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2EB9EFD-DE33-4E76-E283-7F217A46AEB6}"/>
              </a:ext>
            </a:extLst>
          </p:cNvPr>
          <p:cNvSpPr txBox="1"/>
          <p:nvPr/>
        </p:nvSpPr>
        <p:spPr>
          <a:xfrm>
            <a:off x="-82402" y="1498857"/>
            <a:ext cx="12193772" cy="5252720"/>
          </a:xfrm>
          <a:prstGeom prst="rect">
            <a:avLst/>
          </a:prstGeom>
          <a:noFill/>
        </p:spPr>
        <p:txBody>
          <a:bodyPr wrap="square">
            <a:spAutoFit/>
          </a:bodyPr>
          <a:lstStyle/>
          <a:p>
            <a:pPr algn="ctr" fontAlgn="base"/>
            <a:r>
              <a:rPr lang="en-GB" sz="2400" b="1" dirty="0">
                <a:solidFill>
                  <a:srgbClr val="00B0F0"/>
                </a:solidFill>
                <a:latin typeface="Times New Roman" panose="02020603050405020304" pitchFamily="18" charset="0"/>
                <a:cs typeface="Times New Roman" panose="02020603050405020304" pitchFamily="18" charset="0"/>
              </a:rPr>
              <a:t>Objectives of CMMI</a:t>
            </a:r>
          </a:p>
          <a:p>
            <a:pPr algn="just" fontAlgn="base">
              <a:spcAft>
                <a:spcPts val="1800"/>
              </a:spcAft>
              <a:buFont typeface="+mj-lt"/>
              <a:buAutoNum type="arabicPeriod"/>
            </a:pPr>
            <a:r>
              <a:rPr lang="en-GB" dirty="0">
                <a:latin typeface="Times New Roman" panose="02020603050405020304" pitchFamily="18" charset="0"/>
                <a:cs typeface="Times New Roman" panose="02020603050405020304" pitchFamily="18" charset="0"/>
              </a:rPr>
              <a:t>Fulfilling customer needs and expectations.</a:t>
            </a:r>
          </a:p>
          <a:p>
            <a:pPr algn="just" fontAlgn="base">
              <a:spcAft>
                <a:spcPts val="1800"/>
              </a:spcAft>
              <a:buFont typeface="+mj-lt"/>
              <a:buAutoNum type="arabicPeriod" startAt="2"/>
            </a:pPr>
            <a:r>
              <a:rPr lang="en-GB" dirty="0">
                <a:latin typeface="Times New Roman" panose="02020603050405020304" pitchFamily="18" charset="0"/>
                <a:cs typeface="Times New Roman" panose="02020603050405020304" pitchFamily="18" charset="0"/>
              </a:rPr>
              <a:t>Value creation for investors/stockholders.</a:t>
            </a:r>
          </a:p>
          <a:p>
            <a:pPr algn="just" fontAlgn="base">
              <a:spcAft>
                <a:spcPts val="1800"/>
              </a:spcAft>
              <a:buFont typeface="+mj-lt"/>
              <a:buAutoNum type="arabicPeriod" startAt="3"/>
            </a:pPr>
            <a:r>
              <a:rPr lang="en-GB" dirty="0">
                <a:latin typeface="Times New Roman" panose="02020603050405020304" pitchFamily="18" charset="0"/>
                <a:cs typeface="Times New Roman" panose="02020603050405020304" pitchFamily="18" charset="0"/>
              </a:rPr>
              <a:t>Market growth is increased.</a:t>
            </a:r>
          </a:p>
          <a:p>
            <a:pPr algn="just" fontAlgn="base">
              <a:spcAft>
                <a:spcPts val="1800"/>
              </a:spcAft>
              <a:buFont typeface="+mj-lt"/>
              <a:buAutoNum type="arabicPeriod" startAt="4"/>
            </a:pPr>
            <a:r>
              <a:rPr lang="en-GB" dirty="0">
                <a:latin typeface="Times New Roman" panose="02020603050405020304" pitchFamily="18" charset="0"/>
                <a:cs typeface="Times New Roman" panose="02020603050405020304" pitchFamily="18" charset="0"/>
              </a:rPr>
              <a:t>Improved quality of products and services.</a:t>
            </a:r>
          </a:p>
          <a:p>
            <a:pPr algn="just" fontAlgn="base">
              <a:spcAft>
                <a:spcPts val="1800"/>
              </a:spcAft>
              <a:buFont typeface="+mj-lt"/>
              <a:buAutoNum type="arabicPeriod" startAt="5"/>
            </a:pPr>
            <a:r>
              <a:rPr lang="en-GB" dirty="0">
                <a:latin typeface="Times New Roman" panose="02020603050405020304" pitchFamily="18" charset="0"/>
                <a:cs typeface="Times New Roman" panose="02020603050405020304" pitchFamily="18" charset="0"/>
              </a:rPr>
              <a:t>Enhanced reputation in Industry.</a:t>
            </a:r>
          </a:p>
          <a:p>
            <a:pPr algn="ctr" fontAlgn="base"/>
            <a:r>
              <a:rPr lang="en-GB" b="1" dirty="0">
                <a:latin typeface="Times New Roman" panose="02020603050405020304" pitchFamily="18" charset="0"/>
                <a:cs typeface="Times New Roman" panose="02020603050405020304" pitchFamily="18" charset="0"/>
              </a:rPr>
              <a:t>CMMI Representation</a:t>
            </a:r>
          </a:p>
          <a:p>
            <a:pPr algn="just" rtl="0" fontAlgn="base">
              <a:spcAft>
                <a:spcPts val="750"/>
              </a:spcAft>
            </a:pPr>
            <a:r>
              <a:rPr lang="en-GB" b="1" dirty="0">
                <a:latin typeface="Times New Roman" panose="02020603050405020304" pitchFamily="18" charset="0"/>
                <a:cs typeface="Times New Roman" panose="02020603050405020304" pitchFamily="18" charset="0"/>
              </a:rPr>
              <a:t>Staged Representation :</a:t>
            </a:r>
          </a:p>
          <a:p>
            <a:pPr marL="742950" lvl="1" indent="-285750" algn="just" fontAlgn="base">
              <a:spcBef>
                <a:spcPts val="375"/>
              </a:spcBef>
              <a:spcAft>
                <a:spcPts val="375"/>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uses a pre-defined set of process areas to define improvement path.</a:t>
            </a:r>
          </a:p>
          <a:p>
            <a:pPr marL="742950" lvl="1" indent="-285750" algn="just" fontAlgn="base">
              <a:spcBef>
                <a:spcPts val="375"/>
              </a:spcBef>
              <a:spcAft>
                <a:spcPts val="375"/>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maturity level describes the maturity of processes in organization.</a:t>
            </a:r>
          </a:p>
          <a:p>
            <a:pPr algn="just" fontAlgn="base">
              <a:spcAft>
                <a:spcPts val="1800"/>
              </a:spcAft>
            </a:pPr>
            <a:r>
              <a:rPr lang="en-GB" b="1" dirty="0">
                <a:latin typeface="Times New Roman" panose="02020603050405020304" pitchFamily="18" charset="0"/>
                <a:cs typeface="Times New Roman" panose="02020603050405020304" pitchFamily="18" charset="0"/>
              </a:rPr>
              <a:t>Continuous Representation :</a:t>
            </a:r>
          </a:p>
          <a:p>
            <a:pPr marL="742950" lvl="1" indent="-285750" algn="just" fontAlgn="base">
              <a:spcBef>
                <a:spcPts val="375"/>
              </a:spcBef>
              <a:spcAft>
                <a:spcPts val="375"/>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allows selection of specific process areas.</a:t>
            </a:r>
          </a:p>
        </p:txBody>
      </p:sp>
      <p:sp>
        <p:nvSpPr>
          <p:cNvPr id="6" name="TextBox 5">
            <a:extLst>
              <a:ext uri="{FF2B5EF4-FFF2-40B4-BE49-F238E27FC236}">
                <a16:creationId xmlns:a16="http://schemas.microsoft.com/office/drawing/2014/main" id="{2DCD1F85-F777-C52E-7B11-CF467F137068}"/>
              </a:ext>
            </a:extLst>
          </p:cNvPr>
          <p:cNvSpPr txBox="1"/>
          <p:nvPr/>
        </p:nvSpPr>
        <p:spPr>
          <a:xfrm>
            <a:off x="-82402" y="436752"/>
            <a:ext cx="12193772" cy="1200329"/>
          </a:xfrm>
          <a:prstGeom prst="rect">
            <a:avLst/>
          </a:prstGeom>
          <a:noFill/>
        </p:spPr>
        <p:txBody>
          <a:bodyPr wrap="square">
            <a:spAutoFit/>
          </a:bodyPr>
          <a:lstStyle/>
          <a:p>
            <a:pPr marL="285750" indent="-285750" algn="just">
              <a:buFont typeface="Wingdings" pitchFamily="2" charset="2"/>
              <a:buChar char="Ø"/>
            </a:pPr>
            <a:r>
              <a:rPr lang="en-GB" dirty="0">
                <a:latin typeface="Times New Roman" panose="02020603050405020304" pitchFamily="18" charset="0"/>
                <a:cs typeface="Times New Roman" panose="02020603050405020304" pitchFamily="18" charset="0"/>
              </a:rPr>
              <a:t>It is a process improvement model that helps organizations achieve their business goals by improving their software engineering capabilities.</a:t>
            </a:r>
          </a:p>
          <a:p>
            <a:pPr marL="285750" indent="-285750" algn="just">
              <a:buFont typeface="Wingdings" pitchFamily="2" charset="2"/>
              <a:buChar char="Ø"/>
            </a:pPr>
            <a:r>
              <a:rPr lang="en-GB" dirty="0">
                <a:latin typeface="Times New Roman" panose="02020603050405020304" pitchFamily="18" charset="0"/>
                <a:cs typeface="Times New Roman" panose="02020603050405020304" pitchFamily="18" charset="0"/>
              </a:rPr>
              <a:t>CMMI was developed by the Software Engineering Institute (SEI) at Carnegie Mellon University, and it is based on the best practices of successful software organizations.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6886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3AC6-0439-2B7C-0483-60D6B679E2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5756DD-8122-AC99-58D4-5410F2572E61}"/>
              </a:ext>
            </a:extLst>
          </p:cNvPr>
          <p:cNvSpPr txBox="1"/>
          <p:nvPr/>
        </p:nvSpPr>
        <p:spPr>
          <a:xfrm>
            <a:off x="-76200" y="0"/>
            <a:ext cx="12268199" cy="461665"/>
          </a:xfrm>
          <a:prstGeom prst="rect">
            <a:avLst/>
          </a:prstGeom>
          <a:noFill/>
        </p:spPr>
        <p:txBody>
          <a:bodyPr wrap="square">
            <a:spAutoFit/>
          </a:bodyPr>
          <a:lstStyle/>
          <a:p>
            <a:pPr algn="ctr" fontAlgn="base"/>
            <a:r>
              <a:rPr lang="en-GB" sz="2400" b="1" dirty="0">
                <a:solidFill>
                  <a:srgbClr val="00B0F0"/>
                </a:solidFill>
                <a:latin typeface="Times New Roman" panose="02020603050405020304" pitchFamily="18" charset="0"/>
                <a:cs typeface="Times New Roman" panose="02020603050405020304" pitchFamily="18" charset="0"/>
              </a:rPr>
              <a:t>CMMI Model – Maturity Levels</a:t>
            </a:r>
          </a:p>
        </p:txBody>
      </p:sp>
      <p:pic>
        <p:nvPicPr>
          <p:cNvPr id="2050" name="Picture 2" descr="Capability Maturity Model -CMM (By Software Engineering Institute... |  Download Scientific Diagram">
            <a:extLst>
              <a:ext uri="{FF2B5EF4-FFF2-40B4-BE49-F238E27FC236}">
                <a16:creationId xmlns:a16="http://schemas.microsoft.com/office/drawing/2014/main" id="{3AB42505-5CF5-C8EA-7ECD-037932E091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42"/>
          <a:stretch/>
        </p:blipFill>
        <p:spPr bwMode="auto">
          <a:xfrm>
            <a:off x="2303721" y="947184"/>
            <a:ext cx="7924800" cy="5910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496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7AFB0-297D-A884-AA70-0A05196DA0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CF30F17-C527-1E0A-6262-4ABC3B7BBF79}"/>
              </a:ext>
            </a:extLst>
          </p:cNvPr>
          <p:cNvSpPr txBox="1"/>
          <p:nvPr/>
        </p:nvSpPr>
        <p:spPr>
          <a:xfrm>
            <a:off x="-76200" y="0"/>
            <a:ext cx="12268199" cy="7196842"/>
          </a:xfrm>
          <a:prstGeom prst="rect">
            <a:avLst/>
          </a:prstGeom>
          <a:noFill/>
        </p:spPr>
        <p:txBody>
          <a:bodyPr wrap="square">
            <a:spAutoFit/>
          </a:bodyPr>
          <a:lstStyle/>
          <a:p>
            <a:pPr algn="ctr" fontAlgn="base"/>
            <a:r>
              <a:rPr lang="en-GB" sz="2000" b="1" dirty="0">
                <a:solidFill>
                  <a:srgbClr val="00B0F0"/>
                </a:solidFill>
                <a:latin typeface="Times New Roman" panose="02020603050405020304" pitchFamily="18" charset="0"/>
                <a:cs typeface="Times New Roman" panose="02020603050405020304" pitchFamily="18" charset="0"/>
              </a:rPr>
              <a:t>CMMI Model – Capability Levels</a:t>
            </a:r>
          </a:p>
          <a:p>
            <a:pPr marL="285750" indent="-285750" algn="just" rtl="0" fontAlgn="base">
              <a:spcAft>
                <a:spcPts val="750"/>
              </a:spcAft>
              <a:buFont typeface="Wingdings" pitchFamily="2" charset="2"/>
              <a:buChar char="v"/>
            </a:pPr>
            <a:r>
              <a:rPr lang="en-GB" dirty="0">
                <a:latin typeface="Times New Roman" panose="02020603050405020304" pitchFamily="18" charset="0"/>
                <a:cs typeface="Times New Roman" panose="02020603050405020304" pitchFamily="18" charset="0"/>
              </a:rPr>
              <a:t>A capability level includes relevant specific and generic practices for a specific process area that can improve the organization’s processes associated with that process area. </a:t>
            </a:r>
          </a:p>
          <a:p>
            <a:pPr algn="just"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Capability level 0 : Incomplete</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incomplete process – partially or not performed.</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this capability level is same as maturity level 1.</a:t>
            </a:r>
          </a:p>
          <a:p>
            <a:pPr algn="just" fontAlgn="base">
              <a:spcAft>
                <a:spcPts val="1800"/>
              </a:spcAft>
              <a:buFont typeface="+mj-lt"/>
              <a:buAutoNum type="arabicPeriod" startAt="2"/>
            </a:pPr>
            <a:r>
              <a:rPr lang="en-GB" b="1" dirty="0">
                <a:latin typeface="Times New Roman" panose="02020603050405020304" pitchFamily="18" charset="0"/>
                <a:cs typeface="Times New Roman" panose="02020603050405020304" pitchFamily="18" charset="0"/>
              </a:rPr>
              <a:t>Capability level 1 : Performed</a:t>
            </a:r>
          </a:p>
          <a:p>
            <a:pPr marL="285750"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process performance may not be stable.</a:t>
            </a:r>
          </a:p>
          <a:p>
            <a:pPr marL="285750"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only a start-step for process improvement.</a:t>
            </a:r>
          </a:p>
          <a:p>
            <a:pPr algn="just" fontAlgn="base">
              <a:spcAft>
                <a:spcPts val="1800"/>
              </a:spcAft>
              <a:buFont typeface="+mj-lt"/>
              <a:buAutoNum type="arabicPeriod" startAt="3"/>
            </a:pPr>
            <a:r>
              <a:rPr lang="en-GB" b="1" dirty="0">
                <a:latin typeface="Times New Roman" panose="02020603050405020304" pitchFamily="18" charset="0"/>
                <a:cs typeface="Times New Roman" panose="02020603050405020304" pitchFamily="18" charset="0"/>
              </a:rPr>
              <a:t>Capability level 2 : Managed</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process is planned, monitored and controlled.</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actively managing processing with the help of metrics.</a:t>
            </a:r>
          </a:p>
          <a:p>
            <a:pPr algn="just" fontAlgn="base">
              <a:spcAft>
                <a:spcPts val="1800"/>
              </a:spcAft>
              <a:buFont typeface="+mj-lt"/>
              <a:buAutoNum type="arabicPeriod" startAt="4"/>
            </a:pPr>
            <a:r>
              <a:rPr lang="en-GB" b="1" dirty="0">
                <a:latin typeface="Times New Roman" panose="02020603050405020304" pitchFamily="18" charset="0"/>
                <a:cs typeface="Times New Roman" panose="02020603050405020304" pitchFamily="18" charset="0"/>
              </a:rPr>
              <a:t>Capability level 3 : Defined</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 defined process is managed and meets the organization’s set of guidelines and standards.</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Focus is process standardization.</a:t>
            </a:r>
            <a:br>
              <a:rPr lang="en-GB"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6647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39FF2-16F7-8E23-F749-DF5A030589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B5A515-B8D6-6137-98AD-7E8AE9249F68}"/>
              </a:ext>
            </a:extLst>
          </p:cNvPr>
          <p:cNvSpPr txBox="1"/>
          <p:nvPr/>
        </p:nvSpPr>
        <p:spPr>
          <a:xfrm>
            <a:off x="-76200" y="0"/>
            <a:ext cx="12268199" cy="3493264"/>
          </a:xfrm>
          <a:prstGeom prst="rect">
            <a:avLst/>
          </a:prstGeom>
          <a:noFill/>
        </p:spPr>
        <p:txBody>
          <a:bodyPr wrap="square">
            <a:spAutoFit/>
          </a:bodyPr>
          <a:lstStyle/>
          <a:p>
            <a:pPr algn="ctr" fontAlgn="base"/>
            <a:r>
              <a:rPr lang="en-GB" sz="2000" b="1" dirty="0">
                <a:solidFill>
                  <a:srgbClr val="00B0F0"/>
                </a:solidFill>
                <a:latin typeface="Times New Roman" panose="02020603050405020304" pitchFamily="18" charset="0"/>
                <a:cs typeface="Times New Roman" panose="02020603050405020304" pitchFamily="18" charset="0"/>
              </a:rPr>
              <a:t>CMMI Model – Capability Levels</a:t>
            </a:r>
          </a:p>
          <a:p>
            <a:pPr algn="just" fontAlgn="base">
              <a:spcAft>
                <a:spcPts val="1800"/>
              </a:spcAft>
              <a:buFont typeface="+mj-lt"/>
              <a:buAutoNum type="arabicPeriod" startAt="5"/>
            </a:pPr>
            <a:r>
              <a:rPr lang="en-GB" b="1" dirty="0">
                <a:latin typeface="Times New Roman" panose="02020603050405020304" pitchFamily="18" charset="0"/>
                <a:cs typeface="Times New Roman" panose="02020603050405020304" pitchFamily="18" charset="0"/>
              </a:rPr>
              <a:t>Capability level 4 : Quantitatively Managed</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process is controlled using statistical and quantitative techniques.</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quantitative objectives for process quality and performance are established.</a:t>
            </a:r>
          </a:p>
          <a:p>
            <a:pPr algn="just" fontAlgn="base">
              <a:spcAft>
                <a:spcPts val="1800"/>
              </a:spcAft>
              <a:buFont typeface="+mj-lt"/>
              <a:buAutoNum type="arabicPeriod" startAt="6"/>
            </a:pPr>
            <a:r>
              <a:rPr lang="en-GB" b="1" dirty="0">
                <a:latin typeface="Times New Roman" panose="02020603050405020304" pitchFamily="18" charset="0"/>
                <a:cs typeface="Times New Roman" panose="02020603050405020304" pitchFamily="18" charset="0"/>
              </a:rPr>
              <a:t>Capability level 5 : Optimizing</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focuses on continually improving process performance.</a:t>
            </a:r>
          </a:p>
          <a:p>
            <a:pPr marL="742950" lvl="1" indent="-285750" algn="just" fontAlgn="base">
              <a:spcAft>
                <a:spcPts val="1800"/>
              </a:spcAf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performance is improved in both ways – incremental and innovation.</a:t>
            </a:r>
            <a:br>
              <a:rPr lang="en-GB"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4304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251D4-A971-FCC9-EDD8-7FFAC99D9D4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231A1A3-F43D-53AB-5F53-875C271A4FAC}"/>
              </a:ext>
            </a:extLst>
          </p:cNvPr>
          <p:cNvSpPr txBox="1"/>
          <p:nvPr/>
        </p:nvSpPr>
        <p:spPr>
          <a:xfrm>
            <a:off x="1369101" y="-112868"/>
            <a:ext cx="9758598" cy="584775"/>
          </a:xfrm>
          <a:prstGeom prst="rect">
            <a:avLst/>
          </a:prstGeom>
          <a:noFill/>
        </p:spPr>
        <p:txBody>
          <a:bodyPr wrap="square">
            <a:spAutoFit/>
          </a:bodyPr>
          <a:lstStyle/>
          <a:p>
            <a:pPr algn="ctr"/>
            <a:r>
              <a:rPr lang="en-GB" sz="3200" dirty="0">
                <a:solidFill>
                  <a:srgbClr val="00B0F0"/>
                </a:solidFill>
                <a:effectLst/>
                <a:latin typeface="Times New Roman" panose="02020603050405020304" pitchFamily="18" charset="0"/>
                <a:cs typeface="Times New Roman" panose="02020603050405020304" pitchFamily="18" charset="0"/>
              </a:rPr>
              <a:t>Process and Product Standards</a:t>
            </a:r>
            <a:endParaRPr lang="en-IN" sz="3200" dirty="0">
              <a:solidFill>
                <a:srgbClr val="00B0F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66A7FE6-D339-8B99-FEE1-6456917101A7}"/>
              </a:ext>
            </a:extLst>
          </p:cNvPr>
          <p:cNvSpPr txBox="1"/>
          <p:nvPr/>
        </p:nvSpPr>
        <p:spPr>
          <a:xfrm>
            <a:off x="-1772" y="350874"/>
            <a:ext cx="12193772" cy="5355312"/>
          </a:xfrm>
          <a:prstGeom prst="rect">
            <a:avLst/>
          </a:prstGeom>
          <a:noFill/>
        </p:spPr>
        <p:txBody>
          <a:bodyPr wrap="square">
            <a:spAutoFit/>
          </a:bodyPr>
          <a:lstStyle/>
          <a:p>
            <a:pPr algn="just"/>
            <a:r>
              <a:rPr lang="en-GB" b="1" i="0" u="none" strike="noStrike" dirty="0">
                <a:solidFill>
                  <a:srgbClr val="000000"/>
                </a:solidFill>
                <a:effectLst/>
                <a:latin typeface="Times New Roman" panose="02020603050405020304" pitchFamily="18" charset="0"/>
                <a:cs typeface="Times New Roman" panose="02020603050405020304" pitchFamily="18" charset="0"/>
              </a:rPr>
              <a:t>1. Process Standards</a:t>
            </a:r>
          </a:p>
          <a:p>
            <a:pPr marL="285750" indent="-285750" algn="just">
              <a:buFont typeface="Wingdings" pitchFamily="2" charset="2"/>
              <a:buChar char="Ø"/>
            </a:pPr>
            <a:r>
              <a:rPr lang="en-GB" b="0" i="0" u="none" strike="noStrike" dirty="0">
                <a:solidFill>
                  <a:srgbClr val="000000"/>
                </a:solidFill>
                <a:effectLst/>
                <a:latin typeface="Times New Roman" panose="02020603050405020304" pitchFamily="18" charset="0"/>
                <a:cs typeface="Times New Roman" panose="02020603050405020304" pitchFamily="18" charset="0"/>
              </a:rPr>
              <a:t>Process standards define the </a:t>
            </a:r>
            <a:r>
              <a:rPr lang="en-GB" b="1" i="0" u="none" strike="noStrike" dirty="0">
                <a:solidFill>
                  <a:srgbClr val="000000"/>
                </a:solidFill>
                <a:effectLst/>
                <a:latin typeface="Times New Roman" panose="02020603050405020304" pitchFamily="18" charset="0"/>
                <a:cs typeface="Times New Roman" panose="02020603050405020304" pitchFamily="18" charset="0"/>
              </a:rPr>
              <a:t>procedures and methods</a:t>
            </a:r>
            <a:r>
              <a:rPr lang="en-GB" b="0" i="0" u="none" strike="noStrike" dirty="0">
                <a:solidFill>
                  <a:srgbClr val="000000"/>
                </a:solidFill>
                <a:effectLst/>
                <a:latin typeface="Times New Roman" panose="02020603050405020304" pitchFamily="18" charset="0"/>
                <a:cs typeface="Times New Roman" panose="02020603050405020304" pitchFamily="18" charset="0"/>
              </a:rPr>
              <a:t> to be followed during software development. </a:t>
            </a:r>
          </a:p>
          <a:p>
            <a:pPr marL="285750" indent="-285750" algn="just">
              <a:buFont typeface="Wingdings" pitchFamily="2" charset="2"/>
              <a:buChar char="Ø"/>
            </a:pPr>
            <a:r>
              <a:rPr lang="en-GB" b="0" i="0" u="none" strike="noStrike" dirty="0">
                <a:solidFill>
                  <a:srgbClr val="000000"/>
                </a:solidFill>
                <a:effectLst/>
                <a:latin typeface="Times New Roman" panose="02020603050405020304" pitchFamily="18" charset="0"/>
                <a:cs typeface="Times New Roman" panose="02020603050405020304" pitchFamily="18" charset="0"/>
              </a:rPr>
              <a:t>These standards aim to standardize how software is created, tested, and maintained.</a:t>
            </a:r>
          </a:p>
          <a:p>
            <a:pPr algn="just"/>
            <a:r>
              <a:rPr lang="en-GB" b="1" i="0" u="none" strike="noStrike" dirty="0">
                <a:solidFill>
                  <a:srgbClr val="000000"/>
                </a:solidFill>
                <a:effectLst/>
                <a:latin typeface="Times New Roman" panose="02020603050405020304" pitchFamily="18" charset="0"/>
                <a:cs typeface="Times New Roman" panose="02020603050405020304" pitchFamily="18" charset="0"/>
              </a:rPr>
              <a:t>Examples of Process Standards</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ISO/IEC 12207</a:t>
            </a:r>
            <a:r>
              <a:rPr lang="en-GB" b="0" i="0" u="none" strike="noStrike" dirty="0">
                <a:solidFill>
                  <a:srgbClr val="000000"/>
                </a:solidFill>
                <a:effectLst/>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ISO/IEC 15504 (SPICE)</a:t>
            </a:r>
            <a:r>
              <a:rPr lang="en-GB" b="0" i="0" u="none" strike="noStrike" dirty="0">
                <a:solidFill>
                  <a:srgbClr val="000000"/>
                </a:solidFill>
                <a:effectLst/>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Capability Maturity Model Integration (CMMI)</a:t>
            </a:r>
            <a:r>
              <a:rPr lang="en-GB" b="0" i="0" u="none" strike="noStrike" dirty="0">
                <a:solidFill>
                  <a:srgbClr val="000000"/>
                </a:solidFill>
                <a:effectLst/>
                <a:latin typeface="Times New Roman" panose="02020603050405020304" pitchFamily="18" charset="0"/>
                <a:cs typeface="Times New Roman" panose="02020603050405020304" pitchFamily="18" charset="0"/>
              </a:rPr>
              <a:t>:</a:t>
            </a:r>
          </a:p>
          <a:p>
            <a:pPr algn="just"/>
            <a:endParaRPr lang="en-GB" b="0" i="0" u="none" strike="noStrike" dirty="0">
              <a:solidFill>
                <a:srgbClr val="000000"/>
              </a:solidFill>
              <a:effectLst/>
              <a:latin typeface="Times New Roman" panose="02020603050405020304" pitchFamily="18" charset="0"/>
              <a:cs typeface="Times New Roman" panose="02020603050405020304" pitchFamily="18" charset="0"/>
            </a:endParaRPr>
          </a:p>
          <a:p>
            <a:pPr algn="ctr"/>
            <a:r>
              <a:rPr lang="en-GB" b="1" i="0" u="none" strike="noStrike" dirty="0">
                <a:solidFill>
                  <a:srgbClr val="00B0F0"/>
                </a:solidFill>
                <a:effectLst/>
                <a:latin typeface="Times New Roman" panose="02020603050405020304" pitchFamily="18" charset="0"/>
                <a:cs typeface="Times New Roman" panose="02020603050405020304" pitchFamily="18" charset="0"/>
              </a:rPr>
              <a:t>Components of Process Standards</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Development Process</a:t>
            </a:r>
            <a:r>
              <a:rPr lang="en-GB" b="0" i="0" u="none" strike="noStrike" dirty="0">
                <a:solidFill>
                  <a:srgbClr val="000000"/>
                </a:solidFill>
                <a:effectLst/>
                <a:latin typeface="Times New Roman" panose="02020603050405020304" pitchFamily="18" charset="0"/>
                <a:cs typeface="Times New Roman" panose="02020603050405020304" pitchFamily="18" charset="0"/>
              </a:rPr>
              <a:t>: Specifies stages such as requirements gathering, design, coding, testing, and deployment.</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Documentation</a:t>
            </a:r>
            <a:r>
              <a:rPr lang="en-GB" b="0" i="0" u="none" strike="noStrike" dirty="0">
                <a:solidFill>
                  <a:srgbClr val="000000"/>
                </a:solidFill>
                <a:effectLst/>
                <a:latin typeface="Times New Roman" panose="02020603050405020304" pitchFamily="18" charset="0"/>
                <a:cs typeface="Times New Roman" panose="02020603050405020304" pitchFamily="18" charset="0"/>
              </a:rPr>
              <a:t>: Standards for creating and maintaining technical documents.</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Testing Procedures</a:t>
            </a:r>
            <a:r>
              <a:rPr lang="en-GB" b="0" i="0" u="none" strike="noStrike" dirty="0">
                <a:solidFill>
                  <a:srgbClr val="000000"/>
                </a:solidFill>
                <a:effectLst/>
                <a:latin typeface="Times New Roman" panose="02020603050405020304" pitchFamily="18" charset="0"/>
                <a:cs typeface="Times New Roman" panose="02020603050405020304" pitchFamily="18" charset="0"/>
              </a:rPr>
              <a:t>: Guidelines for unit, integration, and system testing.</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Project Management</a:t>
            </a:r>
            <a:r>
              <a:rPr lang="en-GB" b="0" i="0" u="none" strike="noStrike" dirty="0">
                <a:solidFill>
                  <a:srgbClr val="000000"/>
                </a:solidFill>
                <a:effectLst/>
                <a:latin typeface="Times New Roman" panose="02020603050405020304" pitchFamily="18" charset="0"/>
                <a:cs typeface="Times New Roman" panose="02020603050405020304" pitchFamily="18" charset="0"/>
              </a:rPr>
              <a:t>: Standards for scheduling, resource allocation, and risk management.</a:t>
            </a:r>
          </a:p>
          <a:p>
            <a:pPr algn="just"/>
            <a:endParaRPr lang="en-GB" b="1" i="0" u="none" strike="noStrike" dirty="0">
              <a:solidFill>
                <a:srgbClr val="000000"/>
              </a:solidFill>
              <a:effectLst/>
              <a:latin typeface="Times New Roman" panose="02020603050405020304" pitchFamily="18" charset="0"/>
              <a:cs typeface="Times New Roman" panose="02020603050405020304" pitchFamily="18" charset="0"/>
            </a:endParaRPr>
          </a:p>
          <a:p>
            <a:pPr algn="just"/>
            <a:endParaRPr lang="en-GB" b="1" dirty="0">
              <a:solidFill>
                <a:srgbClr val="000000"/>
              </a:solidFill>
              <a:latin typeface="Times New Roman" panose="02020603050405020304" pitchFamily="18" charset="0"/>
              <a:cs typeface="Times New Roman" panose="02020603050405020304" pitchFamily="18" charset="0"/>
            </a:endParaRPr>
          </a:p>
          <a:p>
            <a:pPr algn="ctr"/>
            <a:r>
              <a:rPr lang="en-GB" b="1" i="0" u="none" strike="noStrike" dirty="0">
                <a:solidFill>
                  <a:srgbClr val="00B0F0"/>
                </a:solidFill>
                <a:effectLst/>
                <a:latin typeface="Times New Roman" panose="02020603050405020304" pitchFamily="18" charset="0"/>
                <a:cs typeface="Times New Roman" panose="02020603050405020304" pitchFamily="18" charset="0"/>
              </a:rPr>
              <a:t>Benefits of Process Standards</a:t>
            </a:r>
          </a:p>
          <a:p>
            <a:pPr algn="just">
              <a:buFont typeface="Arial" panose="020B0604020202020204" pitchFamily="34" charset="0"/>
              <a:buChar char="•"/>
            </a:pPr>
            <a:r>
              <a:rPr lang="en-GB" b="0" i="0" u="none" strike="noStrike" dirty="0">
                <a:solidFill>
                  <a:srgbClr val="000000"/>
                </a:solidFill>
                <a:effectLst/>
                <a:latin typeface="Times New Roman" panose="02020603050405020304" pitchFamily="18" charset="0"/>
                <a:cs typeface="Times New Roman" panose="02020603050405020304" pitchFamily="18" charset="0"/>
              </a:rPr>
              <a:t>Improved project predictability and efficiency.</a:t>
            </a:r>
          </a:p>
          <a:p>
            <a:pPr algn="just">
              <a:buFont typeface="Arial" panose="020B0604020202020204" pitchFamily="34" charset="0"/>
              <a:buChar char="•"/>
            </a:pPr>
            <a:r>
              <a:rPr lang="en-GB" b="0" i="0" u="none" strike="noStrike" dirty="0">
                <a:solidFill>
                  <a:srgbClr val="000000"/>
                </a:solidFill>
                <a:effectLst/>
                <a:latin typeface="Times New Roman" panose="02020603050405020304" pitchFamily="18" charset="0"/>
                <a:cs typeface="Times New Roman" panose="02020603050405020304" pitchFamily="18" charset="0"/>
              </a:rPr>
              <a:t>Enhanced communication and collaboration within teams.</a:t>
            </a:r>
          </a:p>
          <a:p>
            <a:pPr algn="just">
              <a:buFont typeface="Arial" panose="020B0604020202020204" pitchFamily="34" charset="0"/>
              <a:buChar char="•"/>
            </a:pPr>
            <a:r>
              <a:rPr lang="en-GB" b="0" i="0" u="none" strike="noStrike" dirty="0">
                <a:solidFill>
                  <a:srgbClr val="000000"/>
                </a:solidFill>
                <a:effectLst/>
                <a:latin typeface="Times New Roman" panose="02020603050405020304" pitchFamily="18" charset="0"/>
                <a:cs typeface="Times New Roman" panose="02020603050405020304" pitchFamily="18" charset="0"/>
              </a:rPr>
              <a:t>Consistency in software quality across projects.</a:t>
            </a:r>
          </a:p>
        </p:txBody>
      </p:sp>
    </p:spTree>
    <p:extLst>
      <p:ext uri="{BB962C8B-B14F-4D97-AF65-F5344CB8AC3E}">
        <p14:creationId xmlns:p14="http://schemas.microsoft.com/office/powerpoint/2010/main" val="39017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2EEB0-F4F5-8335-3AF8-3D020B8A13A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33EF4CE-D2DF-FDDF-F50A-9B1342936D23}"/>
              </a:ext>
            </a:extLst>
          </p:cNvPr>
          <p:cNvSpPr txBox="1"/>
          <p:nvPr/>
        </p:nvSpPr>
        <p:spPr>
          <a:xfrm>
            <a:off x="1369101" y="0"/>
            <a:ext cx="9758598" cy="584775"/>
          </a:xfrm>
          <a:prstGeom prst="rect">
            <a:avLst/>
          </a:prstGeom>
          <a:noFill/>
        </p:spPr>
        <p:txBody>
          <a:bodyPr wrap="square">
            <a:spAutoFit/>
          </a:bodyPr>
          <a:lstStyle/>
          <a:p>
            <a:pPr algn="ctr"/>
            <a:r>
              <a:rPr lang="en-GB" sz="3200" dirty="0">
                <a:solidFill>
                  <a:srgbClr val="00B0F0"/>
                </a:solidFill>
                <a:effectLst/>
                <a:latin typeface="Times New Roman" panose="02020603050405020304" pitchFamily="18" charset="0"/>
                <a:cs typeface="Times New Roman" panose="02020603050405020304" pitchFamily="18" charset="0"/>
              </a:rPr>
              <a:t>Product Standards</a:t>
            </a:r>
            <a:endParaRPr lang="en-IN" sz="3200" dirty="0">
              <a:solidFill>
                <a:srgbClr val="00B0F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52513BA-0254-2021-2F49-0A7EC6677130}"/>
              </a:ext>
            </a:extLst>
          </p:cNvPr>
          <p:cNvSpPr txBox="1"/>
          <p:nvPr/>
        </p:nvSpPr>
        <p:spPr>
          <a:xfrm>
            <a:off x="-1772" y="584775"/>
            <a:ext cx="12193772" cy="4585871"/>
          </a:xfrm>
          <a:prstGeom prst="rect">
            <a:avLst/>
          </a:prstGeom>
          <a:noFill/>
        </p:spPr>
        <p:txBody>
          <a:bodyPr wrap="square">
            <a:spAutoFit/>
          </a:bodyPr>
          <a:lstStyle/>
          <a:p>
            <a:pPr marL="285750" indent="-285750" algn="just">
              <a:buFont typeface="Wingdings" pitchFamily="2" charset="2"/>
              <a:buChar char="Ø"/>
            </a:pPr>
            <a:r>
              <a:rPr lang="en-GB" b="0" i="0" u="none" strike="noStrike" dirty="0">
                <a:solidFill>
                  <a:srgbClr val="000000"/>
                </a:solidFill>
                <a:effectLst/>
                <a:latin typeface="Times New Roman" panose="02020603050405020304" pitchFamily="18" charset="0"/>
                <a:cs typeface="Times New Roman" panose="02020603050405020304" pitchFamily="18" charset="0"/>
              </a:rPr>
              <a:t>Product standards focus on the </a:t>
            </a:r>
            <a:r>
              <a:rPr lang="en-GB" b="1" i="0" u="none" strike="noStrike" dirty="0">
                <a:solidFill>
                  <a:srgbClr val="000000"/>
                </a:solidFill>
                <a:effectLst/>
                <a:latin typeface="Times New Roman" panose="02020603050405020304" pitchFamily="18" charset="0"/>
                <a:cs typeface="Times New Roman" panose="02020603050405020304" pitchFamily="18" charset="0"/>
              </a:rPr>
              <a:t>features and characteristics</a:t>
            </a:r>
            <a:r>
              <a:rPr lang="en-GB" b="0" i="0" u="none" strike="noStrike" dirty="0">
                <a:solidFill>
                  <a:srgbClr val="000000"/>
                </a:solidFill>
                <a:effectLst/>
                <a:latin typeface="Times New Roman" panose="02020603050405020304" pitchFamily="18" charset="0"/>
                <a:cs typeface="Times New Roman" panose="02020603050405020304" pitchFamily="18" charset="0"/>
              </a:rPr>
              <a:t> of the final software product. </a:t>
            </a:r>
          </a:p>
          <a:p>
            <a:pPr marL="285750" indent="-285750" algn="just">
              <a:buFont typeface="Wingdings" pitchFamily="2" charset="2"/>
              <a:buChar char="Ø"/>
            </a:pPr>
            <a:r>
              <a:rPr lang="en-GB" b="0" i="0" u="none" strike="noStrike" dirty="0">
                <a:solidFill>
                  <a:srgbClr val="000000"/>
                </a:solidFill>
                <a:effectLst/>
                <a:latin typeface="Times New Roman" panose="02020603050405020304" pitchFamily="18" charset="0"/>
                <a:cs typeface="Times New Roman" panose="02020603050405020304" pitchFamily="18" charset="0"/>
              </a:rPr>
              <a:t>They define quality criteria, documentation, and deliverables that the product must meet.</a:t>
            </a:r>
          </a:p>
          <a:p>
            <a:pPr algn="just"/>
            <a:r>
              <a:rPr lang="en-GB" b="1" i="0" u="none" strike="noStrike" dirty="0">
                <a:solidFill>
                  <a:srgbClr val="000000"/>
                </a:solidFill>
                <a:effectLst/>
                <a:latin typeface="Times New Roman" panose="02020603050405020304" pitchFamily="18" charset="0"/>
                <a:cs typeface="Times New Roman" panose="02020603050405020304" pitchFamily="18" charset="0"/>
              </a:rPr>
              <a:t>Examples of Product Standards</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ISO/IEC 25010</a:t>
            </a:r>
            <a:r>
              <a:rPr lang="en-GB" b="0" i="0" u="none" strike="noStrike" dirty="0">
                <a:solidFill>
                  <a:srgbClr val="000000"/>
                </a:solidFill>
                <a:effectLst/>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IEEE 830</a:t>
            </a:r>
            <a:r>
              <a:rPr lang="en-GB" b="0" i="0" u="none" strike="noStrike" dirty="0">
                <a:solidFill>
                  <a:srgbClr val="000000"/>
                </a:solidFill>
                <a:effectLst/>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IEEE 1016</a:t>
            </a:r>
            <a:r>
              <a:rPr lang="en-GB" b="0" i="0" u="none" strike="noStrike" dirty="0">
                <a:solidFill>
                  <a:srgbClr val="000000"/>
                </a:solidFill>
                <a:effectLst/>
                <a:latin typeface="Times New Roman" panose="02020603050405020304" pitchFamily="18" charset="0"/>
                <a:cs typeface="Times New Roman" panose="02020603050405020304" pitchFamily="18" charset="0"/>
              </a:rPr>
              <a:t>: </a:t>
            </a:r>
          </a:p>
          <a:p>
            <a:pPr algn="ctr"/>
            <a:r>
              <a:rPr lang="en-GB" sz="2000" b="1" i="0" u="none" strike="noStrike" dirty="0">
                <a:solidFill>
                  <a:srgbClr val="00B0F0"/>
                </a:solidFill>
                <a:effectLst/>
                <a:latin typeface="Times New Roman" panose="02020603050405020304" pitchFamily="18" charset="0"/>
                <a:cs typeface="Times New Roman" panose="02020603050405020304" pitchFamily="18" charset="0"/>
              </a:rPr>
              <a:t>Components of Product Standards</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Code Quality</a:t>
            </a:r>
            <a:r>
              <a:rPr lang="en-GB" b="0" i="0" u="none" strike="noStrike" dirty="0">
                <a:solidFill>
                  <a:srgbClr val="000000"/>
                </a:solidFill>
                <a:effectLst/>
                <a:latin typeface="Times New Roman" panose="02020603050405020304" pitchFamily="18" charset="0"/>
                <a:cs typeface="Times New Roman" panose="02020603050405020304" pitchFamily="18" charset="0"/>
              </a:rPr>
              <a:t>: Standards for coding style, readability, and maintainability.</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Performance</a:t>
            </a:r>
            <a:r>
              <a:rPr lang="en-GB" b="0" i="0" u="none" strike="noStrike" dirty="0">
                <a:solidFill>
                  <a:srgbClr val="000000"/>
                </a:solidFill>
                <a:effectLst/>
                <a:latin typeface="Times New Roman" panose="02020603050405020304" pitchFamily="18" charset="0"/>
                <a:cs typeface="Times New Roman" panose="02020603050405020304" pitchFamily="18" charset="0"/>
              </a:rPr>
              <a:t>: Metrics for speed, scalability, and efficiency.</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Reliability and Security</a:t>
            </a:r>
            <a:r>
              <a:rPr lang="en-GB" b="0" i="0" u="none" strike="noStrike" dirty="0">
                <a:solidFill>
                  <a:srgbClr val="000000"/>
                </a:solidFill>
                <a:effectLst/>
                <a:latin typeface="Times New Roman" panose="02020603050405020304" pitchFamily="18" charset="0"/>
                <a:cs typeface="Times New Roman" panose="02020603050405020304" pitchFamily="18" charset="0"/>
              </a:rPr>
              <a:t>: Guidelines to minimize defects and vulnerabilities.</a:t>
            </a:r>
          </a:p>
          <a:p>
            <a:pPr algn="just">
              <a:buFont typeface="Arial" panose="020B0604020202020204" pitchFamily="34" charset="0"/>
              <a:buChar char="•"/>
            </a:pPr>
            <a:r>
              <a:rPr lang="en-GB" b="1" i="0" u="none" strike="noStrike" dirty="0">
                <a:solidFill>
                  <a:srgbClr val="000000"/>
                </a:solidFill>
                <a:effectLst/>
                <a:latin typeface="Times New Roman" panose="02020603050405020304" pitchFamily="18" charset="0"/>
                <a:cs typeface="Times New Roman" panose="02020603050405020304" pitchFamily="18" charset="0"/>
              </a:rPr>
              <a:t>User Documentation</a:t>
            </a:r>
            <a:r>
              <a:rPr lang="en-GB" b="0" i="0" u="none" strike="noStrike" dirty="0">
                <a:solidFill>
                  <a:srgbClr val="000000"/>
                </a:solidFill>
                <a:effectLst/>
                <a:latin typeface="Times New Roman" panose="02020603050405020304" pitchFamily="18" charset="0"/>
                <a:cs typeface="Times New Roman" panose="02020603050405020304" pitchFamily="18" charset="0"/>
              </a:rPr>
              <a:t>: Requirements for user manuals and help systems.</a:t>
            </a:r>
          </a:p>
          <a:p>
            <a:pPr algn="just"/>
            <a:endParaRPr lang="en-GB" b="0" i="0" u="none" strike="noStrike" dirty="0">
              <a:solidFill>
                <a:srgbClr val="000000"/>
              </a:solidFill>
              <a:effectLst/>
              <a:latin typeface="Times New Roman" panose="02020603050405020304" pitchFamily="18" charset="0"/>
              <a:cs typeface="Times New Roman" panose="02020603050405020304" pitchFamily="18" charset="0"/>
            </a:endParaRPr>
          </a:p>
          <a:p>
            <a:pPr algn="ctr"/>
            <a:r>
              <a:rPr lang="en-GB" sz="2000" b="1" i="0" u="none" strike="noStrike" dirty="0">
                <a:solidFill>
                  <a:srgbClr val="00B0F0"/>
                </a:solidFill>
                <a:effectLst/>
                <a:latin typeface="Times New Roman" panose="02020603050405020304" pitchFamily="18" charset="0"/>
                <a:cs typeface="Times New Roman" panose="02020603050405020304" pitchFamily="18" charset="0"/>
              </a:rPr>
              <a:t>Benefits of Product Standards</a:t>
            </a:r>
          </a:p>
          <a:p>
            <a:pPr algn="just">
              <a:buFont typeface="Arial" panose="020B0604020202020204" pitchFamily="34" charset="0"/>
              <a:buChar char="•"/>
            </a:pPr>
            <a:r>
              <a:rPr lang="en-GB" b="0" i="0" u="none" strike="noStrike" dirty="0">
                <a:solidFill>
                  <a:srgbClr val="000000"/>
                </a:solidFill>
                <a:effectLst/>
                <a:latin typeface="Times New Roman" panose="02020603050405020304" pitchFamily="18" charset="0"/>
                <a:cs typeface="Times New Roman" panose="02020603050405020304" pitchFamily="18" charset="0"/>
              </a:rPr>
              <a:t>Higher reliability and maintainability of software.</a:t>
            </a:r>
          </a:p>
          <a:p>
            <a:pPr algn="just">
              <a:buFont typeface="Arial" panose="020B0604020202020204" pitchFamily="34" charset="0"/>
              <a:buChar char="•"/>
            </a:pPr>
            <a:r>
              <a:rPr lang="en-GB" b="0" i="0" u="none" strike="noStrike" dirty="0">
                <a:solidFill>
                  <a:srgbClr val="000000"/>
                </a:solidFill>
                <a:effectLst/>
                <a:latin typeface="Times New Roman" panose="02020603050405020304" pitchFamily="18" charset="0"/>
                <a:cs typeface="Times New Roman" panose="02020603050405020304" pitchFamily="18" charset="0"/>
              </a:rPr>
              <a:t>Compliance with industry or regulatory requirements.</a:t>
            </a:r>
          </a:p>
          <a:p>
            <a:pPr algn="just">
              <a:buFont typeface="Arial" panose="020B0604020202020204" pitchFamily="34" charset="0"/>
              <a:buChar char="•"/>
            </a:pPr>
            <a:r>
              <a:rPr lang="en-GB" b="0" i="0" u="none" strike="noStrike" dirty="0">
                <a:solidFill>
                  <a:srgbClr val="000000"/>
                </a:solidFill>
                <a:effectLst/>
                <a:latin typeface="Times New Roman" panose="02020603050405020304" pitchFamily="18" charset="0"/>
                <a:cs typeface="Times New Roman" panose="02020603050405020304" pitchFamily="18" charset="0"/>
              </a:rPr>
              <a:t>Clear benchmarks for product acceptance and quality assurance.</a:t>
            </a:r>
          </a:p>
        </p:txBody>
      </p:sp>
    </p:spTree>
    <p:extLst>
      <p:ext uri="{BB962C8B-B14F-4D97-AF65-F5344CB8AC3E}">
        <p14:creationId xmlns:p14="http://schemas.microsoft.com/office/powerpoint/2010/main" val="3650980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B5005-946A-BA92-B9B6-3C77065E95C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3A44F8A-30FA-D47F-4B22-51926C048305}"/>
              </a:ext>
            </a:extLst>
          </p:cNvPr>
          <p:cNvSpPr txBox="1"/>
          <p:nvPr/>
        </p:nvSpPr>
        <p:spPr>
          <a:xfrm>
            <a:off x="1369101" y="0"/>
            <a:ext cx="9758598" cy="584775"/>
          </a:xfrm>
          <a:prstGeom prst="rect">
            <a:avLst/>
          </a:prstGeom>
          <a:noFill/>
        </p:spPr>
        <p:txBody>
          <a:bodyPr wrap="square">
            <a:spAutoFit/>
          </a:bodyPr>
          <a:lstStyle/>
          <a:p>
            <a:pPr algn="ctr"/>
            <a:r>
              <a:rPr lang="en-GB" sz="3200" b="1" dirty="0">
                <a:solidFill>
                  <a:srgbClr val="00B0F0"/>
                </a:solidFill>
                <a:effectLst/>
                <a:latin typeface="Times New Roman" panose="02020603050405020304" pitchFamily="18" charset="0"/>
                <a:cs typeface="Times New Roman" panose="02020603050405020304" pitchFamily="18" charset="0"/>
              </a:rPr>
              <a:t>Software Reviews and Inspections</a:t>
            </a:r>
            <a:endParaRPr lang="en-IN" sz="3200" b="1" dirty="0">
              <a:solidFill>
                <a:srgbClr val="00B0F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8BCC48E-DC10-7910-635D-DE60EBDBF94D}"/>
              </a:ext>
            </a:extLst>
          </p:cNvPr>
          <p:cNvSpPr txBox="1"/>
          <p:nvPr/>
        </p:nvSpPr>
        <p:spPr>
          <a:xfrm>
            <a:off x="0" y="733946"/>
            <a:ext cx="12192000" cy="646331"/>
          </a:xfrm>
          <a:prstGeom prst="rect">
            <a:avLst/>
          </a:prstGeom>
          <a:noFill/>
        </p:spPr>
        <p:txBody>
          <a:bodyPr wrap="square">
            <a:spAutoFit/>
          </a:bodyPr>
          <a:lstStyle/>
          <a:p>
            <a:pPr marL="285750" indent="-285750">
              <a:buFont typeface="Wingdings" pitchFamily="2" charset="2"/>
              <a:buChar char="Ø"/>
            </a:pPr>
            <a:r>
              <a:rPr lang="en-GB" dirty="0">
                <a:latin typeface="Times New Roman" panose="02020603050405020304" pitchFamily="18" charset="0"/>
                <a:cs typeface="Times New Roman" panose="02020603050405020304" pitchFamily="18" charset="0"/>
              </a:rPr>
              <a:t>Software Review is a systematic inspection of software by one or more individuals who work together to find and resolve errors and defects in the software during the early stages of the Software Development Life Cycle (SDLC).</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46F8672-6961-F362-ACD0-DA1CF3C88985}"/>
              </a:ext>
            </a:extLst>
          </p:cNvPr>
          <p:cNvSpPr txBox="1"/>
          <p:nvPr/>
        </p:nvSpPr>
        <p:spPr>
          <a:xfrm>
            <a:off x="76200" y="1697092"/>
            <a:ext cx="12115800" cy="2200602"/>
          </a:xfrm>
          <a:prstGeom prst="rect">
            <a:avLst/>
          </a:prstGeom>
          <a:noFill/>
        </p:spPr>
        <p:txBody>
          <a:bodyPr wrap="square">
            <a:spAutoFit/>
          </a:bodyPr>
          <a:lstStyle/>
          <a:p>
            <a:pPr algn="l" fontAlgn="base"/>
            <a:r>
              <a:rPr lang="en-GB" sz="2000" b="1" u="sng" dirty="0">
                <a:latin typeface="Times New Roman" panose="02020603050405020304" pitchFamily="18" charset="0"/>
                <a:cs typeface="Times New Roman" panose="02020603050405020304" pitchFamily="18" charset="0"/>
              </a:rPr>
              <a:t>Objectives of Software Review</a:t>
            </a:r>
          </a:p>
          <a:p>
            <a:pPr algn="l" fontAlgn="base">
              <a:spcAft>
                <a:spcPts val="1800"/>
              </a:spcAft>
              <a:buFont typeface="+mj-lt"/>
              <a:buAutoNum type="arabicPeriod"/>
            </a:pPr>
            <a:r>
              <a:rPr lang="en-GB" dirty="0">
                <a:latin typeface="Times New Roman" panose="02020603050405020304" pitchFamily="18" charset="0"/>
                <a:cs typeface="Times New Roman" panose="02020603050405020304" pitchFamily="18" charset="0"/>
              </a:rPr>
              <a:t>To improve the productivity of the development team. </a:t>
            </a:r>
          </a:p>
          <a:p>
            <a:pPr algn="l" fontAlgn="base">
              <a:spcAft>
                <a:spcPts val="1800"/>
              </a:spcAft>
              <a:buFont typeface="+mj-lt"/>
              <a:buAutoNum type="arabicPeriod" startAt="2"/>
            </a:pPr>
            <a:r>
              <a:rPr lang="en-GB" dirty="0">
                <a:latin typeface="Times New Roman" panose="02020603050405020304" pitchFamily="18" charset="0"/>
                <a:cs typeface="Times New Roman" panose="02020603050405020304" pitchFamily="18" charset="0"/>
              </a:rPr>
              <a:t>To make the testing process time and cost-effective. </a:t>
            </a:r>
          </a:p>
          <a:p>
            <a:pPr algn="l" fontAlgn="base">
              <a:spcAft>
                <a:spcPts val="1800"/>
              </a:spcAft>
              <a:buFont typeface="+mj-lt"/>
              <a:buAutoNum type="arabicPeriod" startAt="3"/>
            </a:pPr>
            <a:r>
              <a:rPr lang="en-GB" dirty="0">
                <a:latin typeface="Times New Roman" panose="02020603050405020304" pitchFamily="18" charset="0"/>
                <a:cs typeface="Times New Roman" panose="02020603050405020304" pitchFamily="18" charset="0"/>
              </a:rPr>
              <a:t>To make the final software with fewer defects. </a:t>
            </a:r>
          </a:p>
          <a:p>
            <a:pPr algn="l" fontAlgn="base">
              <a:spcAft>
                <a:spcPts val="1800"/>
              </a:spcAft>
              <a:buFont typeface="+mj-lt"/>
              <a:buAutoNum type="arabicPeriod" startAt="4"/>
            </a:pPr>
            <a:r>
              <a:rPr lang="en-GB" dirty="0">
                <a:latin typeface="Times New Roman" panose="02020603050405020304" pitchFamily="18" charset="0"/>
                <a:cs typeface="Times New Roman" panose="02020603050405020304" pitchFamily="18" charset="0"/>
              </a:rPr>
              <a:t>To eliminate the inadequacies. </a:t>
            </a:r>
          </a:p>
        </p:txBody>
      </p:sp>
    </p:spTree>
    <p:extLst>
      <p:ext uri="{BB962C8B-B14F-4D97-AF65-F5344CB8AC3E}">
        <p14:creationId xmlns:p14="http://schemas.microsoft.com/office/powerpoint/2010/main" val="3644274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40547-D260-7F77-0EB9-8F80B6ED67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46E8418-B6B1-6A70-7CC9-26D3736F4E07}"/>
              </a:ext>
            </a:extLst>
          </p:cNvPr>
          <p:cNvSpPr txBox="1"/>
          <p:nvPr/>
        </p:nvSpPr>
        <p:spPr>
          <a:xfrm>
            <a:off x="1369101" y="0"/>
            <a:ext cx="9758598" cy="584775"/>
          </a:xfrm>
          <a:prstGeom prst="rect">
            <a:avLst/>
          </a:prstGeom>
          <a:noFill/>
        </p:spPr>
        <p:txBody>
          <a:bodyPr wrap="square">
            <a:spAutoFit/>
          </a:bodyPr>
          <a:lstStyle/>
          <a:p>
            <a:pPr algn="ctr"/>
            <a:r>
              <a:rPr lang="en-GB" sz="3200" b="1" dirty="0">
                <a:solidFill>
                  <a:srgbClr val="00B0F0"/>
                </a:solidFill>
                <a:effectLst/>
                <a:latin typeface="Times New Roman" panose="02020603050405020304" pitchFamily="18" charset="0"/>
                <a:cs typeface="Times New Roman" panose="02020603050405020304" pitchFamily="18" charset="0"/>
              </a:rPr>
              <a:t>Process of Software Reviews</a:t>
            </a:r>
            <a:endParaRPr lang="en-IN" sz="3200" b="1" dirty="0">
              <a:solidFill>
                <a:srgbClr val="00B0F0"/>
              </a:solidFill>
              <a:latin typeface="Times New Roman" panose="02020603050405020304" pitchFamily="18" charset="0"/>
              <a:cs typeface="Times New Roman" panose="02020603050405020304" pitchFamily="18" charset="0"/>
            </a:endParaRPr>
          </a:p>
        </p:txBody>
      </p:sp>
      <p:pic>
        <p:nvPicPr>
          <p:cNvPr id="2" name="Picture 2" descr="process-software-review">
            <a:extLst>
              <a:ext uri="{FF2B5EF4-FFF2-40B4-BE49-F238E27FC236}">
                <a16:creationId xmlns:a16="http://schemas.microsoft.com/office/drawing/2014/main" id="{0BD8E3FF-0638-305A-1F09-C577C37DD0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2225" y="786808"/>
            <a:ext cx="7065963" cy="5337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003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62F85-F9FA-05BB-CE20-DF30AF56B54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F9D4388-EBC0-DCA7-653D-0E80F4C0D2E8}"/>
              </a:ext>
            </a:extLst>
          </p:cNvPr>
          <p:cNvSpPr txBox="1"/>
          <p:nvPr/>
        </p:nvSpPr>
        <p:spPr>
          <a:xfrm>
            <a:off x="1369101" y="0"/>
            <a:ext cx="9758598" cy="584775"/>
          </a:xfrm>
          <a:prstGeom prst="rect">
            <a:avLst/>
          </a:prstGeom>
          <a:noFill/>
        </p:spPr>
        <p:txBody>
          <a:bodyPr wrap="square">
            <a:spAutoFit/>
          </a:bodyPr>
          <a:lstStyle/>
          <a:p>
            <a:pPr algn="ctr"/>
            <a:r>
              <a:rPr lang="en-GB" sz="3200" b="1" dirty="0">
                <a:solidFill>
                  <a:srgbClr val="00B0F0"/>
                </a:solidFill>
                <a:effectLst/>
                <a:latin typeface="Times New Roman" panose="02020603050405020304" pitchFamily="18" charset="0"/>
                <a:cs typeface="Times New Roman" panose="02020603050405020304" pitchFamily="18" charset="0"/>
              </a:rPr>
              <a:t>Software Reviews</a:t>
            </a:r>
            <a:endParaRPr lang="en-IN" sz="3200" b="1" dirty="0">
              <a:solidFill>
                <a:srgbClr val="00B0F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F2B8AC-2EB9-1560-E1B5-5DFE5D4D560F}"/>
              </a:ext>
            </a:extLst>
          </p:cNvPr>
          <p:cNvSpPr txBox="1"/>
          <p:nvPr/>
        </p:nvSpPr>
        <p:spPr>
          <a:xfrm>
            <a:off x="-3544" y="380519"/>
            <a:ext cx="6097772" cy="369332"/>
          </a:xfrm>
          <a:prstGeom prst="rect">
            <a:avLst/>
          </a:prstGeom>
          <a:noFill/>
        </p:spPr>
        <p:txBody>
          <a:bodyPr wrap="square">
            <a:spAutoFit/>
          </a:bodyPr>
          <a:lstStyle/>
          <a:p>
            <a:pPr algn="l" fontAlgn="base"/>
            <a:r>
              <a:rPr lang="en-GB" b="1" dirty="0">
                <a:latin typeface="Times New Roman" panose="02020603050405020304" pitchFamily="18" charset="0"/>
                <a:cs typeface="Times New Roman" panose="02020603050405020304" pitchFamily="18" charset="0"/>
              </a:rPr>
              <a:t>Types of Software Reviews</a:t>
            </a:r>
          </a:p>
        </p:txBody>
      </p:sp>
      <p:sp>
        <p:nvSpPr>
          <p:cNvPr id="6" name="TextBox 5">
            <a:extLst>
              <a:ext uri="{FF2B5EF4-FFF2-40B4-BE49-F238E27FC236}">
                <a16:creationId xmlns:a16="http://schemas.microsoft.com/office/drawing/2014/main" id="{EC88A1A1-23D9-7478-473B-E5A7A297E765}"/>
              </a:ext>
            </a:extLst>
          </p:cNvPr>
          <p:cNvSpPr txBox="1"/>
          <p:nvPr/>
        </p:nvSpPr>
        <p:spPr>
          <a:xfrm>
            <a:off x="150628" y="1075729"/>
            <a:ext cx="12041372" cy="1154162"/>
          </a:xfrm>
          <a:prstGeom prst="rect">
            <a:avLst/>
          </a:prstGeom>
          <a:noFill/>
        </p:spPr>
        <p:txBody>
          <a:bodyPr wrap="square">
            <a:spAutoFit/>
          </a:bodyPr>
          <a:lstStyle/>
          <a:p>
            <a:pPr algn="l" fontAlgn="base">
              <a:spcBef>
                <a:spcPts val="1800"/>
              </a:spcBef>
              <a:spcAft>
                <a:spcPts val="1800"/>
              </a:spcAft>
            </a:pPr>
            <a:r>
              <a:rPr lang="en-GB" dirty="0">
                <a:latin typeface="Times New Roman" panose="02020603050405020304" pitchFamily="18" charset="0"/>
                <a:cs typeface="Times New Roman" panose="02020603050405020304" pitchFamily="18" charset="0"/>
              </a:rPr>
              <a:t>1. </a:t>
            </a:r>
            <a:r>
              <a:rPr lang="en-GB" b="1" dirty="0">
                <a:latin typeface="Times New Roman" panose="02020603050405020304" pitchFamily="18" charset="0"/>
                <a:cs typeface="Times New Roman" panose="02020603050405020304" pitchFamily="18" charset="0"/>
              </a:rPr>
              <a:t>Software Peer Review</a:t>
            </a:r>
          </a:p>
          <a:p>
            <a:pPr marL="285750" indent="-285750" algn="l" rtl="0" fontAlgn="base">
              <a:spcAft>
                <a:spcPts val="750"/>
              </a:spcAft>
              <a:buFont typeface="Wingdings" pitchFamily="2" charset="2"/>
              <a:buChar char="Ø"/>
            </a:pPr>
            <a:r>
              <a:rPr lang="en-GB" dirty="0">
                <a:latin typeface="Times New Roman" panose="02020603050405020304" pitchFamily="18" charset="0"/>
                <a:cs typeface="Times New Roman" panose="02020603050405020304" pitchFamily="18" charset="0"/>
              </a:rPr>
              <a:t>Peer review is the process of assessing the technical content and quality of the product and it is usually conducted by the author of the work product along with some other developers. </a:t>
            </a:r>
          </a:p>
        </p:txBody>
      </p:sp>
      <p:sp>
        <p:nvSpPr>
          <p:cNvPr id="9" name="TextBox 8">
            <a:extLst>
              <a:ext uri="{FF2B5EF4-FFF2-40B4-BE49-F238E27FC236}">
                <a16:creationId xmlns:a16="http://schemas.microsoft.com/office/drawing/2014/main" id="{496613F9-3A44-94F1-08EB-D68876990DC8}"/>
              </a:ext>
            </a:extLst>
          </p:cNvPr>
          <p:cNvSpPr txBox="1"/>
          <p:nvPr/>
        </p:nvSpPr>
        <p:spPr>
          <a:xfrm>
            <a:off x="150628" y="2268489"/>
            <a:ext cx="12041372" cy="2780248"/>
          </a:xfrm>
          <a:prstGeom prst="rect">
            <a:avLst/>
          </a:prstGeom>
          <a:noFill/>
        </p:spPr>
        <p:txBody>
          <a:bodyPr wrap="square">
            <a:spAutoFit/>
          </a:bodyPr>
          <a:lstStyle/>
          <a:p>
            <a:pPr algn="l" rtl="0" fontAlgn="base">
              <a:spcAft>
                <a:spcPts val="750"/>
              </a:spcAft>
            </a:pPr>
            <a:r>
              <a:rPr lang="en-GB" b="1" dirty="0">
                <a:latin typeface="Times New Roman" panose="02020603050405020304" pitchFamily="18" charset="0"/>
                <a:cs typeface="Times New Roman" panose="02020603050405020304" pitchFamily="18" charset="0"/>
              </a:rPr>
              <a:t>Peer Review has following types: </a:t>
            </a:r>
          </a:p>
          <a:p>
            <a:pPr algn="l"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Code Review: </a:t>
            </a:r>
            <a:r>
              <a:rPr lang="en-GB" dirty="0">
                <a:latin typeface="Times New Roman" panose="02020603050405020304" pitchFamily="18" charset="0"/>
                <a:cs typeface="Times New Roman" panose="02020603050405020304" pitchFamily="18" charset="0"/>
              </a:rPr>
              <a:t>Computer source code is examined in a systematic way. </a:t>
            </a:r>
          </a:p>
          <a:p>
            <a:pPr algn="l" fontAlgn="base">
              <a:spcAft>
                <a:spcPts val="1800"/>
              </a:spcAft>
              <a:buFont typeface="+mj-lt"/>
              <a:buAutoNum type="arabicPeriod" startAt="2"/>
            </a:pPr>
            <a:r>
              <a:rPr lang="en-GB" b="1" dirty="0">
                <a:latin typeface="Times New Roman" panose="02020603050405020304" pitchFamily="18" charset="0"/>
                <a:cs typeface="Times New Roman" panose="02020603050405020304" pitchFamily="18" charset="0"/>
              </a:rPr>
              <a:t>Pair Programming: </a:t>
            </a:r>
            <a:r>
              <a:rPr lang="en-GB" dirty="0">
                <a:latin typeface="Times New Roman" panose="02020603050405020304" pitchFamily="18" charset="0"/>
                <a:cs typeface="Times New Roman" panose="02020603050405020304" pitchFamily="18" charset="0"/>
              </a:rPr>
              <a:t>It is a code review where two developers develop code together at the same platform. </a:t>
            </a:r>
          </a:p>
          <a:p>
            <a:pPr algn="l" fontAlgn="base">
              <a:spcAft>
                <a:spcPts val="1800"/>
              </a:spcAft>
              <a:buFont typeface="+mj-lt"/>
              <a:buAutoNum type="arabicPeriod" startAt="3"/>
            </a:pPr>
            <a:r>
              <a:rPr lang="en-GB" b="1" dirty="0">
                <a:latin typeface="Times New Roman" panose="02020603050405020304" pitchFamily="18" charset="0"/>
                <a:cs typeface="Times New Roman" panose="02020603050405020304" pitchFamily="18" charset="0"/>
              </a:rPr>
              <a:t>Walkthrough: </a:t>
            </a:r>
          </a:p>
          <a:p>
            <a:pPr algn="l" fontAlgn="base">
              <a:spcAft>
                <a:spcPts val="1800"/>
              </a:spcAft>
              <a:buFont typeface="+mj-lt"/>
              <a:buAutoNum type="arabicPeriod" startAt="3"/>
            </a:pPr>
            <a:r>
              <a:rPr lang="en-GB" b="1" dirty="0">
                <a:latin typeface="Times New Roman" panose="02020603050405020304" pitchFamily="18" charset="0"/>
                <a:cs typeface="Times New Roman" panose="02020603050405020304" pitchFamily="18" charset="0"/>
              </a:rPr>
              <a:t>Technical Review: </a:t>
            </a:r>
          </a:p>
          <a:p>
            <a:pPr algn="l" fontAlgn="base">
              <a:spcAft>
                <a:spcPts val="1800"/>
              </a:spcAft>
              <a:buFont typeface="+mj-lt"/>
              <a:buAutoNum type="arabicPeriod" startAt="3"/>
            </a:pPr>
            <a:r>
              <a:rPr lang="en-GB" b="1" dirty="0">
                <a:latin typeface="Times New Roman" panose="02020603050405020304" pitchFamily="18" charset="0"/>
                <a:cs typeface="Times New Roman" panose="02020603050405020304" pitchFamily="18" charset="0"/>
              </a:rPr>
              <a:t>Inspection: </a:t>
            </a:r>
            <a:r>
              <a:rPr lang="en-GB" dirty="0">
                <a:latin typeface="Times New Roman" panose="02020603050405020304" pitchFamily="18" charset="0"/>
                <a:cs typeface="Times New Roman" panose="02020603050405020304" pitchFamily="18" charset="0"/>
              </a:rPr>
              <a:t>In inspection the reviewers follow a well-defined process to find defects. </a:t>
            </a:r>
          </a:p>
        </p:txBody>
      </p:sp>
    </p:spTree>
    <p:extLst>
      <p:ext uri="{BB962C8B-B14F-4D97-AF65-F5344CB8AC3E}">
        <p14:creationId xmlns:p14="http://schemas.microsoft.com/office/powerpoint/2010/main" val="1937276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22EE3-4144-2EE6-9118-E0F53B08837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97129BE-1C37-7DA6-C26B-BD74C29B71DA}"/>
              </a:ext>
            </a:extLst>
          </p:cNvPr>
          <p:cNvSpPr txBox="1"/>
          <p:nvPr/>
        </p:nvSpPr>
        <p:spPr>
          <a:xfrm>
            <a:off x="1369101" y="0"/>
            <a:ext cx="9758598" cy="584775"/>
          </a:xfrm>
          <a:prstGeom prst="rect">
            <a:avLst/>
          </a:prstGeom>
          <a:noFill/>
        </p:spPr>
        <p:txBody>
          <a:bodyPr wrap="square">
            <a:spAutoFit/>
          </a:bodyPr>
          <a:lstStyle/>
          <a:p>
            <a:pPr algn="ctr"/>
            <a:r>
              <a:rPr lang="en-GB" sz="3200" b="1" dirty="0">
                <a:solidFill>
                  <a:srgbClr val="00B0F0"/>
                </a:solidFill>
                <a:effectLst/>
                <a:latin typeface="Times New Roman" panose="02020603050405020304" pitchFamily="18" charset="0"/>
                <a:cs typeface="Times New Roman" panose="02020603050405020304" pitchFamily="18" charset="0"/>
              </a:rPr>
              <a:t>Software Reviews</a:t>
            </a:r>
            <a:endParaRPr lang="en-IN" sz="3200" b="1" dirty="0">
              <a:solidFill>
                <a:srgbClr val="00B0F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4E68871-6EDA-82FA-5494-F5F6850CE2C6}"/>
              </a:ext>
            </a:extLst>
          </p:cNvPr>
          <p:cNvSpPr txBox="1"/>
          <p:nvPr/>
        </p:nvSpPr>
        <p:spPr>
          <a:xfrm>
            <a:off x="-3544" y="380519"/>
            <a:ext cx="6097772" cy="369332"/>
          </a:xfrm>
          <a:prstGeom prst="rect">
            <a:avLst/>
          </a:prstGeom>
          <a:noFill/>
        </p:spPr>
        <p:txBody>
          <a:bodyPr wrap="square">
            <a:spAutoFit/>
          </a:bodyPr>
          <a:lstStyle/>
          <a:p>
            <a:pPr algn="l" fontAlgn="base"/>
            <a:r>
              <a:rPr lang="en-GB" b="1" dirty="0">
                <a:latin typeface="Times New Roman" panose="02020603050405020304" pitchFamily="18" charset="0"/>
                <a:cs typeface="Times New Roman" panose="02020603050405020304" pitchFamily="18" charset="0"/>
              </a:rPr>
              <a:t>Types of Software Reviews</a:t>
            </a:r>
          </a:p>
        </p:txBody>
      </p:sp>
      <p:sp>
        <p:nvSpPr>
          <p:cNvPr id="3" name="TextBox 2">
            <a:extLst>
              <a:ext uri="{FF2B5EF4-FFF2-40B4-BE49-F238E27FC236}">
                <a16:creationId xmlns:a16="http://schemas.microsoft.com/office/drawing/2014/main" id="{7E6AB7A9-33F0-3884-C495-045DD5FFDA6F}"/>
              </a:ext>
            </a:extLst>
          </p:cNvPr>
          <p:cNvSpPr txBox="1"/>
          <p:nvPr/>
        </p:nvSpPr>
        <p:spPr>
          <a:xfrm>
            <a:off x="0" y="965294"/>
            <a:ext cx="12192000" cy="1256754"/>
          </a:xfrm>
          <a:prstGeom prst="rect">
            <a:avLst/>
          </a:prstGeom>
          <a:noFill/>
        </p:spPr>
        <p:txBody>
          <a:bodyPr wrap="square">
            <a:spAutoFit/>
          </a:bodyPr>
          <a:lstStyle/>
          <a:p>
            <a:pPr algn="l" fontAlgn="base">
              <a:spcBef>
                <a:spcPts val="1800"/>
              </a:spcBef>
              <a:spcAft>
                <a:spcPts val="1800"/>
              </a:spcAft>
            </a:pPr>
            <a:r>
              <a:rPr lang="en-GB" dirty="0">
                <a:latin typeface="Times New Roman" panose="02020603050405020304" pitchFamily="18" charset="0"/>
                <a:cs typeface="Times New Roman" panose="02020603050405020304" pitchFamily="18" charset="0"/>
              </a:rPr>
              <a:t>2. </a:t>
            </a:r>
            <a:r>
              <a:rPr lang="en-GB" b="1" dirty="0">
                <a:latin typeface="Times New Roman" panose="02020603050405020304" pitchFamily="18" charset="0"/>
                <a:cs typeface="Times New Roman" panose="02020603050405020304" pitchFamily="18" charset="0"/>
              </a:rPr>
              <a:t>Software Management Review</a:t>
            </a:r>
          </a:p>
          <a:p>
            <a:pPr marL="285750" indent="-285750" algn="l" rtl="0" fontAlgn="base">
              <a:spcAft>
                <a:spcPts val="750"/>
              </a:spcAft>
              <a:buFont typeface="Wingdings" pitchFamily="2" charset="2"/>
              <a:buChar char="Ø"/>
            </a:pPr>
            <a:r>
              <a:rPr lang="en-GB" dirty="0">
                <a:latin typeface="Times New Roman" panose="02020603050405020304" pitchFamily="18" charset="0"/>
                <a:cs typeface="Times New Roman" panose="02020603050405020304" pitchFamily="18" charset="0"/>
              </a:rPr>
              <a:t>Software Management Review evaluates the work status. </a:t>
            </a:r>
          </a:p>
          <a:p>
            <a:pPr marL="285750" indent="-285750" algn="l" rtl="0" fontAlgn="base">
              <a:spcAft>
                <a:spcPts val="750"/>
              </a:spcAft>
              <a:buFont typeface="Wingdings" pitchFamily="2" charset="2"/>
              <a:buChar char="Ø"/>
            </a:pPr>
            <a:r>
              <a:rPr lang="en-GB" dirty="0">
                <a:latin typeface="Times New Roman" panose="02020603050405020304" pitchFamily="18" charset="0"/>
                <a:cs typeface="Times New Roman" panose="02020603050405020304" pitchFamily="18" charset="0"/>
              </a:rPr>
              <a:t>In this section decisions regarding downstream activities are taken. </a:t>
            </a:r>
          </a:p>
        </p:txBody>
      </p:sp>
      <p:sp>
        <p:nvSpPr>
          <p:cNvPr id="8" name="TextBox 7">
            <a:extLst>
              <a:ext uri="{FF2B5EF4-FFF2-40B4-BE49-F238E27FC236}">
                <a16:creationId xmlns:a16="http://schemas.microsoft.com/office/drawing/2014/main" id="{C928A9C5-C388-17E9-8FF4-67E6D5CD8188}"/>
              </a:ext>
            </a:extLst>
          </p:cNvPr>
          <p:cNvSpPr txBox="1"/>
          <p:nvPr/>
        </p:nvSpPr>
        <p:spPr>
          <a:xfrm>
            <a:off x="-3544" y="2602567"/>
            <a:ext cx="12110484" cy="1810752"/>
          </a:xfrm>
          <a:prstGeom prst="rect">
            <a:avLst/>
          </a:prstGeom>
          <a:noFill/>
        </p:spPr>
        <p:txBody>
          <a:bodyPr wrap="square">
            <a:spAutoFit/>
          </a:bodyPr>
          <a:lstStyle/>
          <a:p>
            <a:pPr algn="just" fontAlgn="base">
              <a:spcBef>
                <a:spcPts val="1800"/>
              </a:spcBef>
              <a:spcAft>
                <a:spcPts val="1800"/>
              </a:spcAft>
            </a:pPr>
            <a:r>
              <a:rPr lang="en-GB" b="1" dirty="0">
                <a:latin typeface="Times New Roman" panose="02020603050405020304" pitchFamily="18" charset="0"/>
                <a:cs typeface="Times New Roman" panose="02020603050405020304" pitchFamily="18" charset="0"/>
              </a:rPr>
              <a:t>3. Software Audit Review</a:t>
            </a:r>
          </a:p>
          <a:p>
            <a:pPr marL="285750" indent="-285750" algn="just" rtl="0" fontAlgn="base">
              <a:spcAft>
                <a:spcPts val="750"/>
              </a:spcAft>
              <a:buFont typeface="Wingdings" pitchFamily="2" charset="2"/>
              <a:buChar char="Ø"/>
            </a:pPr>
            <a:r>
              <a:rPr lang="en-GB" dirty="0">
                <a:latin typeface="Times New Roman" panose="02020603050405020304" pitchFamily="18" charset="0"/>
                <a:cs typeface="Times New Roman" panose="02020603050405020304" pitchFamily="18" charset="0"/>
              </a:rPr>
              <a:t>Software Audit Review is a type of external review in which one or more critics, who are not a part of the development team, organize an independent inspection of the software product and its processes to assess their compliance with stated specifications and standards. </a:t>
            </a:r>
          </a:p>
          <a:p>
            <a:pPr marL="285750" indent="-285750" algn="just" rtl="0" fontAlgn="base">
              <a:spcAft>
                <a:spcPts val="750"/>
              </a:spcAft>
              <a:buFont typeface="Wingdings" pitchFamily="2" charset="2"/>
              <a:buChar char="Ø"/>
            </a:pPr>
            <a:r>
              <a:rPr lang="en-GB" dirty="0">
                <a:latin typeface="Times New Roman" panose="02020603050405020304" pitchFamily="18" charset="0"/>
                <a:cs typeface="Times New Roman" panose="02020603050405020304" pitchFamily="18" charset="0"/>
              </a:rPr>
              <a:t>This is done by managerial level people.</a:t>
            </a:r>
          </a:p>
        </p:txBody>
      </p:sp>
    </p:spTree>
    <p:extLst>
      <p:ext uri="{BB962C8B-B14F-4D97-AF65-F5344CB8AC3E}">
        <p14:creationId xmlns:p14="http://schemas.microsoft.com/office/powerpoint/2010/main" val="289129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7054F-B92A-933E-37AB-FDC4F8B2EA2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73D7E8E-EBF7-677B-3CA7-907475EB1478}"/>
              </a:ext>
            </a:extLst>
          </p:cNvPr>
          <p:cNvSpPr txBox="1"/>
          <p:nvPr/>
        </p:nvSpPr>
        <p:spPr>
          <a:xfrm>
            <a:off x="1369101" y="0"/>
            <a:ext cx="9758598" cy="584775"/>
          </a:xfrm>
          <a:prstGeom prst="rect">
            <a:avLst/>
          </a:prstGeom>
          <a:noFill/>
        </p:spPr>
        <p:txBody>
          <a:bodyPr wrap="square">
            <a:spAutoFit/>
          </a:bodyPr>
          <a:lstStyle/>
          <a:p>
            <a:pPr algn="ctr"/>
            <a:r>
              <a:rPr lang="en-GB" sz="3200" b="1" dirty="0">
                <a:solidFill>
                  <a:srgbClr val="00B0F0"/>
                </a:solidFill>
                <a:effectLst/>
                <a:latin typeface="Times New Roman" panose="02020603050405020304" pitchFamily="18" charset="0"/>
                <a:cs typeface="Times New Roman" panose="02020603050405020304" pitchFamily="18" charset="0"/>
              </a:rPr>
              <a:t>Software Reviews</a:t>
            </a:r>
            <a:endParaRPr lang="en-IN" sz="3200" b="1" dirty="0">
              <a:solidFill>
                <a:srgbClr val="00B0F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18A0D3E-4480-E430-1B71-82A1695EC1E8}"/>
              </a:ext>
            </a:extLst>
          </p:cNvPr>
          <p:cNvSpPr txBox="1"/>
          <p:nvPr/>
        </p:nvSpPr>
        <p:spPr>
          <a:xfrm>
            <a:off x="-1773" y="1099251"/>
            <a:ext cx="10878879" cy="2169825"/>
          </a:xfrm>
          <a:prstGeom prst="rect">
            <a:avLst/>
          </a:prstGeom>
          <a:noFill/>
        </p:spPr>
        <p:txBody>
          <a:bodyPr wrap="square">
            <a:spAutoFit/>
          </a:bodyPr>
          <a:lstStyle/>
          <a:p>
            <a:pPr algn="ctr" fontAlgn="base"/>
            <a:r>
              <a:rPr lang="en-GB" b="1" dirty="0">
                <a:latin typeface="Times New Roman" panose="02020603050405020304" pitchFamily="18" charset="0"/>
                <a:cs typeface="Times New Roman" panose="02020603050405020304" pitchFamily="18" charset="0"/>
              </a:rPr>
              <a:t>Advantages of Software Review</a:t>
            </a:r>
          </a:p>
          <a:p>
            <a:pPr algn="just" fontAlgn="base">
              <a:spcAft>
                <a:spcPts val="1800"/>
              </a:spcAft>
              <a:buFont typeface="+mj-lt"/>
              <a:buAutoNum type="arabicPeriod"/>
            </a:pPr>
            <a:r>
              <a:rPr lang="en-GB" dirty="0">
                <a:latin typeface="Times New Roman" panose="02020603050405020304" pitchFamily="18" charset="0"/>
                <a:cs typeface="Times New Roman" panose="02020603050405020304" pitchFamily="18" charset="0"/>
              </a:rPr>
              <a:t>Defects can be identified earlier stage of development (especially in formal review). </a:t>
            </a:r>
          </a:p>
          <a:p>
            <a:pPr algn="just" fontAlgn="base">
              <a:spcAft>
                <a:spcPts val="1800"/>
              </a:spcAft>
              <a:buFont typeface="+mj-lt"/>
              <a:buAutoNum type="arabicPeriod" startAt="2"/>
            </a:pPr>
            <a:r>
              <a:rPr lang="en-GB" dirty="0">
                <a:latin typeface="Times New Roman" panose="02020603050405020304" pitchFamily="18" charset="0"/>
                <a:cs typeface="Times New Roman" panose="02020603050405020304" pitchFamily="18" charset="0"/>
              </a:rPr>
              <a:t>Earlier inspection also reduces the maintenance cost of software. </a:t>
            </a:r>
          </a:p>
          <a:p>
            <a:pPr algn="just" fontAlgn="base">
              <a:spcAft>
                <a:spcPts val="1800"/>
              </a:spcAft>
              <a:buFont typeface="+mj-lt"/>
              <a:buAutoNum type="arabicPeriod" startAt="3"/>
            </a:pPr>
            <a:r>
              <a:rPr lang="en-GB" dirty="0">
                <a:latin typeface="Times New Roman" panose="02020603050405020304" pitchFamily="18" charset="0"/>
                <a:cs typeface="Times New Roman" panose="02020603050405020304" pitchFamily="18" charset="0"/>
              </a:rPr>
              <a:t>It can be used to train technical authors. </a:t>
            </a:r>
          </a:p>
          <a:p>
            <a:pPr algn="just" fontAlgn="base">
              <a:spcAft>
                <a:spcPts val="1800"/>
              </a:spcAft>
              <a:buFont typeface="+mj-lt"/>
              <a:buAutoNum type="arabicPeriod" startAt="4"/>
            </a:pPr>
            <a:r>
              <a:rPr lang="en-GB" dirty="0">
                <a:latin typeface="Times New Roman" panose="02020603050405020304" pitchFamily="18" charset="0"/>
                <a:cs typeface="Times New Roman" panose="02020603050405020304" pitchFamily="18" charset="0"/>
              </a:rPr>
              <a:t>It can be used to remove process inadequacies that encourage defects. </a:t>
            </a:r>
          </a:p>
        </p:txBody>
      </p:sp>
    </p:spTree>
    <p:extLst>
      <p:ext uri="{BB962C8B-B14F-4D97-AF65-F5344CB8AC3E}">
        <p14:creationId xmlns:p14="http://schemas.microsoft.com/office/powerpoint/2010/main" val="7234464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C301C-1153-6555-D7FD-3FE2E08AF35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809387D-C7FE-425B-100A-62DCB90FE6A9}"/>
              </a:ext>
            </a:extLst>
          </p:cNvPr>
          <p:cNvSpPr txBox="1"/>
          <p:nvPr/>
        </p:nvSpPr>
        <p:spPr>
          <a:xfrm>
            <a:off x="1369101" y="0"/>
            <a:ext cx="9758598" cy="584775"/>
          </a:xfrm>
          <a:prstGeom prst="rect">
            <a:avLst/>
          </a:prstGeom>
          <a:noFill/>
        </p:spPr>
        <p:txBody>
          <a:bodyPr wrap="square">
            <a:spAutoFit/>
          </a:bodyPr>
          <a:lstStyle/>
          <a:p>
            <a:pPr algn="ctr"/>
            <a:r>
              <a:rPr lang="en-GB" sz="3200" b="1" dirty="0">
                <a:solidFill>
                  <a:srgbClr val="00B0F0"/>
                </a:solidFill>
                <a:effectLst/>
                <a:latin typeface="Times New Roman" panose="02020603050405020304" pitchFamily="18" charset="0"/>
                <a:cs typeface="Times New Roman" panose="02020603050405020304" pitchFamily="18" charset="0"/>
              </a:rPr>
              <a:t>Software Inspections</a:t>
            </a:r>
            <a:endParaRPr lang="en-IN" sz="3200" b="1" dirty="0">
              <a:solidFill>
                <a:srgbClr val="00B0F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79D5EB5-5F0E-2D53-19FE-D9637E94F22D}"/>
              </a:ext>
            </a:extLst>
          </p:cNvPr>
          <p:cNvSpPr txBox="1"/>
          <p:nvPr/>
        </p:nvSpPr>
        <p:spPr>
          <a:xfrm>
            <a:off x="0" y="712958"/>
            <a:ext cx="12192000" cy="646331"/>
          </a:xfrm>
          <a:prstGeom prst="rect">
            <a:avLst/>
          </a:prstGeom>
          <a:noFill/>
        </p:spPr>
        <p:txBody>
          <a:bodyPr wrap="square">
            <a:spAutoFit/>
          </a:bodyPr>
          <a:lstStyle/>
          <a:p>
            <a:pPr marL="285750" indent="-285750">
              <a:buFont typeface="Wingdings" pitchFamily="2" charset="2"/>
              <a:buChar char="Ø"/>
            </a:pPr>
            <a:r>
              <a:rPr lang="en-GB" dirty="0">
                <a:latin typeface="Times New Roman" panose="02020603050405020304" pitchFamily="18" charset="0"/>
                <a:cs typeface="Times New Roman" panose="02020603050405020304" pitchFamily="18" charset="0"/>
              </a:rPr>
              <a:t>It is a process in which other developers or team members review the code written by a developer to identify potential errors or areas for improvement. </a:t>
            </a: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7045BD0-8CC6-1793-29FD-1013D370E1CA}"/>
              </a:ext>
            </a:extLst>
          </p:cNvPr>
          <p:cNvSpPr txBox="1"/>
          <p:nvPr/>
        </p:nvSpPr>
        <p:spPr>
          <a:xfrm>
            <a:off x="0" y="1487472"/>
            <a:ext cx="11430000" cy="4708981"/>
          </a:xfrm>
          <a:prstGeom prst="rect">
            <a:avLst/>
          </a:prstGeom>
          <a:noFill/>
        </p:spPr>
        <p:txBody>
          <a:bodyPr wrap="square">
            <a:spAutoFit/>
          </a:bodyPr>
          <a:lstStyle/>
          <a:p>
            <a:pPr algn="just" fontAlgn="base">
              <a:spcBef>
                <a:spcPts val="1800"/>
              </a:spcBef>
              <a:spcAft>
                <a:spcPts val="1800"/>
              </a:spcAft>
            </a:pPr>
            <a:r>
              <a:rPr lang="en-GB" dirty="0">
                <a:latin typeface="Times New Roman" panose="02020603050405020304" pitchFamily="18" charset="0"/>
                <a:cs typeface="Times New Roman" panose="02020603050405020304" pitchFamily="18" charset="0"/>
              </a:rPr>
              <a:t>There are several ways that software inspection can improve software quality:</a:t>
            </a:r>
          </a:p>
          <a:p>
            <a:pPr algn="just"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Identifying and resolving defects early: </a:t>
            </a:r>
          </a:p>
          <a:p>
            <a:pPr algn="just"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Enhancing code readability: </a:t>
            </a:r>
          </a:p>
          <a:p>
            <a:pPr algn="just"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Improving team collaboration: </a:t>
            </a:r>
          </a:p>
          <a:p>
            <a:pPr algn="just"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Enhancing code maintainability: </a:t>
            </a:r>
          </a:p>
          <a:p>
            <a:pPr algn="just"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Improving code efficiency: </a:t>
            </a:r>
          </a:p>
          <a:p>
            <a:pPr algn="just"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Enhancing security:</a:t>
            </a:r>
          </a:p>
          <a:p>
            <a:pPr algn="just" fontAlgn="base">
              <a:spcAft>
                <a:spcPts val="1800"/>
              </a:spcAft>
              <a:buFont typeface="+mj-lt"/>
              <a:buAutoNum type="arabicPeriod"/>
            </a:pPr>
            <a:r>
              <a:rPr lang="en-GB" b="1" dirty="0">
                <a:latin typeface="Times New Roman" panose="02020603050405020304" pitchFamily="18" charset="0"/>
                <a:cs typeface="Times New Roman" panose="02020603050405020304" pitchFamily="18" charset="0"/>
              </a:rPr>
              <a:t>Improving the overall quality of the software: </a:t>
            </a:r>
          </a:p>
          <a:p>
            <a:pPr algn="just"/>
            <a:br>
              <a:rPr lang="en-GB"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907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16701" y="2499704"/>
            <a:ext cx="9758598"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End of The Unit</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3F01A-5FA9-097C-1091-7110BF8DBBA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2B654D1-164E-58FF-2392-17D964D9E5A1}"/>
              </a:ext>
            </a:extLst>
          </p:cNvPr>
          <p:cNvSpPr txBox="1"/>
          <p:nvPr/>
        </p:nvSpPr>
        <p:spPr>
          <a:xfrm>
            <a:off x="1216701" y="3075057"/>
            <a:ext cx="9758598" cy="707886"/>
          </a:xfrm>
          <a:prstGeom prst="rect">
            <a:avLst/>
          </a:prstGeom>
          <a:noFill/>
        </p:spPr>
        <p:txBody>
          <a:bodyPr wrap="square">
            <a:spAutoFit/>
          </a:bodyPr>
          <a:lstStyle/>
          <a:p>
            <a:pPr algn="ctr"/>
            <a:r>
              <a:rPr lang="en-GB" sz="4000" b="1" dirty="0">
                <a:latin typeface="Times New Roman" panose="02020603050405020304" pitchFamily="18" charset="0"/>
                <a:cs typeface="Times New Roman" panose="02020603050405020304" pitchFamily="18" charset="0"/>
              </a:rPr>
              <a:t>THANK YOU</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920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357</TotalTime>
  <Words>3282</Words>
  <Application>Microsoft Macintosh PowerPoint</Application>
  <PresentationFormat>Widescreen</PresentationFormat>
  <Paragraphs>387</Paragraphs>
  <Slides>37</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Aptos</vt:lpstr>
      <vt:lpstr>Arial</vt:lpstr>
      <vt:lpstr>Calibri</vt:lpstr>
      <vt:lpstr>Calibri Light</vt:lpstr>
      <vt:lpstr>times</vt:lpstr>
      <vt:lpstr>Times New Roman</vt:lpstr>
      <vt:lpstr>Times New Roman Bold</vt:lpstr>
      <vt:lpstr>times)</vt:lpstr>
      <vt:lpstr>Wingdings</vt:lpstr>
      <vt:lpstr>Office Theme</vt:lpstr>
      <vt:lpstr>Software Quality Assurance Process</vt:lpstr>
      <vt:lpstr>OUTLINES</vt:lpstr>
      <vt:lpstr>Software Quality Concepts</vt:lpstr>
      <vt:lpstr>Software Quality Assurance (SQA)</vt:lpstr>
      <vt:lpstr>Software Quality Assurance (SQA)</vt:lpstr>
      <vt:lpstr>Major (SQA) Activities</vt:lpstr>
      <vt:lpstr>PowerPoint Presentation</vt:lpstr>
      <vt:lpstr>Introduction to Software Reliability</vt:lpstr>
      <vt:lpstr>Introduction to Software Reliability</vt:lpstr>
      <vt:lpstr>Measures of Reliability and Availability</vt:lpstr>
      <vt:lpstr>Measures of Reliability and Availability</vt:lpstr>
      <vt:lpstr>Software Reliability Measurement Techniques</vt:lpstr>
      <vt:lpstr>Software Reliability Measurement Techniques</vt:lpstr>
      <vt:lpstr> Reliability Metrices</vt:lpstr>
      <vt:lpstr> Reliability Metrices</vt:lpstr>
      <vt:lpstr>PowerPoint Presentation</vt:lpstr>
      <vt:lpstr>Software Quality Management</vt:lpstr>
      <vt:lpstr>Software Quality Planning</vt:lpstr>
      <vt:lpstr>Software Quality Planning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E-Business</dc:title>
  <dc:creator>Harendra Bikram Shah</dc:creator>
  <cp:lastModifiedBy>kushal pokharel</cp:lastModifiedBy>
  <cp:revision>384</cp:revision>
  <dcterms:created xsi:type="dcterms:W3CDTF">2024-09-24T16:02:49Z</dcterms:created>
  <dcterms:modified xsi:type="dcterms:W3CDTF">2025-01-22T04:44:03Z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1033-5.7.1.8093</vt:lpwstr>
  </property>
</Properties>
</file>