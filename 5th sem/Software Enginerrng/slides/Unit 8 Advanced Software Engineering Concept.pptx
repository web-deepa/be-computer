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263" r:id="rId17"/>
    <p:sldId id="4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291" autoAdjust="0"/>
  </p:normalViewPr>
  <p:slideViewPr>
    <p:cSldViewPr snapToGrid="0">
      <p:cViewPr varScale="1">
        <p:scale>
          <a:sx n="122" d="100"/>
          <a:sy n="122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4414" y="3078045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r>
              <a:rPr lang="en-US" altLang="en-GB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911840" y="2223770"/>
            <a:ext cx="958917" cy="3994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(4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Hrs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DEE4DE-8CF1-2CC9-4DF0-1218D5DBB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85307"/>
            <a:ext cx="11681716" cy="2038463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en-GB" sz="36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Chapter 8: </a:t>
            </a:r>
            <a:br>
              <a:rPr lang="en-GB" sz="2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</a:br>
            <a:r>
              <a:rPr lang="en-GB" sz="4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ADVANCED SOFTWARE ENGINEERING CONCEPTS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	</a:t>
            </a:r>
            <a:r>
              <a:rPr lang="en-GB" sz="60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BC19A-226B-C565-E091-AABBE8F6424C}"/>
              </a:ext>
            </a:extLst>
          </p:cNvPr>
          <p:cNvSpPr txBox="1"/>
          <p:nvPr/>
        </p:nvSpPr>
        <p:spPr>
          <a:xfrm>
            <a:off x="0" y="1199213"/>
            <a:ext cx="6873766" cy="198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8.1 Software Reuse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8.1.1  Application Frameworks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8.1.2  Software Product Lines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  8.1.3  COTS Product Reuse 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8.2 Cloud Based Software Engineering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8.3 Artificial Intelligence in Software Engineering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2E3A-E8F6-1810-F9B9-24577F88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8371-5390-7B4B-E7DA-3A8C58D5D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6127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SOFTWARE REUSE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CA51C-F027-4FED-896C-F3171009111F}"/>
              </a:ext>
            </a:extLst>
          </p:cNvPr>
          <p:cNvSpPr txBox="1"/>
          <p:nvPr/>
        </p:nvSpPr>
        <p:spPr>
          <a:xfrm>
            <a:off x="0" y="961270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Reuse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process of using existing software components, modules, or code to create new software applications.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building everything from scratch, developers leverage pre-existing resources to save time, effort, and costs.</a:t>
            </a:r>
          </a:p>
          <a:p>
            <a:pPr algn="l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Software Reuse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Retention: </a:t>
            </a: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Software Reuse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Identification: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</a:p>
        </p:txBody>
      </p:sp>
    </p:spTree>
    <p:extLst>
      <p:ext uri="{BB962C8B-B14F-4D97-AF65-F5344CB8AC3E}">
        <p14:creationId xmlns:p14="http://schemas.microsoft.com/office/powerpoint/2010/main" val="137238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5444-2423-FC4D-0D76-AEF85C03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0354-CFCF-8942-EB1F-D82AAC9EB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6127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SOFTWARE REUSE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50652-3773-8BA9-37E6-14EA55620021}"/>
              </a:ext>
            </a:extLst>
          </p:cNvPr>
          <p:cNvSpPr txBox="1"/>
          <p:nvPr/>
        </p:nvSpPr>
        <p:spPr>
          <a:xfrm>
            <a:off x="409904" y="1305341"/>
            <a:ext cx="88076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Software Reuse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Time: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Savings: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Reliability: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Maintainability: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Innovation: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Sharing: </a:t>
            </a:r>
          </a:p>
          <a:p>
            <a:pPr algn="l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Software Reuse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Issues: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Costs: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External Components: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Concerns: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Concerns: 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Flexibility:</a:t>
            </a:r>
          </a:p>
        </p:txBody>
      </p:sp>
    </p:spTree>
    <p:extLst>
      <p:ext uri="{BB962C8B-B14F-4D97-AF65-F5344CB8AC3E}">
        <p14:creationId xmlns:p14="http://schemas.microsoft.com/office/powerpoint/2010/main" val="2464673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C57B3-0A9B-40F3-C9B5-312E44B9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4242-FE5E-9E52-C4C1-966210876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6127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Application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E5B0D-7185-712D-3768-AB2A65059612}"/>
              </a:ext>
            </a:extLst>
          </p:cNvPr>
          <p:cNvSpPr txBox="1"/>
          <p:nvPr/>
        </p:nvSpPr>
        <p:spPr>
          <a:xfrm>
            <a:off x="0" y="961270"/>
            <a:ext cx="1219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Using Application Frameworks in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Time: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</a:p>
          <a:p>
            <a:pPr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Using Application Frameworks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Overhead: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Limitations: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Updates: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94D87-14A0-505C-F495-80CE421D4876}"/>
              </a:ext>
            </a:extLst>
          </p:cNvPr>
          <p:cNvSpPr txBox="1"/>
          <p:nvPr/>
        </p:nvSpPr>
        <p:spPr>
          <a:xfrm>
            <a:off x="0" y="5019567"/>
            <a:ext cx="61222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of Application Frameworks in Software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Extensibility: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Improvement:</a:t>
            </a:r>
          </a:p>
        </p:txBody>
      </p:sp>
    </p:spTree>
    <p:extLst>
      <p:ext uri="{BB962C8B-B14F-4D97-AF65-F5344CB8AC3E}">
        <p14:creationId xmlns:p14="http://schemas.microsoft.com/office/powerpoint/2010/main" val="350795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41982-700F-8883-33A7-67761C2D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D8DB-B62F-50A9-947F-B7769145E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Application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88601-A7C3-9852-F120-153D292077BB}"/>
              </a:ext>
            </a:extLst>
          </p:cNvPr>
          <p:cNvSpPr txBox="1"/>
          <p:nvPr/>
        </p:nvSpPr>
        <p:spPr>
          <a:xfrm>
            <a:off x="0" y="966952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Application Frameworks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Ruby on Rails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ASP.NET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Xamarin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Swift UI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Unreal Engine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Godot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EJB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92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B90A-491A-EDED-8107-C818E5DB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8217-CCD0-31D4-27B0-62E8391AF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Application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72995-9916-3847-2B5E-4A9E139FA408}"/>
              </a:ext>
            </a:extLst>
          </p:cNvPr>
          <p:cNvSpPr txBox="1"/>
          <p:nvPr/>
        </p:nvSpPr>
        <p:spPr>
          <a:xfrm>
            <a:off x="0" y="725831"/>
            <a:ext cx="118136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Using Application Frameworks in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Time: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</a:p>
          <a:p>
            <a:pPr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Using Application Frameworks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Overhead: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Limitations: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Updates:</a:t>
            </a:r>
          </a:p>
        </p:txBody>
      </p:sp>
    </p:spTree>
    <p:extLst>
      <p:ext uri="{BB962C8B-B14F-4D97-AF65-F5344CB8AC3E}">
        <p14:creationId xmlns:p14="http://schemas.microsoft.com/office/powerpoint/2010/main" val="349809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7FD1-A46A-8416-164D-D47365C3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D310-0363-F15A-74E9-FE7AF6C98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Application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88093-B619-183C-5317-5DAEFFE35D4E}"/>
              </a:ext>
            </a:extLst>
          </p:cNvPr>
          <p:cNvSpPr txBox="1"/>
          <p:nvPr/>
        </p:nvSpPr>
        <p:spPr>
          <a:xfrm>
            <a:off x="0" y="725831"/>
            <a:ext cx="118136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Using Application Frameworks in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Time: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</a:p>
          <a:p>
            <a:pPr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Using Application Frameworks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Overhead: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Limitations: 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Updates:</a:t>
            </a:r>
          </a:p>
        </p:txBody>
      </p:sp>
    </p:spTree>
    <p:extLst>
      <p:ext uri="{BB962C8B-B14F-4D97-AF65-F5344CB8AC3E}">
        <p14:creationId xmlns:p14="http://schemas.microsoft.com/office/powerpoint/2010/main" val="46256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0E05-BFC9-D6C9-D721-9E760814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4E0F-BBD4-0C8F-7E01-FC747BB45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083"/>
            <a:ext cx="9144000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Software Product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1593C-84D6-2CD6-6C85-E186B8802C61}"/>
              </a:ext>
            </a:extLst>
          </p:cNvPr>
          <p:cNvSpPr txBox="1"/>
          <p:nvPr/>
        </p:nvSpPr>
        <p:spPr>
          <a:xfrm>
            <a:off x="-21021" y="68317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 Lines (SPLs)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a systematic approach to software reuse that focuses on creating a family of related software products using shared core assets.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04D9E-B781-5B02-AEA9-371ED5F96EA9}"/>
              </a:ext>
            </a:extLst>
          </p:cNvPr>
          <p:cNvSpPr txBox="1"/>
          <p:nvPr/>
        </p:nvSpPr>
        <p:spPr>
          <a:xfrm>
            <a:off x="-21021" y="1329504"/>
            <a:ext cx="1219199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Software Product Lines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Reuse: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Time-to-Market: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and Scalability: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Market Advantages: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Software Product Lines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Investment: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Managing Variability: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Alignment: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Tooling and Automation: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Overhead:</a:t>
            </a:r>
          </a:p>
        </p:txBody>
      </p:sp>
    </p:spTree>
    <p:extLst>
      <p:ext uri="{BB962C8B-B14F-4D97-AF65-F5344CB8AC3E}">
        <p14:creationId xmlns:p14="http://schemas.microsoft.com/office/powerpoint/2010/main" val="125114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55DF-BD10-A30F-BFA3-28C91379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2C43-CA9B-0386-4993-AE7DAEB74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93" y="176246"/>
            <a:ext cx="11761076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COTS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(Commercial Off-The-Shelf)</a:t>
            </a:r>
            <a:r>
              <a:rPr lang="en-GB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Product Reuse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08CCA-B45C-98BC-D772-532C5EF1087E}"/>
              </a:ext>
            </a:extLst>
          </p:cNvPr>
          <p:cNvSpPr txBox="1"/>
          <p:nvPr/>
        </p:nvSpPr>
        <p:spPr>
          <a:xfrm>
            <a:off x="-2" y="86749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integrating pre-existing, commercially available software components, tools, or products into a new or existing system, rather than developing these components from scratch.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3561E-5FCB-C4B3-9F52-A613204789F6}"/>
              </a:ext>
            </a:extLst>
          </p:cNvPr>
          <p:cNvSpPr txBox="1"/>
          <p:nvPr/>
        </p:nvSpPr>
        <p:spPr>
          <a:xfrm>
            <a:off x="-1" y="1698156"/>
            <a:ext cx="12191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COTS Product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Savings: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Efficiency: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and Reliability: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Core Functionality: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Ecosystem and Interoperability: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COTS Product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Limitations: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Complexity: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Licensing Costs: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Issues:</a:t>
            </a:r>
          </a:p>
        </p:txBody>
      </p:sp>
    </p:spTree>
    <p:extLst>
      <p:ext uri="{BB962C8B-B14F-4D97-AF65-F5344CB8AC3E}">
        <p14:creationId xmlns:p14="http://schemas.microsoft.com/office/powerpoint/2010/main" val="3465073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558F-6EEB-DBD5-462D-DBA9C16D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0A7D-5955-57EC-45F1-D59877C30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083"/>
            <a:ext cx="9144000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COTS Product Reuse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77282-D83B-5F11-F2F1-2506E9304D82}"/>
              </a:ext>
            </a:extLst>
          </p:cNvPr>
          <p:cNvSpPr txBox="1"/>
          <p:nvPr/>
        </p:nvSpPr>
        <p:spPr>
          <a:xfrm>
            <a:off x="0" y="1387366"/>
            <a:ext cx="117295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Practices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COTS Product Reuse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Evaluation: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Prototyping and Testing: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Relationship Management: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COTS Product Reuse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Resource Planning (ERP):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Systems (CMS):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Middleware and Frameworks:</a:t>
            </a:r>
          </a:p>
        </p:txBody>
      </p:sp>
    </p:spTree>
    <p:extLst>
      <p:ext uri="{BB962C8B-B14F-4D97-AF65-F5344CB8AC3E}">
        <p14:creationId xmlns:p14="http://schemas.microsoft.com/office/powerpoint/2010/main" val="422135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D596-8243-4429-BC40-B7D30025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B527-F904-8DD9-4E2B-23076DDDA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945" y="84083"/>
            <a:ext cx="10216055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Cloud Based Software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81341-B609-1EA0-DD9E-80F287E8FB32}"/>
              </a:ext>
            </a:extLst>
          </p:cNvPr>
          <p:cNvSpPr txBox="1"/>
          <p:nvPr/>
        </p:nvSpPr>
        <p:spPr>
          <a:xfrm>
            <a:off x="0" y="683172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efers to the design, development, deployment, and maintenance of software applications and systems that utilize cloud computing infrastructure. 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paradigm leverages the scalability, flexibility, and accessibility offered by cloud platforms to deliver software solutions efficiently.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Cloud-Based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Infrastructure: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Cloud-Based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Collaboration: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Development: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and Delivery (CI/CD):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Disaster Recovery: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Reach:</a:t>
            </a:r>
          </a:p>
        </p:txBody>
      </p:sp>
    </p:spTree>
    <p:extLst>
      <p:ext uri="{BB962C8B-B14F-4D97-AF65-F5344CB8AC3E}">
        <p14:creationId xmlns:p14="http://schemas.microsoft.com/office/powerpoint/2010/main" val="1675690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E26E-8087-A7A1-F30C-3F6B5AC9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E09C-1165-3AF4-DF7B-9A75762B3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945" y="84083"/>
            <a:ext cx="10216055" cy="59909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Cloud Based 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A0A08-FE14-A9ED-35B2-424862E8F2A0}"/>
              </a:ext>
            </a:extLst>
          </p:cNvPr>
          <p:cNvSpPr txBox="1"/>
          <p:nvPr/>
        </p:nvSpPr>
        <p:spPr>
          <a:xfrm>
            <a:off x="0" y="683173"/>
            <a:ext cx="586477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Phases of Cloud-Based Software Development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Maintenance: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Cloud-Based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Bottlenecks: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Design: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Management: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Trends in Cloud-Based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Applications: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ML Integration: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and Multi-Cloud Architectures:</a:t>
            </a:r>
          </a:p>
        </p:txBody>
      </p:sp>
    </p:spTree>
    <p:extLst>
      <p:ext uri="{BB962C8B-B14F-4D97-AF65-F5344CB8AC3E}">
        <p14:creationId xmlns:p14="http://schemas.microsoft.com/office/powerpoint/2010/main" val="205992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20DA-6293-5A6B-1DE5-99E178B3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6056-78EC-397B-BCD4-EE17C8147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84083"/>
            <a:ext cx="12192000" cy="840827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Artificial Intelligence in 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1FA6E-4728-B50C-F7CC-3BAAC282DA4C}"/>
              </a:ext>
            </a:extLst>
          </p:cNvPr>
          <p:cNvSpPr txBox="1"/>
          <p:nvPr/>
        </p:nvSpPr>
        <p:spPr>
          <a:xfrm>
            <a:off x="0" y="1082565"/>
            <a:ext cx="1204485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Requirements Engineering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Software Design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Code Generation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Debugging and Testing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Project Management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Continuous Integration and Deployment (CI/CD)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Software Maintenance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User Experience (UX) Improvement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Techniques Used in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Systems: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4DB9-B36F-6DAC-D3EB-D894BEDD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7F3F-5209-DED6-1D43-B83088994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0" y="84084"/>
            <a:ext cx="11719035" cy="60960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</a:pPr>
            <a:r>
              <a:rPr lang="en-GB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Artificial Intelligence in 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7B723-A18D-380B-5212-ED9CB9AAC04C}"/>
              </a:ext>
            </a:extLst>
          </p:cNvPr>
          <p:cNvSpPr txBox="1"/>
          <p:nvPr/>
        </p:nvSpPr>
        <p:spPr>
          <a:xfrm>
            <a:off x="0" y="710718"/>
            <a:ext cx="12191999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AI in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Quality: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Time-to-Market: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Decision-Making: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Using AI in Software Engineering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Concerns:</a:t>
            </a:r>
          </a:p>
          <a:p>
            <a:pPr algn="l"/>
            <a:endParaRPr lang="en-GB" sz="20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Tools and Platforms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Copilot: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Tabnine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SonarQube: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DeepCode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(by 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Snyk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Tricentis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Tosca: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Watson: </a:t>
            </a:r>
          </a:p>
        </p:txBody>
      </p:sp>
    </p:spTree>
    <p:extLst>
      <p:ext uri="{BB962C8B-B14F-4D97-AF65-F5344CB8AC3E}">
        <p14:creationId xmlns:p14="http://schemas.microsoft.com/office/powerpoint/2010/main" val="2049960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249970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F01A-5FA9-097C-1091-7110BF8D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B654D1-164E-58FF-2392-17D964D9E5A1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929</Words>
  <Application>Microsoft Macintosh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Chapter 8:  ADVANCED SOFTWARE ENGINEERING CONCEPTS   </vt:lpstr>
      <vt:lpstr>OUTLINES</vt:lpstr>
      <vt:lpstr>SOFTWARE REUSE</vt:lpstr>
      <vt:lpstr>SOFTWARE REUSE</vt:lpstr>
      <vt:lpstr>Application Framework</vt:lpstr>
      <vt:lpstr>Application Framework</vt:lpstr>
      <vt:lpstr>Application Framework</vt:lpstr>
      <vt:lpstr>Application Framework</vt:lpstr>
      <vt:lpstr>Software Product Lines</vt:lpstr>
      <vt:lpstr>COTS (Commercial Off-The-Shelf) Product Reuse</vt:lpstr>
      <vt:lpstr>COTS Product Reuse</vt:lpstr>
      <vt:lpstr>Cloud Based Software Engineering</vt:lpstr>
      <vt:lpstr>Cloud Based Software Engineering</vt:lpstr>
      <vt:lpstr>Artificial Intelligence in Software Engineering</vt:lpstr>
      <vt:lpstr>Artificial Intelligence in Software Engineering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388</cp:revision>
  <dcterms:created xsi:type="dcterms:W3CDTF">2024-09-24T16:02:49Z</dcterms:created>
  <dcterms:modified xsi:type="dcterms:W3CDTF">2025-01-28T01:58:27Z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